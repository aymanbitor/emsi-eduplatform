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259" r:id="rId4"/>
    <p:sldId id="285" r:id="rId5"/>
    <p:sldId id="260" r:id="rId6"/>
    <p:sldId id="261" r:id="rId7"/>
    <p:sldId id="262" r:id="rId8"/>
    <p:sldId id="264" r:id="rId9"/>
    <p:sldId id="265" r:id="rId10"/>
    <p:sldId id="286" r:id="rId11"/>
    <p:sldId id="263" r:id="rId12"/>
    <p:sldId id="289" r:id="rId13"/>
    <p:sldId id="287" r:id="rId14"/>
    <p:sldId id="288" r:id="rId15"/>
    <p:sldId id="268" r:id="rId16"/>
    <p:sldId id="269" r:id="rId17"/>
    <p:sldId id="270" r:id="rId18"/>
    <p:sldId id="290" r:id="rId19"/>
    <p:sldId id="296" r:id="rId20"/>
    <p:sldId id="295" r:id="rId21"/>
    <p:sldId id="297" r:id="rId22"/>
    <p:sldId id="293" r:id="rId23"/>
    <p:sldId id="291" r:id="rId24"/>
    <p:sldId id="294" r:id="rId25"/>
    <p:sldId id="292" r:id="rId26"/>
    <p:sldId id="299" r:id="rId27"/>
    <p:sldId id="298" r:id="rId28"/>
    <p:sldId id="300" r:id="rId29"/>
    <p:sldId id="301" r:id="rId30"/>
    <p:sldId id="302" r:id="rId31"/>
    <p:sldId id="303" r:id="rId32"/>
    <p:sldId id="304" r:id="rId3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760" autoAdjust="0"/>
  </p:normalViewPr>
  <p:slideViewPr>
    <p:cSldViewPr snapToGrid="0">
      <p:cViewPr varScale="1">
        <p:scale>
          <a:sx n="71" d="100"/>
          <a:sy n="71" d="100"/>
        </p:scale>
        <p:origin x="1109"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560461-D2B8-48AB-8956-1322F2EF7130}" type="datetimeFigureOut">
              <a:rPr lang="fr-FR" smtClean="0"/>
              <a:t>07/02/2026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C5D363-A32F-4A5F-B889-D368C8CD44A2}" type="slidenum">
              <a:rPr lang="fr-FR" smtClean="0"/>
              <a:t>‹N°›</a:t>
            </a:fld>
            <a:endParaRPr lang="fr-FR"/>
          </a:p>
        </p:txBody>
      </p:sp>
    </p:spTree>
    <p:extLst>
      <p:ext uri="{BB962C8B-B14F-4D97-AF65-F5344CB8AC3E}">
        <p14:creationId xmlns:p14="http://schemas.microsoft.com/office/powerpoint/2010/main" val="3078889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Entité (sites </a:t>
            </a:r>
            <a:r>
              <a:rPr lang="fr-FR" dirty="0" err="1" smtClean="0"/>
              <a:t>Emsi</a:t>
            </a:r>
            <a:r>
              <a:rPr lang="fr-FR" dirty="0" smtClean="0"/>
              <a:t> vs la gestion dans un seul site)</a:t>
            </a:r>
          </a:p>
          <a:p>
            <a:endParaRPr lang="fr-FR" dirty="0"/>
          </a:p>
        </p:txBody>
      </p:sp>
      <p:sp>
        <p:nvSpPr>
          <p:cNvPr id="4" name="Espace réservé du numéro de diapositive 3"/>
          <p:cNvSpPr>
            <a:spLocks noGrp="1"/>
          </p:cNvSpPr>
          <p:nvPr>
            <p:ph type="sldNum" sz="quarter" idx="10"/>
          </p:nvPr>
        </p:nvSpPr>
        <p:spPr/>
        <p:txBody>
          <a:bodyPr/>
          <a:lstStyle/>
          <a:p>
            <a:fld id="{A0C5D363-A32F-4A5F-B889-D368C8CD44A2}" type="slidenum">
              <a:rPr lang="fr-FR" smtClean="0"/>
              <a:t>7</a:t>
            </a:fld>
            <a:endParaRPr lang="fr-FR"/>
          </a:p>
        </p:txBody>
      </p:sp>
    </p:spTree>
    <p:extLst>
      <p:ext uri="{BB962C8B-B14F-4D97-AF65-F5344CB8AC3E}">
        <p14:creationId xmlns:p14="http://schemas.microsoft.com/office/powerpoint/2010/main" val="25174924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A0C5D363-A32F-4A5F-B889-D368C8CD44A2}" type="slidenum">
              <a:rPr lang="fr-FR" smtClean="0"/>
              <a:t>9</a:t>
            </a:fld>
            <a:endParaRPr lang="fr-FR"/>
          </a:p>
        </p:txBody>
      </p:sp>
    </p:spTree>
    <p:extLst>
      <p:ext uri="{BB962C8B-B14F-4D97-AF65-F5344CB8AC3E}">
        <p14:creationId xmlns:p14="http://schemas.microsoft.com/office/powerpoint/2010/main" val="35533434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A0C5D363-A32F-4A5F-B889-D368C8CD44A2}" type="slidenum">
              <a:rPr lang="fr-FR" smtClean="0"/>
              <a:t>10</a:t>
            </a:fld>
            <a:endParaRPr lang="fr-FR"/>
          </a:p>
        </p:txBody>
      </p:sp>
    </p:spTree>
    <p:extLst>
      <p:ext uri="{BB962C8B-B14F-4D97-AF65-F5344CB8AC3E}">
        <p14:creationId xmlns:p14="http://schemas.microsoft.com/office/powerpoint/2010/main" val="2744743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A0C5D363-A32F-4A5F-B889-D368C8CD44A2}" type="slidenum">
              <a:rPr lang="fr-FR" smtClean="0"/>
              <a:t>12</a:t>
            </a:fld>
            <a:endParaRPr lang="fr-FR"/>
          </a:p>
        </p:txBody>
      </p:sp>
    </p:spTree>
    <p:extLst>
      <p:ext uri="{BB962C8B-B14F-4D97-AF65-F5344CB8AC3E}">
        <p14:creationId xmlns:p14="http://schemas.microsoft.com/office/powerpoint/2010/main" val="37775348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A724E0A-6BAE-8BCD-AE99-169AC825609B}"/>
            </a:ext>
          </a:extLst>
        </p:cNvPr>
        <p:cNvGrpSpPr/>
        <p:nvPr/>
      </p:nvGrpSpPr>
      <p:grpSpPr>
        <a:xfrm>
          <a:off x="0" y="0"/>
          <a:ext cx="0" cy="0"/>
          <a:chOff x="0" y="0"/>
          <a:chExt cx="0" cy="0"/>
        </a:xfrm>
      </p:grpSpPr>
      <p:sp>
        <p:nvSpPr>
          <p:cNvPr id="2" name="Espace réservé de l'image des diapositives 1">
            <a:extLst>
              <a:ext uri="{FF2B5EF4-FFF2-40B4-BE49-F238E27FC236}">
                <a16:creationId xmlns="" xmlns:a16="http://schemas.microsoft.com/office/drawing/2014/main" id="{7EEDF750-1B4A-F99B-CA5B-AC39C40FCC21}"/>
              </a:ext>
            </a:extLst>
          </p:cNvPr>
          <p:cNvSpPr>
            <a:spLocks noGrp="1" noRot="1" noChangeAspect="1"/>
          </p:cNvSpPr>
          <p:nvPr>
            <p:ph type="sldImg"/>
          </p:nvPr>
        </p:nvSpPr>
        <p:spPr/>
      </p:sp>
      <p:sp>
        <p:nvSpPr>
          <p:cNvPr id="3" name="Espace réservé des notes 2">
            <a:extLst>
              <a:ext uri="{FF2B5EF4-FFF2-40B4-BE49-F238E27FC236}">
                <a16:creationId xmlns="" xmlns:a16="http://schemas.microsoft.com/office/drawing/2014/main" id="{C7367E84-80D9-366A-4C08-3EEE8640B37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 xmlns:a16="http://schemas.microsoft.com/office/drawing/2014/main" id="{8197F9C5-559A-6B09-F745-9B425FF909E9}"/>
              </a:ext>
            </a:extLst>
          </p:cNvPr>
          <p:cNvSpPr>
            <a:spLocks noGrp="1"/>
          </p:cNvSpPr>
          <p:nvPr>
            <p:ph type="sldNum" sz="quarter" idx="5"/>
          </p:nvPr>
        </p:nvSpPr>
        <p:spPr/>
        <p:txBody>
          <a:bodyPr/>
          <a:lstStyle/>
          <a:p>
            <a:fld id="{3E8E3862-5BAF-49BA-92B2-219109793DE3}" type="slidenum">
              <a:rPr lang="fr-FR" smtClean="0"/>
              <a:t>15</a:t>
            </a:fld>
            <a:endParaRPr lang="fr-FR"/>
          </a:p>
        </p:txBody>
      </p:sp>
    </p:spTree>
    <p:extLst>
      <p:ext uri="{BB962C8B-B14F-4D97-AF65-F5344CB8AC3E}">
        <p14:creationId xmlns:p14="http://schemas.microsoft.com/office/powerpoint/2010/main" val="18755330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AA03C70-18AA-B079-CF4F-A44F3BCDAECB}"/>
            </a:ext>
          </a:extLst>
        </p:cNvPr>
        <p:cNvGrpSpPr/>
        <p:nvPr/>
      </p:nvGrpSpPr>
      <p:grpSpPr>
        <a:xfrm>
          <a:off x="0" y="0"/>
          <a:ext cx="0" cy="0"/>
          <a:chOff x="0" y="0"/>
          <a:chExt cx="0" cy="0"/>
        </a:xfrm>
      </p:grpSpPr>
      <p:sp>
        <p:nvSpPr>
          <p:cNvPr id="2" name="Espace réservé de l'image des diapositives 1">
            <a:extLst>
              <a:ext uri="{FF2B5EF4-FFF2-40B4-BE49-F238E27FC236}">
                <a16:creationId xmlns="" xmlns:a16="http://schemas.microsoft.com/office/drawing/2014/main" id="{CE6A104C-A847-56C8-298E-1BAB37C90EBF}"/>
              </a:ext>
            </a:extLst>
          </p:cNvPr>
          <p:cNvSpPr>
            <a:spLocks noGrp="1" noRot="1" noChangeAspect="1"/>
          </p:cNvSpPr>
          <p:nvPr>
            <p:ph type="sldImg"/>
          </p:nvPr>
        </p:nvSpPr>
        <p:spPr/>
      </p:sp>
      <p:sp>
        <p:nvSpPr>
          <p:cNvPr id="3" name="Espace réservé des notes 2">
            <a:extLst>
              <a:ext uri="{FF2B5EF4-FFF2-40B4-BE49-F238E27FC236}">
                <a16:creationId xmlns="" xmlns:a16="http://schemas.microsoft.com/office/drawing/2014/main" id="{9C842C71-C436-9AA6-1F41-3B33B454C23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 xmlns:a16="http://schemas.microsoft.com/office/drawing/2014/main" id="{B8224846-0AC7-FA58-219E-6AB04AE54A66}"/>
              </a:ext>
            </a:extLst>
          </p:cNvPr>
          <p:cNvSpPr>
            <a:spLocks noGrp="1"/>
          </p:cNvSpPr>
          <p:nvPr>
            <p:ph type="sldNum" sz="quarter" idx="5"/>
          </p:nvPr>
        </p:nvSpPr>
        <p:spPr/>
        <p:txBody>
          <a:bodyPr/>
          <a:lstStyle/>
          <a:p>
            <a:fld id="{3E8E3862-5BAF-49BA-92B2-219109793DE3}" type="slidenum">
              <a:rPr lang="fr-FR" smtClean="0"/>
              <a:t>16</a:t>
            </a:fld>
            <a:endParaRPr lang="fr-FR"/>
          </a:p>
        </p:txBody>
      </p:sp>
    </p:spTree>
    <p:extLst>
      <p:ext uri="{BB962C8B-B14F-4D97-AF65-F5344CB8AC3E}">
        <p14:creationId xmlns:p14="http://schemas.microsoft.com/office/powerpoint/2010/main" val="38961427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13320E3-A16B-952B-86E5-AEC3586AA419}"/>
            </a:ext>
          </a:extLst>
        </p:cNvPr>
        <p:cNvGrpSpPr/>
        <p:nvPr/>
      </p:nvGrpSpPr>
      <p:grpSpPr>
        <a:xfrm>
          <a:off x="0" y="0"/>
          <a:ext cx="0" cy="0"/>
          <a:chOff x="0" y="0"/>
          <a:chExt cx="0" cy="0"/>
        </a:xfrm>
      </p:grpSpPr>
      <p:sp>
        <p:nvSpPr>
          <p:cNvPr id="2" name="Espace réservé de l'image des diapositives 1">
            <a:extLst>
              <a:ext uri="{FF2B5EF4-FFF2-40B4-BE49-F238E27FC236}">
                <a16:creationId xmlns="" xmlns:a16="http://schemas.microsoft.com/office/drawing/2014/main" id="{7D371F75-152F-773C-385B-70E7A7BCCCF9}"/>
              </a:ext>
            </a:extLst>
          </p:cNvPr>
          <p:cNvSpPr>
            <a:spLocks noGrp="1" noRot="1" noChangeAspect="1"/>
          </p:cNvSpPr>
          <p:nvPr>
            <p:ph type="sldImg"/>
          </p:nvPr>
        </p:nvSpPr>
        <p:spPr/>
      </p:sp>
      <p:sp>
        <p:nvSpPr>
          <p:cNvPr id="3" name="Espace réservé des notes 2">
            <a:extLst>
              <a:ext uri="{FF2B5EF4-FFF2-40B4-BE49-F238E27FC236}">
                <a16:creationId xmlns="" xmlns:a16="http://schemas.microsoft.com/office/drawing/2014/main" id="{CBBF7766-1E1A-1012-E6BF-F8FB9B7DDC6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 xmlns:a16="http://schemas.microsoft.com/office/drawing/2014/main" id="{EC1A63ED-1D0F-A886-31FA-06638C2C40E0}"/>
              </a:ext>
            </a:extLst>
          </p:cNvPr>
          <p:cNvSpPr>
            <a:spLocks noGrp="1"/>
          </p:cNvSpPr>
          <p:nvPr>
            <p:ph type="sldNum" sz="quarter" idx="5"/>
          </p:nvPr>
        </p:nvSpPr>
        <p:spPr/>
        <p:txBody>
          <a:bodyPr/>
          <a:lstStyle/>
          <a:p>
            <a:fld id="{3E8E3862-5BAF-49BA-92B2-219109793DE3}" type="slidenum">
              <a:rPr lang="fr-FR" smtClean="0"/>
              <a:t>17</a:t>
            </a:fld>
            <a:endParaRPr lang="fr-FR"/>
          </a:p>
        </p:txBody>
      </p:sp>
    </p:spTree>
    <p:extLst>
      <p:ext uri="{BB962C8B-B14F-4D97-AF65-F5344CB8AC3E}">
        <p14:creationId xmlns:p14="http://schemas.microsoft.com/office/powerpoint/2010/main" val="38056289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13320E3-A16B-952B-86E5-AEC3586AA419}"/>
            </a:ext>
          </a:extLst>
        </p:cNvPr>
        <p:cNvGrpSpPr/>
        <p:nvPr/>
      </p:nvGrpSpPr>
      <p:grpSpPr>
        <a:xfrm>
          <a:off x="0" y="0"/>
          <a:ext cx="0" cy="0"/>
          <a:chOff x="0" y="0"/>
          <a:chExt cx="0" cy="0"/>
        </a:xfrm>
      </p:grpSpPr>
      <p:sp>
        <p:nvSpPr>
          <p:cNvPr id="2" name="Espace réservé de l'image des diapositives 1">
            <a:extLst>
              <a:ext uri="{FF2B5EF4-FFF2-40B4-BE49-F238E27FC236}">
                <a16:creationId xmlns="" xmlns:a16="http://schemas.microsoft.com/office/drawing/2014/main" id="{7D371F75-152F-773C-385B-70E7A7BCCCF9}"/>
              </a:ext>
            </a:extLst>
          </p:cNvPr>
          <p:cNvSpPr>
            <a:spLocks noGrp="1" noRot="1" noChangeAspect="1"/>
          </p:cNvSpPr>
          <p:nvPr>
            <p:ph type="sldImg"/>
          </p:nvPr>
        </p:nvSpPr>
        <p:spPr/>
      </p:sp>
      <p:sp>
        <p:nvSpPr>
          <p:cNvPr id="3" name="Espace réservé des notes 2">
            <a:extLst>
              <a:ext uri="{FF2B5EF4-FFF2-40B4-BE49-F238E27FC236}">
                <a16:creationId xmlns="" xmlns:a16="http://schemas.microsoft.com/office/drawing/2014/main" id="{CBBF7766-1E1A-1012-E6BF-F8FB9B7DDC6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 xmlns:a16="http://schemas.microsoft.com/office/drawing/2014/main" id="{EC1A63ED-1D0F-A886-31FA-06638C2C40E0}"/>
              </a:ext>
            </a:extLst>
          </p:cNvPr>
          <p:cNvSpPr>
            <a:spLocks noGrp="1"/>
          </p:cNvSpPr>
          <p:nvPr>
            <p:ph type="sldNum" sz="quarter" idx="5"/>
          </p:nvPr>
        </p:nvSpPr>
        <p:spPr/>
        <p:txBody>
          <a:bodyPr/>
          <a:lstStyle/>
          <a:p>
            <a:fld id="{3E8E3862-5BAF-49BA-92B2-219109793DE3}" type="slidenum">
              <a:rPr lang="fr-FR" smtClean="0"/>
              <a:t>18</a:t>
            </a:fld>
            <a:endParaRPr lang="fr-FR"/>
          </a:p>
        </p:txBody>
      </p:sp>
    </p:spTree>
    <p:extLst>
      <p:ext uri="{BB962C8B-B14F-4D97-AF65-F5344CB8AC3E}">
        <p14:creationId xmlns:p14="http://schemas.microsoft.com/office/powerpoint/2010/main" val="17221062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13320E3-A16B-952B-86E5-AEC3586AA419}"/>
            </a:ext>
          </a:extLst>
        </p:cNvPr>
        <p:cNvGrpSpPr/>
        <p:nvPr/>
      </p:nvGrpSpPr>
      <p:grpSpPr>
        <a:xfrm>
          <a:off x="0" y="0"/>
          <a:ext cx="0" cy="0"/>
          <a:chOff x="0" y="0"/>
          <a:chExt cx="0" cy="0"/>
        </a:xfrm>
      </p:grpSpPr>
      <p:sp>
        <p:nvSpPr>
          <p:cNvPr id="2" name="Espace réservé de l'image des diapositives 1">
            <a:extLst>
              <a:ext uri="{FF2B5EF4-FFF2-40B4-BE49-F238E27FC236}">
                <a16:creationId xmlns="" xmlns:a16="http://schemas.microsoft.com/office/drawing/2014/main" id="{7D371F75-152F-773C-385B-70E7A7BCCCF9}"/>
              </a:ext>
            </a:extLst>
          </p:cNvPr>
          <p:cNvSpPr>
            <a:spLocks noGrp="1" noRot="1" noChangeAspect="1"/>
          </p:cNvSpPr>
          <p:nvPr>
            <p:ph type="sldImg"/>
          </p:nvPr>
        </p:nvSpPr>
        <p:spPr/>
      </p:sp>
      <p:sp>
        <p:nvSpPr>
          <p:cNvPr id="3" name="Espace réservé des notes 2">
            <a:extLst>
              <a:ext uri="{FF2B5EF4-FFF2-40B4-BE49-F238E27FC236}">
                <a16:creationId xmlns="" xmlns:a16="http://schemas.microsoft.com/office/drawing/2014/main" id="{CBBF7766-1E1A-1012-E6BF-F8FB9B7DDC6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 xmlns:a16="http://schemas.microsoft.com/office/drawing/2014/main" id="{EC1A63ED-1D0F-A886-31FA-06638C2C40E0}"/>
              </a:ext>
            </a:extLst>
          </p:cNvPr>
          <p:cNvSpPr>
            <a:spLocks noGrp="1"/>
          </p:cNvSpPr>
          <p:nvPr>
            <p:ph type="sldNum" sz="quarter" idx="5"/>
          </p:nvPr>
        </p:nvSpPr>
        <p:spPr/>
        <p:txBody>
          <a:bodyPr/>
          <a:lstStyle/>
          <a:p>
            <a:fld id="{3E8E3862-5BAF-49BA-92B2-219109793DE3}" type="slidenum">
              <a:rPr lang="fr-FR" smtClean="0"/>
              <a:t>19</a:t>
            </a:fld>
            <a:endParaRPr lang="fr-FR"/>
          </a:p>
        </p:txBody>
      </p:sp>
    </p:spTree>
    <p:extLst>
      <p:ext uri="{BB962C8B-B14F-4D97-AF65-F5344CB8AC3E}">
        <p14:creationId xmlns:p14="http://schemas.microsoft.com/office/powerpoint/2010/main" val="40964284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13320E3-A16B-952B-86E5-AEC3586AA419}"/>
            </a:ext>
          </a:extLst>
        </p:cNvPr>
        <p:cNvGrpSpPr/>
        <p:nvPr/>
      </p:nvGrpSpPr>
      <p:grpSpPr>
        <a:xfrm>
          <a:off x="0" y="0"/>
          <a:ext cx="0" cy="0"/>
          <a:chOff x="0" y="0"/>
          <a:chExt cx="0" cy="0"/>
        </a:xfrm>
      </p:grpSpPr>
      <p:sp>
        <p:nvSpPr>
          <p:cNvPr id="2" name="Espace réservé de l'image des diapositives 1">
            <a:extLst>
              <a:ext uri="{FF2B5EF4-FFF2-40B4-BE49-F238E27FC236}">
                <a16:creationId xmlns="" xmlns:a16="http://schemas.microsoft.com/office/drawing/2014/main" id="{7D371F75-152F-773C-385B-70E7A7BCCCF9}"/>
              </a:ext>
            </a:extLst>
          </p:cNvPr>
          <p:cNvSpPr>
            <a:spLocks noGrp="1" noRot="1" noChangeAspect="1"/>
          </p:cNvSpPr>
          <p:nvPr>
            <p:ph type="sldImg"/>
          </p:nvPr>
        </p:nvSpPr>
        <p:spPr/>
      </p:sp>
      <p:sp>
        <p:nvSpPr>
          <p:cNvPr id="3" name="Espace réservé des notes 2">
            <a:extLst>
              <a:ext uri="{FF2B5EF4-FFF2-40B4-BE49-F238E27FC236}">
                <a16:creationId xmlns="" xmlns:a16="http://schemas.microsoft.com/office/drawing/2014/main" id="{CBBF7766-1E1A-1012-E6BF-F8FB9B7DDC6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 xmlns:a16="http://schemas.microsoft.com/office/drawing/2014/main" id="{EC1A63ED-1D0F-A886-31FA-06638C2C40E0}"/>
              </a:ext>
            </a:extLst>
          </p:cNvPr>
          <p:cNvSpPr>
            <a:spLocks noGrp="1"/>
          </p:cNvSpPr>
          <p:nvPr>
            <p:ph type="sldNum" sz="quarter" idx="5"/>
          </p:nvPr>
        </p:nvSpPr>
        <p:spPr/>
        <p:txBody>
          <a:bodyPr/>
          <a:lstStyle/>
          <a:p>
            <a:fld id="{3E8E3862-5BAF-49BA-92B2-219109793DE3}" type="slidenum">
              <a:rPr lang="fr-FR" smtClean="0"/>
              <a:t>20</a:t>
            </a:fld>
            <a:endParaRPr lang="fr-FR"/>
          </a:p>
        </p:txBody>
      </p:sp>
    </p:spTree>
    <p:extLst>
      <p:ext uri="{BB962C8B-B14F-4D97-AF65-F5344CB8AC3E}">
        <p14:creationId xmlns:p14="http://schemas.microsoft.com/office/powerpoint/2010/main" val="27190854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13320E3-A16B-952B-86E5-AEC3586AA419}"/>
            </a:ext>
          </a:extLst>
        </p:cNvPr>
        <p:cNvGrpSpPr/>
        <p:nvPr/>
      </p:nvGrpSpPr>
      <p:grpSpPr>
        <a:xfrm>
          <a:off x="0" y="0"/>
          <a:ext cx="0" cy="0"/>
          <a:chOff x="0" y="0"/>
          <a:chExt cx="0" cy="0"/>
        </a:xfrm>
      </p:grpSpPr>
      <p:sp>
        <p:nvSpPr>
          <p:cNvPr id="2" name="Espace réservé de l'image des diapositives 1">
            <a:extLst>
              <a:ext uri="{FF2B5EF4-FFF2-40B4-BE49-F238E27FC236}">
                <a16:creationId xmlns="" xmlns:a16="http://schemas.microsoft.com/office/drawing/2014/main" id="{7D371F75-152F-773C-385B-70E7A7BCCCF9}"/>
              </a:ext>
            </a:extLst>
          </p:cNvPr>
          <p:cNvSpPr>
            <a:spLocks noGrp="1" noRot="1" noChangeAspect="1"/>
          </p:cNvSpPr>
          <p:nvPr>
            <p:ph type="sldImg"/>
          </p:nvPr>
        </p:nvSpPr>
        <p:spPr/>
      </p:sp>
      <p:sp>
        <p:nvSpPr>
          <p:cNvPr id="3" name="Espace réservé des notes 2">
            <a:extLst>
              <a:ext uri="{FF2B5EF4-FFF2-40B4-BE49-F238E27FC236}">
                <a16:creationId xmlns="" xmlns:a16="http://schemas.microsoft.com/office/drawing/2014/main" id="{CBBF7766-1E1A-1012-E6BF-F8FB9B7DDC6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 xmlns:a16="http://schemas.microsoft.com/office/drawing/2014/main" id="{EC1A63ED-1D0F-A886-31FA-06638C2C40E0}"/>
              </a:ext>
            </a:extLst>
          </p:cNvPr>
          <p:cNvSpPr>
            <a:spLocks noGrp="1"/>
          </p:cNvSpPr>
          <p:nvPr>
            <p:ph type="sldNum" sz="quarter" idx="5"/>
          </p:nvPr>
        </p:nvSpPr>
        <p:spPr/>
        <p:txBody>
          <a:bodyPr/>
          <a:lstStyle/>
          <a:p>
            <a:fld id="{3E8E3862-5BAF-49BA-92B2-219109793DE3}" type="slidenum">
              <a:rPr lang="fr-FR" smtClean="0"/>
              <a:t>21</a:t>
            </a:fld>
            <a:endParaRPr lang="fr-FR"/>
          </a:p>
        </p:txBody>
      </p:sp>
    </p:spTree>
    <p:extLst>
      <p:ext uri="{BB962C8B-B14F-4D97-AF65-F5344CB8AC3E}">
        <p14:creationId xmlns:p14="http://schemas.microsoft.com/office/powerpoint/2010/main" val="38413420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13320E3-A16B-952B-86E5-AEC3586AA419}"/>
            </a:ext>
          </a:extLst>
        </p:cNvPr>
        <p:cNvGrpSpPr/>
        <p:nvPr/>
      </p:nvGrpSpPr>
      <p:grpSpPr>
        <a:xfrm>
          <a:off x="0" y="0"/>
          <a:ext cx="0" cy="0"/>
          <a:chOff x="0" y="0"/>
          <a:chExt cx="0" cy="0"/>
        </a:xfrm>
      </p:grpSpPr>
      <p:sp>
        <p:nvSpPr>
          <p:cNvPr id="2" name="Espace réservé de l'image des diapositives 1">
            <a:extLst>
              <a:ext uri="{FF2B5EF4-FFF2-40B4-BE49-F238E27FC236}">
                <a16:creationId xmlns="" xmlns:a16="http://schemas.microsoft.com/office/drawing/2014/main" id="{7D371F75-152F-773C-385B-70E7A7BCCCF9}"/>
              </a:ext>
            </a:extLst>
          </p:cNvPr>
          <p:cNvSpPr>
            <a:spLocks noGrp="1" noRot="1" noChangeAspect="1"/>
          </p:cNvSpPr>
          <p:nvPr>
            <p:ph type="sldImg"/>
          </p:nvPr>
        </p:nvSpPr>
        <p:spPr/>
      </p:sp>
      <p:sp>
        <p:nvSpPr>
          <p:cNvPr id="3" name="Espace réservé des notes 2">
            <a:extLst>
              <a:ext uri="{FF2B5EF4-FFF2-40B4-BE49-F238E27FC236}">
                <a16:creationId xmlns="" xmlns:a16="http://schemas.microsoft.com/office/drawing/2014/main" id="{CBBF7766-1E1A-1012-E6BF-F8FB9B7DDC6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 xmlns:a16="http://schemas.microsoft.com/office/drawing/2014/main" id="{EC1A63ED-1D0F-A886-31FA-06638C2C40E0}"/>
              </a:ext>
            </a:extLst>
          </p:cNvPr>
          <p:cNvSpPr>
            <a:spLocks noGrp="1"/>
          </p:cNvSpPr>
          <p:nvPr>
            <p:ph type="sldNum" sz="quarter" idx="5"/>
          </p:nvPr>
        </p:nvSpPr>
        <p:spPr/>
        <p:txBody>
          <a:bodyPr/>
          <a:lstStyle/>
          <a:p>
            <a:fld id="{3E8E3862-5BAF-49BA-92B2-219109793DE3}" type="slidenum">
              <a:rPr lang="fr-FR" smtClean="0"/>
              <a:t>22</a:t>
            </a:fld>
            <a:endParaRPr lang="fr-FR"/>
          </a:p>
        </p:txBody>
      </p:sp>
    </p:spTree>
    <p:extLst>
      <p:ext uri="{BB962C8B-B14F-4D97-AF65-F5344CB8AC3E}">
        <p14:creationId xmlns:p14="http://schemas.microsoft.com/office/powerpoint/2010/main" val="22841033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13320E3-A16B-952B-86E5-AEC3586AA419}"/>
            </a:ext>
          </a:extLst>
        </p:cNvPr>
        <p:cNvGrpSpPr/>
        <p:nvPr/>
      </p:nvGrpSpPr>
      <p:grpSpPr>
        <a:xfrm>
          <a:off x="0" y="0"/>
          <a:ext cx="0" cy="0"/>
          <a:chOff x="0" y="0"/>
          <a:chExt cx="0" cy="0"/>
        </a:xfrm>
      </p:grpSpPr>
      <p:sp>
        <p:nvSpPr>
          <p:cNvPr id="2" name="Espace réservé de l'image des diapositives 1">
            <a:extLst>
              <a:ext uri="{FF2B5EF4-FFF2-40B4-BE49-F238E27FC236}">
                <a16:creationId xmlns="" xmlns:a16="http://schemas.microsoft.com/office/drawing/2014/main" id="{7D371F75-152F-773C-385B-70E7A7BCCCF9}"/>
              </a:ext>
            </a:extLst>
          </p:cNvPr>
          <p:cNvSpPr>
            <a:spLocks noGrp="1" noRot="1" noChangeAspect="1"/>
          </p:cNvSpPr>
          <p:nvPr>
            <p:ph type="sldImg"/>
          </p:nvPr>
        </p:nvSpPr>
        <p:spPr/>
      </p:sp>
      <p:sp>
        <p:nvSpPr>
          <p:cNvPr id="3" name="Espace réservé des notes 2">
            <a:extLst>
              <a:ext uri="{FF2B5EF4-FFF2-40B4-BE49-F238E27FC236}">
                <a16:creationId xmlns="" xmlns:a16="http://schemas.microsoft.com/office/drawing/2014/main" id="{CBBF7766-1E1A-1012-E6BF-F8FB9B7DDC6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 xmlns:a16="http://schemas.microsoft.com/office/drawing/2014/main" id="{EC1A63ED-1D0F-A886-31FA-06638C2C40E0}"/>
              </a:ext>
            </a:extLst>
          </p:cNvPr>
          <p:cNvSpPr>
            <a:spLocks noGrp="1"/>
          </p:cNvSpPr>
          <p:nvPr>
            <p:ph type="sldNum" sz="quarter" idx="5"/>
          </p:nvPr>
        </p:nvSpPr>
        <p:spPr/>
        <p:txBody>
          <a:bodyPr/>
          <a:lstStyle/>
          <a:p>
            <a:fld id="{3E8E3862-5BAF-49BA-92B2-219109793DE3}" type="slidenum">
              <a:rPr lang="fr-FR" smtClean="0"/>
              <a:t>23</a:t>
            </a:fld>
            <a:endParaRPr lang="fr-FR"/>
          </a:p>
        </p:txBody>
      </p:sp>
    </p:spTree>
    <p:extLst>
      <p:ext uri="{BB962C8B-B14F-4D97-AF65-F5344CB8AC3E}">
        <p14:creationId xmlns:p14="http://schemas.microsoft.com/office/powerpoint/2010/main" val="37614408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13320E3-A16B-952B-86E5-AEC3586AA419}"/>
            </a:ext>
          </a:extLst>
        </p:cNvPr>
        <p:cNvGrpSpPr/>
        <p:nvPr/>
      </p:nvGrpSpPr>
      <p:grpSpPr>
        <a:xfrm>
          <a:off x="0" y="0"/>
          <a:ext cx="0" cy="0"/>
          <a:chOff x="0" y="0"/>
          <a:chExt cx="0" cy="0"/>
        </a:xfrm>
      </p:grpSpPr>
      <p:sp>
        <p:nvSpPr>
          <p:cNvPr id="2" name="Espace réservé de l'image des diapositives 1">
            <a:extLst>
              <a:ext uri="{FF2B5EF4-FFF2-40B4-BE49-F238E27FC236}">
                <a16:creationId xmlns="" xmlns:a16="http://schemas.microsoft.com/office/drawing/2014/main" id="{7D371F75-152F-773C-385B-70E7A7BCCCF9}"/>
              </a:ext>
            </a:extLst>
          </p:cNvPr>
          <p:cNvSpPr>
            <a:spLocks noGrp="1" noRot="1" noChangeAspect="1"/>
          </p:cNvSpPr>
          <p:nvPr>
            <p:ph type="sldImg"/>
          </p:nvPr>
        </p:nvSpPr>
        <p:spPr/>
      </p:sp>
      <p:sp>
        <p:nvSpPr>
          <p:cNvPr id="3" name="Espace réservé des notes 2">
            <a:extLst>
              <a:ext uri="{FF2B5EF4-FFF2-40B4-BE49-F238E27FC236}">
                <a16:creationId xmlns="" xmlns:a16="http://schemas.microsoft.com/office/drawing/2014/main" id="{CBBF7766-1E1A-1012-E6BF-F8FB9B7DDC6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 xmlns:a16="http://schemas.microsoft.com/office/drawing/2014/main" id="{EC1A63ED-1D0F-A886-31FA-06638C2C40E0}"/>
              </a:ext>
            </a:extLst>
          </p:cNvPr>
          <p:cNvSpPr>
            <a:spLocks noGrp="1"/>
          </p:cNvSpPr>
          <p:nvPr>
            <p:ph type="sldNum" sz="quarter" idx="5"/>
          </p:nvPr>
        </p:nvSpPr>
        <p:spPr/>
        <p:txBody>
          <a:bodyPr/>
          <a:lstStyle/>
          <a:p>
            <a:fld id="{3E8E3862-5BAF-49BA-92B2-219109793DE3}" type="slidenum">
              <a:rPr lang="fr-FR" smtClean="0"/>
              <a:t>24</a:t>
            </a:fld>
            <a:endParaRPr lang="fr-FR"/>
          </a:p>
        </p:txBody>
      </p:sp>
    </p:spTree>
    <p:extLst>
      <p:ext uri="{BB962C8B-B14F-4D97-AF65-F5344CB8AC3E}">
        <p14:creationId xmlns:p14="http://schemas.microsoft.com/office/powerpoint/2010/main" val="13321635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13320E3-A16B-952B-86E5-AEC3586AA419}"/>
            </a:ext>
          </a:extLst>
        </p:cNvPr>
        <p:cNvGrpSpPr/>
        <p:nvPr/>
      </p:nvGrpSpPr>
      <p:grpSpPr>
        <a:xfrm>
          <a:off x="0" y="0"/>
          <a:ext cx="0" cy="0"/>
          <a:chOff x="0" y="0"/>
          <a:chExt cx="0" cy="0"/>
        </a:xfrm>
      </p:grpSpPr>
      <p:sp>
        <p:nvSpPr>
          <p:cNvPr id="2" name="Espace réservé de l'image des diapositives 1">
            <a:extLst>
              <a:ext uri="{FF2B5EF4-FFF2-40B4-BE49-F238E27FC236}">
                <a16:creationId xmlns="" xmlns:a16="http://schemas.microsoft.com/office/drawing/2014/main" id="{7D371F75-152F-773C-385B-70E7A7BCCCF9}"/>
              </a:ext>
            </a:extLst>
          </p:cNvPr>
          <p:cNvSpPr>
            <a:spLocks noGrp="1" noRot="1" noChangeAspect="1"/>
          </p:cNvSpPr>
          <p:nvPr>
            <p:ph type="sldImg"/>
          </p:nvPr>
        </p:nvSpPr>
        <p:spPr/>
      </p:sp>
      <p:sp>
        <p:nvSpPr>
          <p:cNvPr id="3" name="Espace réservé des notes 2">
            <a:extLst>
              <a:ext uri="{FF2B5EF4-FFF2-40B4-BE49-F238E27FC236}">
                <a16:creationId xmlns="" xmlns:a16="http://schemas.microsoft.com/office/drawing/2014/main" id="{CBBF7766-1E1A-1012-E6BF-F8FB9B7DDC6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 xmlns:a16="http://schemas.microsoft.com/office/drawing/2014/main" id="{EC1A63ED-1D0F-A886-31FA-06638C2C40E0}"/>
              </a:ext>
            </a:extLst>
          </p:cNvPr>
          <p:cNvSpPr>
            <a:spLocks noGrp="1"/>
          </p:cNvSpPr>
          <p:nvPr>
            <p:ph type="sldNum" sz="quarter" idx="5"/>
          </p:nvPr>
        </p:nvSpPr>
        <p:spPr/>
        <p:txBody>
          <a:bodyPr/>
          <a:lstStyle/>
          <a:p>
            <a:fld id="{3E8E3862-5BAF-49BA-92B2-219109793DE3}" type="slidenum">
              <a:rPr lang="fr-FR" smtClean="0"/>
              <a:t>25</a:t>
            </a:fld>
            <a:endParaRPr lang="fr-FR"/>
          </a:p>
        </p:txBody>
      </p:sp>
    </p:spTree>
    <p:extLst>
      <p:ext uri="{BB962C8B-B14F-4D97-AF65-F5344CB8AC3E}">
        <p14:creationId xmlns:p14="http://schemas.microsoft.com/office/powerpoint/2010/main" val="25071479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13320E3-A16B-952B-86E5-AEC3586AA419}"/>
            </a:ext>
          </a:extLst>
        </p:cNvPr>
        <p:cNvGrpSpPr/>
        <p:nvPr/>
      </p:nvGrpSpPr>
      <p:grpSpPr>
        <a:xfrm>
          <a:off x="0" y="0"/>
          <a:ext cx="0" cy="0"/>
          <a:chOff x="0" y="0"/>
          <a:chExt cx="0" cy="0"/>
        </a:xfrm>
      </p:grpSpPr>
      <p:sp>
        <p:nvSpPr>
          <p:cNvPr id="2" name="Espace réservé de l'image des diapositives 1">
            <a:extLst>
              <a:ext uri="{FF2B5EF4-FFF2-40B4-BE49-F238E27FC236}">
                <a16:creationId xmlns="" xmlns:a16="http://schemas.microsoft.com/office/drawing/2014/main" id="{7D371F75-152F-773C-385B-70E7A7BCCCF9}"/>
              </a:ext>
            </a:extLst>
          </p:cNvPr>
          <p:cNvSpPr>
            <a:spLocks noGrp="1" noRot="1" noChangeAspect="1"/>
          </p:cNvSpPr>
          <p:nvPr>
            <p:ph type="sldImg"/>
          </p:nvPr>
        </p:nvSpPr>
        <p:spPr/>
      </p:sp>
      <p:sp>
        <p:nvSpPr>
          <p:cNvPr id="3" name="Espace réservé des notes 2">
            <a:extLst>
              <a:ext uri="{FF2B5EF4-FFF2-40B4-BE49-F238E27FC236}">
                <a16:creationId xmlns="" xmlns:a16="http://schemas.microsoft.com/office/drawing/2014/main" id="{CBBF7766-1E1A-1012-E6BF-F8FB9B7DDC6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 xmlns:a16="http://schemas.microsoft.com/office/drawing/2014/main" id="{EC1A63ED-1D0F-A886-31FA-06638C2C40E0}"/>
              </a:ext>
            </a:extLst>
          </p:cNvPr>
          <p:cNvSpPr>
            <a:spLocks noGrp="1"/>
          </p:cNvSpPr>
          <p:nvPr>
            <p:ph type="sldNum" sz="quarter" idx="5"/>
          </p:nvPr>
        </p:nvSpPr>
        <p:spPr/>
        <p:txBody>
          <a:bodyPr/>
          <a:lstStyle/>
          <a:p>
            <a:fld id="{3E8E3862-5BAF-49BA-92B2-219109793DE3}" type="slidenum">
              <a:rPr lang="fr-FR" smtClean="0"/>
              <a:t>26</a:t>
            </a:fld>
            <a:endParaRPr lang="fr-FR"/>
          </a:p>
        </p:txBody>
      </p:sp>
    </p:spTree>
    <p:extLst>
      <p:ext uri="{BB962C8B-B14F-4D97-AF65-F5344CB8AC3E}">
        <p14:creationId xmlns:p14="http://schemas.microsoft.com/office/powerpoint/2010/main" val="35551398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13320E3-A16B-952B-86E5-AEC3586AA419}"/>
            </a:ext>
          </a:extLst>
        </p:cNvPr>
        <p:cNvGrpSpPr/>
        <p:nvPr/>
      </p:nvGrpSpPr>
      <p:grpSpPr>
        <a:xfrm>
          <a:off x="0" y="0"/>
          <a:ext cx="0" cy="0"/>
          <a:chOff x="0" y="0"/>
          <a:chExt cx="0" cy="0"/>
        </a:xfrm>
      </p:grpSpPr>
      <p:sp>
        <p:nvSpPr>
          <p:cNvPr id="2" name="Espace réservé de l'image des diapositives 1">
            <a:extLst>
              <a:ext uri="{FF2B5EF4-FFF2-40B4-BE49-F238E27FC236}">
                <a16:creationId xmlns="" xmlns:a16="http://schemas.microsoft.com/office/drawing/2014/main" id="{7D371F75-152F-773C-385B-70E7A7BCCCF9}"/>
              </a:ext>
            </a:extLst>
          </p:cNvPr>
          <p:cNvSpPr>
            <a:spLocks noGrp="1" noRot="1" noChangeAspect="1"/>
          </p:cNvSpPr>
          <p:nvPr>
            <p:ph type="sldImg"/>
          </p:nvPr>
        </p:nvSpPr>
        <p:spPr/>
      </p:sp>
      <p:sp>
        <p:nvSpPr>
          <p:cNvPr id="3" name="Espace réservé des notes 2">
            <a:extLst>
              <a:ext uri="{FF2B5EF4-FFF2-40B4-BE49-F238E27FC236}">
                <a16:creationId xmlns="" xmlns:a16="http://schemas.microsoft.com/office/drawing/2014/main" id="{CBBF7766-1E1A-1012-E6BF-F8FB9B7DDC6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 xmlns:a16="http://schemas.microsoft.com/office/drawing/2014/main" id="{EC1A63ED-1D0F-A886-31FA-06638C2C40E0}"/>
              </a:ext>
            </a:extLst>
          </p:cNvPr>
          <p:cNvSpPr>
            <a:spLocks noGrp="1"/>
          </p:cNvSpPr>
          <p:nvPr>
            <p:ph type="sldNum" sz="quarter" idx="5"/>
          </p:nvPr>
        </p:nvSpPr>
        <p:spPr/>
        <p:txBody>
          <a:bodyPr/>
          <a:lstStyle/>
          <a:p>
            <a:fld id="{3E8E3862-5BAF-49BA-92B2-219109793DE3}" type="slidenum">
              <a:rPr lang="fr-FR" smtClean="0"/>
              <a:t>27</a:t>
            </a:fld>
            <a:endParaRPr lang="fr-FR"/>
          </a:p>
        </p:txBody>
      </p:sp>
    </p:spTree>
    <p:extLst>
      <p:ext uri="{BB962C8B-B14F-4D97-AF65-F5344CB8AC3E}">
        <p14:creationId xmlns:p14="http://schemas.microsoft.com/office/powerpoint/2010/main" val="19487247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13320E3-A16B-952B-86E5-AEC3586AA419}"/>
            </a:ext>
          </a:extLst>
        </p:cNvPr>
        <p:cNvGrpSpPr/>
        <p:nvPr/>
      </p:nvGrpSpPr>
      <p:grpSpPr>
        <a:xfrm>
          <a:off x="0" y="0"/>
          <a:ext cx="0" cy="0"/>
          <a:chOff x="0" y="0"/>
          <a:chExt cx="0" cy="0"/>
        </a:xfrm>
      </p:grpSpPr>
      <p:sp>
        <p:nvSpPr>
          <p:cNvPr id="2" name="Espace réservé de l'image des diapositives 1">
            <a:extLst>
              <a:ext uri="{FF2B5EF4-FFF2-40B4-BE49-F238E27FC236}">
                <a16:creationId xmlns="" xmlns:a16="http://schemas.microsoft.com/office/drawing/2014/main" id="{7D371F75-152F-773C-385B-70E7A7BCCCF9}"/>
              </a:ext>
            </a:extLst>
          </p:cNvPr>
          <p:cNvSpPr>
            <a:spLocks noGrp="1" noRot="1" noChangeAspect="1"/>
          </p:cNvSpPr>
          <p:nvPr>
            <p:ph type="sldImg"/>
          </p:nvPr>
        </p:nvSpPr>
        <p:spPr/>
      </p:sp>
      <p:sp>
        <p:nvSpPr>
          <p:cNvPr id="3" name="Espace réservé des notes 2">
            <a:extLst>
              <a:ext uri="{FF2B5EF4-FFF2-40B4-BE49-F238E27FC236}">
                <a16:creationId xmlns="" xmlns:a16="http://schemas.microsoft.com/office/drawing/2014/main" id="{CBBF7766-1E1A-1012-E6BF-F8FB9B7DDC6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 xmlns:a16="http://schemas.microsoft.com/office/drawing/2014/main" id="{EC1A63ED-1D0F-A886-31FA-06638C2C40E0}"/>
              </a:ext>
            </a:extLst>
          </p:cNvPr>
          <p:cNvSpPr>
            <a:spLocks noGrp="1"/>
          </p:cNvSpPr>
          <p:nvPr>
            <p:ph type="sldNum" sz="quarter" idx="5"/>
          </p:nvPr>
        </p:nvSpPr>
        <p:spPr/>
        <p:txBody>
          <a:bodyPr/>
          <a:lstStyle/>
          <a:p>
            <a:fld id="{3E8E3862-5BAF-49BA-92B2-219109793DE3}" type="slidenum">
              <a:rPr lang="fr-FR" smtClean="0"/>
              <a:t>28</a:t>
            </a:fld>
            <a:endParaRPr lang="fr-FR"/>
          </a:p>
        </p:txBody>
      </p:sp>
    </p:spTree>
    <p:extLst>
      <p:ext uri="{BB962C8B-B14F-4D97-AF65-F5344CB8AC3E}">
        <p14:creationId xmlns:p14="http://schemas.microsoft.com/office/powerpoint/2010/main" val="29885910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13320E3-A16B-952B-86E5-AEC3586AA419}"/>
            </a:ext>
          </a:extLst>
        </p:cNvPr>
        <p:cNvGrpSpPr/>
        <p:nvPr/>
      </p:nvGrpSpPr>
      <p:grpSpPr>
        <a:xfrm>
          <a:off x="0" y="0"/>
          <a:ext cx="0" cy="0"/>
          <a:chOff x="0" y="0"/>
          <a:chExt cx="0" cy="0"/>
        </a:xfrm>
      </p:grpSpPr>
      <p:sp>
        <p:nvSpPr>
          <p:cNvPr id="2" name="Espace réservé de l'image des diapositives 1">
            <a:extLst>
              <a:ext uri="{FF2B5EF4-FFF2-40B4-BE49-F238E27FC236}">
                <a16:creationId xmlns="" xmlns:a16="http://schemas.microsoft.com/office/drawing/2014/main" id="{7D371F75-152F-773C-385B-70E7A7BCCCF9}"/>
              </a:ext>
            </a:extLst>
          </p:cNvPr>
          <p:cNvSpPr>
            <a:spLocks noGrp="1" noRot="1" noChangeAspect="1"/>
          </p:cNvSpPr>
          <p:nvPr>
            <p:ph type="sldImg"/>
          </p:nvPr>
        </p:nvSpPr>
        <p:spPr/>
      </p:sp>
      <p:sp>
        <p:nvSpPr>
          <p:cNvPr id="3" name="Espace réservé des notes 2">
            <a:extLst>
              <a:ext uri="{FF2B5EF4-FFF2-40B4-BE49-F238E27FC236}">
                <a16:creationId xmlns="" xmlns:a16="http://schemas.microsoft.com/office/drawing/2014/main" id="{CBBF7766-1E1A-1012-E6BF-F8FB9B7DDC6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 xmlns:a16="http://schemas.microsoft.com/office/drawing/2014/main" id="{EC1A63ED-1D0F-A886-31FA-06638C2C40E0}"/>
              </a:ext>
            </a:extLst>
          </p:cNvPr>
          <p:cNvSpPr>
            <a:spLocks noGrp="1"/>
          </p:cNvSpPr>
          <p:nvPr>
            <p:ph type="sldNum" sz="quarter" idx="5"/>
          </p:nvPr>
        </p:nvSpPr>
        <p:spPr/>
        <p:txBody>
          <a:bodyPr/>
          <a:lstStyle/>
          <a:p>
            <a:fld id="{3E8E3862-5BAF-49BA-92B2-219109793DE3}" type="slidenum">
              <a:rPr lang="fr-FR" smtClean="0"/>
              <a:t>29</a:t>
            </a:fld>
            <a:endParaRPr lang="fr-FR"/>
          </a:p>
        </p:txBody>
      </p:sp>
    </p:spTree>
    <p:extLst>
      <p:ext uri="{BB962C8B-B14F-4D97-AF65-F5344CB8AC3E}">
        <p14:creationId xmlns:p14="http://schemas.microsoft.com/office/powerpoint/2010/main" val="34714614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13320E3-A16B-952B-86E5-AEC3586AA419}"/>
            </a:ext>
          </a:extLst>
        </p:cNvPr>
        <p:cNvGrpSpPr/>
        <p:nvPr/>
      </p:nvGrpSpPr>
      <p:grpSpPr>
        <a:xfrm>
          <a:off x="0" y="0"/>
          <a:ext cx="0" cy="0"/>
          <a:chOff x="0" y="0"/>
          <a:chExt cx="0" cy="0"/>
        </a:xfrm>
      </p:grpSpPr>
      <p:sp>
        <p:nvSpPr>
          <p:cNvPr id="2" name="Espace réservé de l'image des diapositives 1">
            <a:extLst>
              <a:ext uri="{FF2B5EF4-FFF2-40B4-BE49-F238E27FC236}">
                <a16:creationId xmlns="" xmlns:a16="http://schemas.microsoft.com/office/drawing/2014/main" id="{7D371F75-152F-773C-385B-70E7A7BCCCF9}"/>
              </a:ext>
            </a:extLst>
          </p:cNvPr>
          <p:cNvSpPr>
            <a:spLocks noGrp="1" noRot="1" noChangeAspect="1"/>
          </p:cNvSpPr>
          <p:nvPr>
            <p:ph type="sldImg"/>
          </p:nvPr>
        </p:nvSpPr>
        <p:spPr/>
      </p:sp>
      <p:sp>
        <p:nvSpPr>
          <p:cNvPr id="3" name="Espace réservé des notes 2">
            <a:extLst>
              <a:ext uri="{FF2B5EF4-FFF2-40B4-BE49-F238E27FC236}">
                <a16:creationId xmlns="" xmlns:a16="http://schemas.microsoft.com/office/drawing/2014/main" id="{CBBF7766-1E1A-1012-E6BF-F8FB9B7DDC6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 xmlns:a16="http://schemas.microsoft.com/office/drawing/2014/main" id="{EC1A63ED-1D0F-A886-31FA-06638C2C40E0}"/>
              </a:ext>
            </a:extLst>
          </p:cNvPr>
          <p:cNvSpPr>
            <a:spLocks noGrp="1"/>
          </p:cNvSpPr>
          <p:nvPr>
            <p:ph type="sldNum" sz="quarter" idx="5"/>
          </p:nvPr>
        </p:nvSpPr>
        <p:spPr/>
        <p:txBody>
          <a:bodyPr/>
          <a:lstStyle/>
          <a:p>
            <a:fld id="{3E8E3862-5BAF-49BA-92B2-219109793DE3}" type="slidenum">
              <a:rPr lang="fr-FR" smtClean="0"/>
              <a:t>30</a:t>
            </a:fld>
            <a:endParaRPr lang="fr-FR"/>
          </a:p>
        </p:txBody>
      </p:sp>
    </p:spTree>
    <p:extLst>
      <p:ext uri="{BB962C8B-B14F-4D97-AF65-F5344CB8AC3E}">
        <p14:creationId xmlns:p14="http://schemas.microsoft.com/office/powerpoint/2010/main" val="4041371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13320E3-A16B-952B-86E5-AEC3586AA419}"/>
            </a:ext>
          </a:extLst>
        </p:cNvPr>
        <p:cNvGrpSpPr/>
        <p:nvPr/>
      </p:nvGrpSpPr>
      <p:grpSpPr>
        <a:xfrm>
          <a:off x="0" y="0"/>
          <a:ext cx="0" cy="0"/>
          <a:chOff x="0" y="0"/>
          <a:chExt cx="0" cy="0"/>
        </a:xfrm>
      </p:grpSpPr>
      <p:sp>
        <p:nvSpPr>
          <p:cNvPr id="2" name="Espace réservé de l'image des diapositives 1">
            <a:extLst>
              <a:ext uri="{FF2B5EF4-FFF2-40B4-BE49-F238E27FC236}">
                <a16:creationId xmlns="" xmlns:a16="http://schemas.microsoft.com/office/drawing/2014/main" id="{7D371F75-152F-773C-385B-70E7A7BCCCF9}"/>
              </a:ext>
            </a:extLst>
          </p:cNvPr>
          <p:cNvSpPr>
            <a:spLocks noGrp="1" noRot="1" noChangeAspect="1"/>
          </p:cNvSpPr>
          <p:nvPr>
            <p:ph type="sldImg"/>
          </p:nvPr>
        </p:nvSpPr>
        <p:spPr/>
      </p:sp>
      <p:sp>
        <p:nvSpPr>
          <p:cNvPr id="3" name="Espace réservé des notes 2">
            <a:extLst>
              <a:ext uri="{FF2B5EF4-FFF2-40B4-BE49-F238E27FC236}">
                <a16:creationId xmlns="" xmlns:a16="http://schemas.microsoft.com/office/drawing/2014/main" id="{CBBF7766-1E1A-1012-E6BF-F8FB9B7DDC6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 xmlns:a16="http://schemas.microsoft.com/office/drawing/2014/main" id="{EC1A63ED-1D0F-A886-31FA-06638C2C40E0}"/>
              </a:ext>
            </a:extLst>
          </p:cNvPr>
          <p:cNvSpPr>
            <a:spLocks noGrp="1"/>
          </p:cNvSpPr>
          <p:nvPr>
            <p:ph type="sldNum" sz="quarter" idx="5"/>
          </p:nvPr>
        </p:nvSpPr>
        <p:spPr/>
        <p:txBody>
          <a:bodyPr/>
          <a:lstStyle/>
          <a:p>
            <a:fld id="{3E8E3862-5BAF-49BA-92B2-219109793DE3}" type="slidenum">
              <a:rPr lang="fr-FR" smtClean="0"/>
              <a:t>31</a:t>
            </a:fld>
            <a:endParaRPr lang="fr-FR"/>
          </a:p>
        </p:txBody>
      </p:sp>
    </p:spTree>
    <p:extLst>
      <p:ext uri="{BB962C8B-B14F-4D97-AF65-F5344CB8AC3E}">
        <p14:creationId xmlns:p14="http://schemas.microsoft.com/office/powerpoint/2010/main" val="8052874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13320E3-A16B-952B-86E5-AEC3586AA419}"/>
            </a:ext>
          </a:extLst>
        </p:cNvPr>
        <p:cNvGrpSpPr/>
        <p:nvPr/>
      </p:nvGrpSpPr>
      <p:grpSpPr>
        <a:xfrm>
          <a:off x="0" y="0"/>
          <a:ext cx="0" cy="0"/>
          <a:chOff x="0" y="0"/>
          <a:chExt cx="0" cy="0"/>
        </a:xfrm>
      </p:grpSpPr>
      <p:sp>
        <p:nvSpPr>
          <p:cNvPr id="2" name="Espace réservé de l'image des diapositives 1">
            <a:extLst>
              <a:ext uri="{FF2B5EF4-FFF2-40B4-BE49-F238E27FC236}">
                <a16:creationId xmlns="" xmlns:a16="http://schemas.microsoft.com/office/drawing/2014/main" id="{7D371F75-152F-773C-385B-70E7A7BCCCF9}"/>
              </a:ext>
            </a:extLst>
          </p:cNvPr>
          <p:cNvSpPr>
            <a:spLocks noGrp="1" noRot="1" noChangeAspect="1"/>
          </p:cNvSpPr>
          <p:nvPr>
            <p:ph type="sldImg"/>
          </p:nvPr>
        </p:nvSpPr>
        <p:spPr/>
      </p:sp>
      <p:sp>
        <p:nvSpPr>
          <p:cNvPr id="3" name="Espace réservé des notes 2">
            <a:extLst>
              <a:ext uri="{FF2B5EF4-FFF2-40B4-BE49-F238E27FC236}">
                <a16:creationId xmlns="" xmlns:a16="http://schemas.microsoft.com/office/drawing/2014/main" id="{CBBF7766-1E1A-1012-E6BF-F8FB9B7DDC6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 xmlns:a16="http://schemas.microsoft.com/office/drawing/2014/main" id="{EC1A63ED-1D0F-A886-31FA-06638C2C40E0}"/>
              </a:ext>
            </a:extLst>
          </p:cNvPr>
          <p:cNvSpPr>
            <a:spLocks noGrp="1"/>
          </p:cNvSpPr>
          <p:nvPr>
            <p:ph type="sldNum" sz="quarter" idx="5"/>
          </p:nvPr>
        </p:nvSpPr>
        <p:spPr/>
        <p:txBody>
          <a:bodyPr/>
          <a:lstStyle/>
          <a:p>
            <a:fld id="{3E8E3862-5BAF-49BA-92B2-219109793DE3}" type="slidenum">
              <a:rPr lang="fr-FR" smtClean="0"/>
              <a:t>32</a:t>
            </a:fld>
            <a:endParaRPr lang="fr-FR"/>
          </a:p>
        </p:txBody>
      </p:sp>
    </p:spTree>
    <p:extLst>
      <p:ext uri="{BB962C8B-B14F-4D97-AF65-F5344CB8AC3E}">
        <p14:creationId xmlns:p14="http://schemas.microsoft.com/office/powerpoint/2010/main" val="637679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Modifiez le style des sous-titres du masque</a:t>
            </a:r>
            <a:endParaRPr lang="fr-FR"/>
          </a:p>
        </p:txBody>
      </p:sp>
      <p:sp>
        <p:nvSpPr>
          <p:cNvPr id="4" name="Espace réservé de la date 3"/>
          <p:cNvSpPr>
            <a:spLocks noGrp="1"/>
          </p:cNvSpPr>
          <p:nvPr>
            <p:ph type="dt" sz="half" idx="10"/>
          </p:nvPr>
        </p:nvSpPr>
        <p:spPr/>
        <p:txBody>
          <a:bodyPr/>
          <a:lstStyle/>
          <a:p>
            <a:fld id="{69F1E6F8-5363-4348-B67E-29989DBBBF45}" type="datetimeFigureOut">
              <a:rPr lang="fr-FR" smtClean="0"/>
              <a:t>07/02/2026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4D8DE1BC-5C81-4EAC-A74B-731F54523ED2}" type="slidenum">
              <a:rPr lang="fr-FR" smtClean="0"/>
              <a:t>‹N°›</a:t>
            </a:fld>
            <a:endParaRPr lang="fr-FR"/>
          </a:p>
        </p:txBody>
      </p:sp>
    </p:spTree>
    <p:extLst>
      <p:ext uri="{BB962C8B-B14F-4D97-AF65-F5344CB8AC3E}">
        <p14:creationId xmlns:p14="http://schemas.microsoft.com/office/powerpoint/2010/main" val="2999836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69F1E6F8-5363-4348-B67E-29989DBBBF45}" type="datetimeFigureOut">
              <a:rPr lang="fr-FR" smtClean="0"/>
              <a:t>07/02/2026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4D8DE1BC-5C81-4EAC-A74B-731F54523ED2}" type="slidenum">
              <a:rPr lang="fr-FR" smtClean="0"/>
              <a:t>‹N°›</a:t>
            </a:fld>
            <a:endParaRPr lang="fr-FR"/>
          </a:p>
        </p:txBody>
      </p:sp>
    </p:spTree>
    <p:extLst>
      <p:ext uri="{BB962C8B-B14F-4D97-AF65-F5344CB8AC3E}">
        <p14:creationId xmlns:p14="http://schemas.microsoft.com/office/powerpoint/2010/main" val="3761488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fld id="{69F1E6F8-5363-4348-B67E-29989DBBBF45}" type="datetimeFigureOut">
              <a:rPr lang="fr-FR" smtClean="0"/>
              <a:t>07/02/2026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4D8DE1BC-5C81-4EAC-A74B-731F54523ED2}" type="slidenum">
              <a:rPr lang="fr-FR" smtClean="0"/>
              <a:t>‹N°›</a:t>
            </a:fld>
            <a:endParaRPr lang="fr-FR"/>
          </a:p>
        </p:txBody>
      </p:sp>
    </p:spTree>
    <p:extLst>
      <p:ext uri="{BB962C8B-B14F-4D97-AF65-F5344CB8AC3E}">
        <p14:creationId xmlns:p14="http://schemas.microsoft.com/office/powerpoint/2010/main" val="1232511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69F1E6F8-5363-4348-B67E-29989DBBBF45}" type="datetimeFigureOut">
              <a:rPr lang="fr-FR" smtClean="0"/>
              <a:t>07/02/2026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4D8DE1BC-5C81-4EAC-A74B-731F54523ED2}" type="slidenum">
              <a:rPr lang="fr-FR" smtClean="0"/>
              <a:t>‹N°›</a:t>
            </a:fld>
            <a:endParaRPr lang="fr-FR"/>
          </a:p>
        </p:txBody>
      </p:sp>
    </p:spTree>
    <p:extLst>
      <p:ext uri="{BB962C8B-B14F-4D97-AF65-F5344CB8AC3E}">
        <p14:creationId xmlns:p14="http://schemas.microsoft.com/office/powerpoint/2010/main" val="2181142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69F1E6F8-5363-4348-B67E-29989DBBBF45}" type="datetimeFigureOut">
              <a:rPr lang="fr-FR" smtClean="0"/>
              <a:t>07/02/2026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4D8DE1BC-5C81-4EAC-A74B-731F54523ED2}" type="slidenum">
              <a:rPr lang="fr-FR" smtClean="0"/>
              <a:t>‹N°›</a:t>
            </a:fld>
            <a:endParaRPr lang="fr-FR"/>
          </a:p>
        </p:txBody>
      </p:sp>
    </p:spTree>
    <p:extLst>
      <p:ext uri="{BB962C8B-B14F-4D97-AF65-F5344CB8AC3E}">
        <p14:creationId xmlns:p14="http://schemas.microsoft.com/office/powerpoint/2010/main" val="2186790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69F1E6F8-5363-4348-B67E-29989DBBBF45}" type="datetimeFigureOut">
              <a:rPr lang="fr-FR" smtClean="0"/>
              <a:t>07/02/2026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4D8DE1BC-5C81-4EAC-A74B-731F54523ED2}" type="slidenum">
              <a:rPr lang="fr-FR" smtClean="0"/>
              <a:t>‹N°›</a:t>
            </a:fld>
            <a:endParaRPr lang="fr-FR"/>
          </a:p>
        </p:txBody>
      </p:sp>
    </p:spTree>
    <p:extLst>
      <p:ext uri="{BB962C8B-B14F-4D97-AF65-F5344CB8AC3E}">
        <p14:creationId xmlns:p14="http://schemas.microsoft.com/office/powerpoint/2010/main" val="2643162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9F1E6F8-5363-4348-B67E-29989DBBBF45}" type="datetimeFigureOut">
              <a:rPr lang="fr-FR" smtClean="0"/>
              <a:t>07/02/2026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4D8DE1BC-5C81-4EAC-A74B-731F54523ED2}" type="slidenum">
              <a:rPr lang="fr-FR" smtClean="0"/>
              <a:t>‹N°›</a:t>
            </a:fld>
            <a:endParaRPr lang="fr-FR"/>
          </a:p>
        </p:txBody>
      </p:sp>
    </p:spTree>
    <p:extLst>
      <p:ext uri="{BB962C8B-B14F-4D97-AF65-F5344CB8AC3E}">
        <p14:creationId xmlns:p14="http://schemas.microsoft.com/office/powerpoint/2010/main" val="948531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69F1E6F8-5363-4348-B67E-29989DBBBF45}" type="datetimeFigureOut">
              <a:rPr lang="fr-FR" smtClean="0"/>
              <a:t>07/02/2026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4D8DE1BC-5C81-4EAC-A74B-731F54523ED2}" type="slidenum">
              <a:rPr lang="fr-FR" smtClean="0"/>
              <a:t>‹N°›</a:t>
            </a:fld>
            <a:endParaRPr lang="fr-FR"/>
          </a:p>
        </p:txBody>
      </p:sp>
    </p:spTree>
    <p:extLst>
      <p:ext uri="{BB962C8B-B14F-4D97-AF65-F5344CB8AC3E}">
        <p14:creationId xmlns:p14="http://schemas.microsoft.com/office/powerpoint/2010/main" val="3627496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69F1E6F8-5363-4348-B67E-29989DBBBF45}" type="datetimeFigureOut">
              <a:rPr lang="fr-FR" smtClean="0"/>
              <a:t>07/02/2026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4D8DE1BC-5C81-4EAC-A74B-731F54523ED2}" type="slidenum">
              <a:rPr lang="fr-FR" smtClean="0"/>
              <a:t>‹N°›</a:t>
            </a:fld>
            <a:endParaRPr lang="fr-FR"/>
          </a:p>
        </p:txBody>
      </p:sp>
    </p:spTree>
    <p:extLst>
      <p:ext uri="{BB962C8B-B14F-4D97-AF65-F5344CB8AC3E}">
        <p14:creationId xmlns:p14="http://schemas.microsoft.com/office/powerpoint/2010/main" val="3089036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69F1E6F8-5363-4348-B67E-29989DBBBF45}" type="datetimeFigureOut">
              <a:rPr lang="fr-FR" smtClean="0"/>
              <a:t>07/02/2026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4D8DE1BC-5C81-4EAC-A74B-731F54523ED2}" type="slidenum">
              <a:rPr lang="fr-FR" smtClean="0"/>
              <a:t>‹N°›</a:t>
            </a:fld>
            <a:endParaRPr lang="fr-FR"/>
          </a:p>
        </p:txBody>
      </p:sp>
    </p:spTree>
    <p:extLst>
      <p:ext uri="{BB962C8B-B14F-4D97-AF65-F5344CB8AC3E}">
        <p14:creationId xmlns:p14="http://schemas.microsoft.com/office/powerpoint/2010/main" val="2272551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69F1E6F8-5363-4348-B67E-29989DBBBF45}" type="datetimeFigureOut">
              <a:rPr lang="fr-FR" smtClean="0"/>
              <a:t>07/02/2026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4D8DE1BC-5C81-4EAC-A74B-731F54523ED2}" type="slidenum">
              <a:rPr lang="fr-FR" smtClean="0"/>
              <a:t>‹N°›</a:t>
            </a:fld>
            <a:endParaRPr lang="fr-FR"/>
          </a:p>
        </p:txBody>
      </p:sp>
    </p:spTree>
    <p:extLst>
      <p:ext uri="{BB962C8B-B14F-4D97-AF65-F5344CB8AC3E}">
        <p14:creationId xmlns:p14="http://schemas.microsoft.com/office/powerpoint/2010/main" val="1539149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F1E6F8-5363-4348-B67E-29989DBBBF45}" type="datetimeFigureOut">
              <a:rPr lang="fr-FR" smtClean="0"/>
              <a:t>07/02/2026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8DE1BC-5C81-4EAC-A74B-731F54523ED2}" type="slidenum">
              <a:rPr lang="fr-FR" smtClean="0"/>
              <a:t>‹N°›</a:t>
            </a:fld>
            <a:endParaRPr lang="fr-FR"/>
          </a:p>
        </p:txBody>
      </p:sp>
    </p:spTree>
    <p:extLst>
      <p:ext uri="{BB962C8B-B14F-4D97-AF65-F5344CB8AC3E}">
        <p14:creationId xmlns:p14="http://schemas.microsoft.com/office/powerpoint/2010/main" val="18589169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727199"/>
            <a:ext cx="9144000" cy="1163927"/>
          </a:xfrm>
        </p:spPr>
        <p:txBody>
          <a:bodyPr>
            <a:normAutofit/>
          </a:bodyPr>
          <a:lstStyle/>
          <a:p>
            <a:r>
              <a:rPr lang="fr-FR" sz="4800" dirty="0" smtClean="0">
                <a:latin typeface="Times New Roman" panose="02020603050405020304" pitchFamily="18" charset="0"/>
                <a:cs typeface="Times New Roman" panose="02020603050405020304" pitchFamily="18" charset="0"/>
              </a:rPr>
              <a:t>Langage de définition de données</a:t>
            </a:r>
            <a:endParaRPr lang="fr-FR" sz="4800" dirty="0">
              <a:latin typeface="Times New Roman" panose="02020603050405020304" pitchFamily="18" charset="0"/>
              <a:cs typeface="Times New Roman" panose="02020603050405020304" pitchFamily="18" charset="0"/>
            </a:endParaRPr>
          </a:p>
        </p:txBody>
      </p:sp>
      <p:sp>
        <p:nvSpPr>
          <p:cNvPr id="3" name="Sous-titre 2"/>
          <p:cNvSpPr>
            <a:spLocks noGrp="1"/>
          </p:cNvSpPr>
          <p:nvPr>
            <p:ph type="subTitle" idx="1"/>
          </p:nvPr>
        </p:nvSpPr>
        <p:spPr>
          <a:xfrm>
            <a:off x="3519054" y="3214111"/>
            <a:ext cx="5153891" cy="655926"/>
          </a:xfrm>
          <a:ln w="28575">
            <a:solidFill>
              <a:schemeClr val="tx1"/>
            </a:solidFill>
          </a:ln>
        </p:spPr>
        <p:txBody>
          <a:bodyPr/>
          <a:lstStyle/>
          <a:p>
            <a:r>
              <a:rPr lang="fr-FR" dirty="0" smtClean="0">
                <a:latin typeface="Times New Roman" panose="02020603050405020304" pitchFamily="18" charset="0"/>
                <a:cs typeface="Times New Roman" panose="02020603050405020304" pitchFamily="18" charset="0"/>
              </a:rPr>
              <a:t>Définition d’une table</a:t>
            </a:r>
            <a:endParaRPr lang="fr-FR" dirty="0">
              <a:latin typeface="Times New Roman" panose="02020603050405020304" pitchFamily="18" charset="0"/>
              <a:cs typeface="Times New Roman" panose="02020603050405020304" pitchFamily="18" charset="0"/>
            </a:endParaRPr>
          </a:p>
        </p:txBody>
      </p:sp>
      <p:pic>
        <p:nvPicPr>
          <p:cNvPr id="4" name="Image 3" descr="logo-1.png"/>
          <p:cNvPicPr>
            <a:picLocks noChangeAspect="1"/>
          </p:cNvPicPr>
          <p:nvPr/>
        </p:nvPicPr>
        <p:blipFill>
          <a:blip r:embed="rId2" cstate="print"/>
          <a:stretch>
            <a:fillRect/>
          </a:stretch>
        </p:blipFill>
        <p:spPr>
          <a:xfrm>
            <a:off x="8275781" y="146608"/>
            <a:ext cx="3619897" cy="791852"/>
          </a:xfrm>
          <a:prstGeom prst="rect">
            <a:avLst/>
          </a:prstGeom>
        </p:spPr>
      </p:pic>
      <p:sp>
        <p:nvSpPr>
          <p:cNvPr id="5" name="ZoneTexte 4"/>
          <p:cNvSpPr txBox="1"/>
          <p:nvPr/>
        </p:nvSpPr>
        <p:spPr>
          <a:xfrm>
            <a:off x="8331755" y="5837382"/>
            <a:ext cx="3507948" cy="400110"/>
          </a:xfrm>
          <a:prstGeom prst="rect">
            <a:avLst/>
          </a:prstGeom>
          <a:noFill/>
        </p:spPr>
        <p:txBody>
          <a:bodyPr wrap="none" rtlCol="0">
            <a:spAutoFit/>
          </a:bodyPr>
          <a:lstStyle/>
          <a:p>
            <a:r>
              <a:rPr lang="fr-FR" sz="2000" dirty="0" smtClean="0">
                <a:latin typeface="Times New Roman" panose="02020603050405020304" pitchFamily="18" charset="0"/>
                <a:cs typeface="Times New Roman" panose="02020603050405020304" pitchFamily="18" charset="0"/>
              </a:rPr>
              <a:t>Professeur : AMALOU </a:t>
            </a:r>
            <a:r>
              <a:rPr lang="fr-FR" sz="2000" dirty="0" err="1" smtClean="0">
                <a:latin typeface="Times New Roman" panose="02020603050405020304" pitchFamily="18" charset="0"/>
                <a:cs typeface="Times New Roman" panose="02020603050405020304" pitchFamily="18" charset="0"/>
              </a:rPr>
              <a:t>Ibtissam</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46986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106163" y="1591564"/>
            <a:ext cx="10515600" cy="4351338"/>
          </a:xfrm>
        </p:spPr>
        <p:txBody>
          <a:bodyPr/>
          <a:lstStyle/>
          <a:p>
            <a:pPr marL="514350" indent="-514350">
              <a:lnSpc>
                <a:spcPct val="150000"/>
              </a:lnSpc>
              <a:buAutoNum type="arabicPeriod"/>
            </a:pPr>
            <a:r>
              <a:rPr lang="fr-FR" dirty="0" smtClean="0">
                <a:latin typeface="Times New Roman" panose="02020603050405020304" pitchFamily="18" charset="0"/>
                <a:cs typeface="Times New Roman" panose="02020603050405020304" pitchFamily="18" charset="0"/>
              </a:rPr>
              <a:t>SQL</a:t>
            </a:r>
            <a:endParaRPr lang="fr-FR" dirty="0" smtClean="0">
              <a:latin typeface="Times New Roman" panose="02020603050405020304" pitchFamily="18" charset="0"/>
              <a:cs typeface="Times New Roman" panose="02020603050405020304" pitchFamily="18" charset="0"/>
            </a:endParaRPr>
          </a:p>
          <a:p>
            <a:pPr marL="514350" indent="-514350">
              <a:lnSpc>
                <a:spcPct val="150000"/>
              </a:lnSpc>
              <a:buAutoNum type="arabicPeriod"/>
            </a:pPr>
            <a:r>
              <a:rPr lang="fr-FR" dirty="0" smtClean="0">
                <a:latin typeface="Times New Roman" panose="02020603050405020304" pitchFamily="18" charset="0"/>
                <a:cs typeface="Times New Roman" panose="02020603050405020304" pitchFamily="18" charset="0"/>
              </a:rPr>
              <a:t>Environnement et outil</a:t>
            </a:r>
            <a:endParaRPr lang="fr-FR" dirty="0" smtClean="0">
              <a:latin typeface="Times New Roman" panose="02020603050405020304" pitchFamily="18" charset="0"/>
              <a:cs typeface="Times New Roman" panose="02020603050405020304" pitchFamily="18" charset="0"/>
            </a:endParaRPr>
          </a:p>
          <a:p>
            <a:pPr marL="514350" indent="-514350">
              <a:lnSpc>
                <a:spcPct val="150000"/>
              </a:lnSpc>
              <a:buAutoNum type="arabicPeriod"/>
            </a:pPr>
            <a:r>
              <a:rPr lang="fr-FR" dirty="0" err="1" smtClean="0">
                <a:latin typeface="Times New Roman" panose="02020603050405020304" pitchFamily="18" charset="0"/>
                <a:cs typeface="Times New Roman" panose="02020603050405020304" pitchFamily="18" charset="0"/>
              </a:rPr>
              <a:t>Créationd’une</a:t>
            </a:r>
            <a:r>
              <a:rPr lang="fr-FR" dirty="0" smtClean="0">
                <a:latin typeface="Times New Roman" panose="02020603050405020304" pitchFamily="18" charset="0"/>
                <a:cs typeface="Times New Roman" panose="02020603050405020304" pitchFamily="18" charset="0"/>
              </a:rPr>
              <a:t> base de données</a:t>
            </a:r>
          </a:p>
          <a:p>
            <a:pPr marL="514350" indent="-514350">
              <a:lnSpc>
                <a:spcPct val="150000"/>
              </a:lnSpc>
              <a:buAutoNum type="arabicPeriod"/>
            </a:pPr>
            <a:r>
              <a:rPr lang="fr-FR" dirty="0" smtClean="0">
                <a:latin typeface="Times New Roman" panose="02020603050405020304" pitchFamily="18" charset="0"/>
                <a:cs typeface="Times New Roman" panose="02020603050405020304" pitchFamily="18" charset="0"/>
              </a:rPr>
              <a:t>Création d’une table</a:t>
            </a:r>
            <a:endParaRPr lang="fr-FR" dirty="0" smtClean="0">
              <a:latin typeface="Times New Roman" panose="02020603050405020304" pitchFamily="18" charset="0"/>
              <a:cs typeface="Times New Roman" panose="02020603050405020304" pitchFamily="18" charset="0"/>
            </a:endParaRPr>
          </a:p>
          <a:p>
            <a:pPr marL="514350" indent="-514350">
              <a:lnSpc>
                <a:spcPct val="150000"/>
              </a:lnSpc>
              <a:buAutoNum type="arabicPeriod"/>
            </a:pPr>
            <a:r>
              <a:rPr lang="fr-FR" dirty="0" smtClean="0">
                <a:latin typeface="Times New Roman" panose="02020603050405020304" pitchFamily="18" charset="0"/>
                <a:cs typeface="Times New Roman" panose="02020603050405020304" pitchFamily="18" charset="0"/>
              </a:rPr>
              <a:t>Contraintes d’intégrité</a:t>
            </a:r>
            <a:endParaRPr lang="fr-FR" dirty="0">
              <a:latin typeface="Times New Roman" panose="02020603050405020304" pitchFamily="18" charset="0"/>
              <a:cs typeface="Times New Roman" panose="02020603050405020304" pitchFamily="18" charset="0"/>
            </a:endParaRPr>
          </a:p>
        </p:txBody>
      </p:sp>
      <p:sp>
        <p:nvSpPr>
          <p:cNvPr id="4" name="Rectangle 3"/>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4334163" y="563418"/>
            <a:ext cx="7857837"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p:cNvSpPr txBox="1"/>
          <p:nvPr/>
        </p:nvSpPr>
        <p:spPr>
          <a:xfrm>
            <a:off x="1851890" y="354157"/>
            <a:ext cx="2618510" cy="584775"/>
          </a:xfrm>
          <a:prstGeom prst="rect">
            <a:avLst/>
          </a:prstGeom>
          <a:noFill/>
        </p:spPr>
        <p:txBody>
          <a:bodyPr wrap="square" rtlCol="0">
            <a:spAutoFit/>
          </a:bodyPr>
          <a:lstStyle/>
          <a:p>
            <a:r>
              <a:rPr lang="fr-FR" sz="3200" b="1" dirty="0" smtClean="0">
                <a:latin typeface="Times New Roman" panose="02020603050405020304" pitchFamily="18" charset="0"/>
                <a:cs typeface="Times New Roman" panose="02020603050405020304" pitchFamily="18" charset="0"/>
              </a:rPr>
              <a:t>Plan du cour</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40071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3044415" y="563418"/>
            <a:ext cx="9147586"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p:cNvSpPr txBox="1"/>
          <p:nvPr/>
        </p:nvSpPr>
        <p:spPr>
          <a:xfrm>
            <a:off x="1851889" y="354157"/>
            <a:ext cx="3163455" cy="584775"/>
          </a:xfrm>
          <a:prstGeom prst="rect">
            <a:avLst/>
          </a:prstGeom>
          <a:noFill/>
        </p:spPr>
        <p:txBody>
          <a:bodyPr wrap="square" rtlCol="0">
            <a:spAutoFit/>
          </a:bodyPr>
          <a:lstStyle/>
          <a:p>
            <a:r>
              <a:rPr lang="fr-FR" sz="3200" b="1" dirty="0" smtClean="0">
                <a:latin typeface="Times New Roman" panose="02020603050405020304" pitchFamily="18" charset="0"/>
                <a:cs typeface="Times New Roman" panose="02020603050405020304" pitchFamily="18" charset="0"/>
              </a:rPr>
              <a:t>SQL</a:t>
            </a:r>
            <a:endParaRPr lang="fr-FR" sz="3200" b="1" dirty="0">
              <a:latin typeface="Times New Roman" panose="02020603050405020304" pitchFamily="18" charset="0"/>
              <a:cs typeface="Times New Roman" panose="02020603050405020304" pitchFamily="18" charset="0"/>
            </a:endParaRPr>
          </a:p>
        </p:txBody>
      </p:sp>
      <p:sp>
        <p:nvSpPr>
          <p:cNvPr id="13" name="ZoneTexte 12"/>
          <p:cNvSpPr txBox="1"/>
          <p:nvPr/>
        </p:nvSpPr>
        <p:spPr>
          <a:xfrm>
            <a:off x="1382136" y="1474981"/>
            <a:ext cx="9181873" cy="452431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lnSpc>
                <a:spcPct val="150000"/>
              </a:lnSpc>
            </a:pPr>
            <a:r>
              <a:rPr lang="fr-FR" sz="2400" dirty="0">
                <a:latin typeface="Times New Roman" panose="02020603050405020304" pitchFamily="18" charset="0"/>
                <a:cs typeface="Times New Roman" panose="02020603050405020304" pitchFamily="18" charset="0"/>
              </a:rPr>
              <a:t>SQL est un langage pour les BDR. Créé en 1970 par IBM. Principales caractéristiques de SQL </a:t>
            </a:r>
            <a:r>
              <a:rPr lang="fr-FR" sz="2400" dirty="0" smtClean="0">
                <a:latin typeface="Times New Roman" panose="02020603050405020304" pitchFamily="18" charset="0"/>
                <a:cs typeface="Times New Roman" panose="02020603050405020304" pitchFamily="18" charset="0"/>
              </a:rPr>
              <a:t>:</a:t>
            </a:r>
          </a:p>
          <a:p>
            <a:pPr marL="342900" indent="-342900" algn="just">
              <a:lnSpc>
                <a:spcPct val="150000"/>
              </a:lnSpc>
              <a:buFont typeface="Arial" panose="020B0604020202020204" pitchFamily="34" charset="0"/>
              <a:buChar char="•"/>
            </a:pPr>
            <a:r>
              <a:rPr lang="fr-FR" sz="2400" dirty="0">
                <a:latin typeface="Times New Roman" panose="02020603050405020304" pitchFamily="18" charset="0"/>
                <a:cs typeface="Times New Roman" panose="02020603050405020304" pitchFamily="18" charset="0"/>
              </a:rPr>
              <a:t>SQL implémente le modèle </a:t>
            </a:r>
            <a:r>
              <a:rPr lang="fr-FR" sz="2400" dirty="0" smtClean="0">
                <a:latin typeface="Times New Roman" panose="02020603050405020304" pitchFamily="18" charset="0"/>
                <a:cs typeface="Times New Roman" panose="02020603050405020304" pitchFamily="18" charset="0"/>
              </a:rPr>
              <a:t>relationnel</a:t>
            </a:r>
          </a:p>
          <a:p>
            <a:pPr marL="342900" indent="-342900" algn="just">
              <a:lnSpc>
                <a:spcPct val="150000"/>
              </a:lnSpc>
              <a:buFont typeface="Arial" panose="020B0604020202020204" pitchFamily="34" charset="0"/>
              <a:buChar char="•"/>
            </a:pPr>
            <a:r>
              <a:rPr lang="fr-FR" sz="2400" dirty="0">
                <a:latin typeface="Times New Roman" panose="02020603050405020304" pitchFamily="18" charset="0"/>
                <a:cs typeface="Times New Roman" panose="02020603050405020304" pitchFamily="18" charset="0"/>
              </a:rPr>
              <a:t>la plupart des éditeurs de SGBDR intègrent SQL à leurs produits (Oracle, </a:t>
            </a:r>
            <a:r>
              <a:rPr lang="fr-FR" sz="2400" dirty="0" err="1">
                <a:latin typeface="Times New Roman" panose="02020603050405020304" pitchFamily="18" charset="0"/>
                <a:cs typeface="Times New Roman" panose="02020603050405020304" pitchFamily="18" charset="0"/>
              </a:rPr>
              <a:t>Informix</a:t>
            </a:r>
            <a:r>
              <a:rPr lang="fr-FR" sz="2400" dirty="0">
                <a:latin typeface="Times New Roman" panose="02020603050405020304" pitchFamily="18" charset="0"/>
                <a:cs typeface="Times New Roman" panose="02020603050405020304" pitchFamily="18" charset="0"/>
              </a:rPr>
              <a:t>, Sybase, Ingres, MS SQL Server, DB2, etc.). </a:t>
            </a:r>
            <a:endParaRPr lang="fr-FR" sz="2400" dirty="0" smtClean="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fr-FR" sz="2400" dirty="0">
                <a:latin typeface="Times New Roman" panose="02020603050405020304" pitchFamily="18" charset="0"/>
                <a:cs typeface="Times New Roman" panose="02020603050405020304" pitchFamily="18" charset="0"/>
              </a:rPr>
              <a:t>SQL est un langage de requêtes qui permet à l’utilisateur de demander un résultat sans se préoccuper des moyens techniques pour trouver ce résultat (</a:t>
            </a:r>
            <a:r>
              <a:rPr lang="fr-FR" sz="2400" dirty="0" err="1">
                <a:latin typeface="Times New Roman" panose="02020603050405020304" pitchFamily="18" charset="0"/>
                <a:cs typeface="Times New Roman" panose="02020603050405020304" pitchFamily="18" charset="0"/>
              </a:rPr>
              <a:t>assertionnel</a:t>
            </a:r>
            <a:r>
              <a:rPr lang="fr-FR" sz="2400" dirty="0">
                <a:latin typeface="Times New Roman" panose="02020603050405020304" pitchFamily="18" charset="0"/>
                <a:cs typeface="Times New Roman" panose="02020603050405020304" pitchFamily="18" charset="0"/>
              </a:rPr>
              <a:t>). </a:t>
            </a:r>
            <a:endParaRPr lang="fr-FR"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6477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3044415" y="563418"/>
            <a:ext cx="9147586"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p:cNvSpPr txBox="1"/>
          <p:nvPr/>
        </p:nvSpPr>
        <p:spPr>
          <a:xfrm>
            <a:off x="1851889" y="354157"/>
            <a:ext cx="3163455" cy="584775"/>
          </a:xfrm>
          <a:prstGeom prst="rect">
            <a:avLst/>
          </a:prstGeom>
          <a:noFill/>
        </p:spPr>
        <p:txBody>
          <a:bodyPr wrap="square" rtlCol="0">
            <a:spAutoFit/>
          </a:bodyPr>
          <a:lstStyle/>
          <a:p>
            <a:r>
              <a:rPr lang="fr-FR" sz="3200" b="1" dirty="0" smtClean="0">
                <a:latin typeface="Times New Roman" panose="02020603050405020304" pitchFamily="18" charset="0"/>
                <a:cs typeface="Times New Roman" panose="02020603050405020304" pitchFamily="18" charset="0"/>
              </a:rPr>
              <a:t>SQL</a:t>
            </a:r>
            <a:endParaRPr lang="fr-FR" sz="3200" b="1" dirty="0">
              <a:latin typeface="Times New Roman" panose="02020603050405020304" pitchFamily="18" charset="0"/>
              <a:cs typeface="Times New Roman" panose="02020603050405020304" pitchFamily="18" charset="0"/>
            </a:endParaRPr>
          </a:p>
        </p:txBody>
      </p:sp>
      <p:sp>
        <p:nvSpPr>
          <p:cNvPr id="13" name="ZoneTexte 12"/>
          <p:cNvSpPr txBox="1"/>
          <p:nvPr/>
        </p:nvSpPr>
        <p:spPr>
          <a:xfrm>
            <a:off x="1640320" y="2012863"/>
            <a:ext cx="9181873" cy="230832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lnSpc>
                <a:spcPct val="150000"/>
              </a:lnSpc>
            </a:pPr>
            <a:r>
              <a:rPr lang="fr-FR" sz="2400" dirty="0" smtClean="0">
                <a:latin typeface="Times New Roman" panose="02020603050405020304" pitchFamily="18" charset="0"/>
                <a:cs typeface="Times New Roman" panose="02020603050405020304" pitchFamily="18" charset="0"/>
              </a:rPr>
              <a:t>SQL </a:t>
            </a:r>
            <a:r>
              <a:rPr lang="fr-FR" sz="2400" dirty="0">
                <a:latin typeface="Times New Roman" panose="02020603050405020304" pitchFamily="18" charset="0"/>
                <a:cs typeface="Times New Roman" panose="02020603050405020304" pitchFamily="18" charset="0"/>
              </a:rPr>
              <a:t>peut être utilisé à tous les niveaux dans la gestion d’une BDR : </a:t>
            </a:r>
            <a:endParaRPr lang="fr-FR" sz="2400" dirty="0" smtClean="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Langage de Définition de Données </a:t>
            </a:r>
            <a:r>
              <a:rPr lang="fr-FR" sz="2400" dirty="0" smtClean="0">
                <a:latin typeface="Times New Roman" panose="02020603050405020304" pitchFamily="18" charset="0"/>
                <a:cs typeface="Times New Roman" panose="02020603050405020304" pitchFamily="18" charset="0"/>
              </a:rPr>
              <a:t>LDD</a:t>
            </a:r>
          </a:p>
          <a:p>
            <a:pPr marL="342900" indent="-342900" algn="just">
              <a:lnSpc>
                <a:spcPct val="150000"/>
              </a:lnSpc>
              <a:buFont typeface="Arial" panose="020B0604020202020204" pitchFamily="34" charset="0"/>
              <a:buChar char="•"/>
            </a:pPr>
            <a:r>
              <a:rPr lang="fr-FR" sz="2400" dirty="0" smtClean="0">
                <a:latin typeface="Times New Roman" panose="02020603050405020304" pitchFamily="18" charset="0"/>
                <a:cs typeface="Times New Roman" panose="02020603050405020304" pitchFamily="18" charset="0"/>
              </a:rPr>
              <a:t>Langage </a:t>
            </a:r>
            <a:r>
              <a:rPr lang="fr-FR" sz="2400" dirty="0">
                <a:latin typeface="Times New Roman" panose="02020603050405020304" pitchFamily="18" charset="0"/>
                <a:cs typeface="Times New Roman" panose="02020603050405020304" pitchFamily="18" charset="0"/>
              </a:rPr>
              <a:t>de Manipulation de Données </a:t>
            </a:r>
            <a:r>
              <a:rPr lang="fr-FR" sz="2400" dirty="0" smtClean="0">
                <a:latin typeface="Times New Roman" panose="02020603050405020304" pitchFamily="18" charset="0"/>
                <a:cs typeface="Times New Roman" panose="02020603050405020304" pitchFamily="18" charset="0"/>
              </a:rPr>
              <a:t>LMD</a:t>
            </a:r>
          </a:p>
          <a:p>
            <a:pPr marL="342900" indent="-342900" algn="just">
              <a:lnSpc>
                <a:spcPct val="150000"/>
              </a:lnSpc>
              <a:buFont typeface="Arial" panose="020B0604020202020204" pitchFamily="34" charset="0"/>
              <a:buChar char="•"/>
            </a:pPr>
            <a:r>
              <a:rPr lang="fr-FR" sz="2400" dirty="0" smtClean="0">
                <a:latin typeface="Times New Roman" panose="02020603050405020304" pitchFamily="18" charset="0"/>
                <a:cs typeface="Times New Roman" panose="02020603050405020304" pitchFamily="18" charset="0"/>
              </a:rPr>
              <a:t>Langage </a:t>
            </a:r>
            <a:r>
              <a:rPr lang="fr-FR" sz="2400" dirty="0">
                <a:latin typeface="Times New Roman" panose="02020603050405020304" pitchFamily="18" charset="0"/>
                <a:cs typeface="Times New Roman" panose="02020603050405020304" pitchFamily="18" charset="0"/>
              </a:rPr>
              <a:t>de Contrôle de Données LCD. </a:t>
            </a:r>
          </a:p>
        </p:txBody>
      </p:sp>
    </p:spTree>
    <p:extLst>
      <p:ext uri="{BB962C8B-B14F-4D97-AF65-F5344CB8AC3E}">
        <p14:creationId xmlns:p14="http://schemas.microsoft.com/office/powerpoint/2010/main" val="1234402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446982" y="563418"/>
            <a:ext cx="5745018"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p:cNvSpPr txBox="1"/>
          <p:nvPr/>
        </p:nvSpPr>
        <p:spPr>
          <a:xfrm>
            <a:off x="1786070" y="252619"/>
            <a:ext cx="4388288" cy="954107"/>
          </a:xfrm>
          <a:prstGeom prst="rect">
            <a:avLst/>
          </a:prstGeom>
          <a:noFill/>
        </p:spPr>
        <p:txBody>
          <a:bodyPr wrap="square" rtlCol="0">
            <a:spAutoFit/>
          </a:bodyPr>
          <a:lstStyle/>
          <a:p>
            <a:pPr algn="ctr"/>
            <a:r>
              <a:rPr lang="fr-FR" sz="2800" b="1" dirty="0" smtClean="0">
                <a:latin typeface="Times New Roman" panose="02020603050405020304" pitchFamily="18" charset="0"/>
                <a:cs typeface="Times New Roman" panose="02020603050405020304" pitchFamily="18" charset="0"/>
              </a:rPr>
              <a:t>Environnement et outil technique </a:t>
            </a:r>
            <a:endParaRPr lang="fr-FR" sz="2800" b="1" dirty="0">
              <a:latin typeface="Times New Roman" panose="02020603050405020304" pitchFamily="18" charset="0"/>
              <a:cs typeface="Times New Roman" panose="02020603050405020304" pitchFamily="18" charset="0"/>
            </a:endParaRPr>
          </a:p>
        </p:txBody>
      </p:sp>
      <p:sp>
        <p:nvSpPr>
          <p:cNvPr id="14" name="ZoneTexte 13"/>
          <p:cNvSpPr txBox="1"/>
          <p:nvPr/>
        </p:nvSpPr>
        <p:spPr>
          <a:xfrm>
            <a:off x="1241322" y="1617204"/>
            <a:ext cx="10145770" cy="445795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algn="just">
              <a:lnSpc>
                <a:spcPct val="150000"/>
              </a:lnSpc>
              <a:buFont typeface="Arial" panose="020B0604020202020204" pitchFamily="34" charset="0"/>
              <a:buChar char="•"/>
            </a:pPr>
            <a:r>
              <a:rPr lang="fr-FR" sz="2400" b="1" dirty="0" smtClean="0">
                <a:latin typeface="Times New Roman" panose="02020603050405020304" pitchFamily="18" charset="0"/>
                <a:cs typeface="Times New Roman" pitchFamily="18" charset="0"/>
              </a:rPr>
              <a:t>MySQL Server: </a:t>
            </a:r>
            <a:r>
              <a:rPr lang="fr-FR" sz="2400" dirty="0" smtClean="0">
                <a:latin typeface="Times New Roman" panose="02020603050405020304" pitchFamily="18" charset="0"/>
                <a:cs typeface="Times New Roman" panose="02020603050405020304" pitchFamily="18" charset="0"/>
              </a:rPr>
              <a:t>Stocke </a:t>
            </a:r>
            <a:r>
              <a:rPr lang="fr-FR" sz="2400" dirty="0">
                <a:latin typeface="Times New Roman" panose="02020603050405020304" pitchFamily="18" charset="0"/>
                <a:cs typeface="Times New Roman" panose="02020603050405020304" pitchFamily="18" charset="0"/>
              </a:rPr>
              <a:t>les données et exécute les calculs</a:t>
            </a:r>
            <a:endParaRPr lang="fr-FR" sz="2400" b="1" dirty="0" smtClean="0">
              <a:latin typeface="Times New Roman" panose="02020603050405020304" pitchFamily="18" charset="0"/>
              <a:cs typeface="Times New Roman" pitchFamily="18" charset="0"/>
            </a:endParaRPr>
          </a:p>
          <a:p>
            <a:pPr algn="just">
              <a:lnSpc>
                <a:spcPct val="150000"/>
              </a:lnSpc>
            </a:pPr>
            <a:endParaRPr lang="fr-FR" sz="2400" b="1" dirty="0">
              <a:latin typeface="Times New Roman" panose="02020603050405020304" pitchFamily="18" charset="0"/>
              <a:cs typeface="Times New Roman" pitchFamily="18" charset="0"/>
            </a:endParaRPr>
          </a:p>
          <a:p>
            <a:pPr marL="342900" indent="-342900" algn="just">
              <a:lnSpc>
                <a:spcPct val="150000"/>
              </a:lnSpc>
              <a:buFont typeface="Arial" panose="020B0604020202020204" pitchFamily="34" charset="0"/>
              <a:buChar char="•"/>
            </a:pPr>
            <a:r>
              <a:rPr lang="fr-FR" sz="2400" b="1" dirty="0" smtClean="0">
                <a:latin typeface="Times New Roman" panose="02020603050405020304" pitchFamily="18" charset="0"/>
                <a:cs typeface="Times New Roman" pitchFamily="18" charset="0"/>
              </a:rPr>
              <a:t>MySQL </a:t>
            </a:r>
            <a:r>
              <a:rPr lang="fr-FR" sz="2400" b="1" dirty="0" err="1" smtClean="0">
                <a:latin typeface="Times New Roman" panose="02020603050405020304" pitchFamily="18" charset="0"/>
                <a:cs typeface="Times New Roman" pitchFamily="18" charset="0"/>
              </a:rPr>
              <a:t>Workbench</a:t>
            </a:r>
            <a:r>
              <a:rPr lang="fr-FR" sz="2400" b="1" dirty="0" smtClean="0">
                <a:latin typeface="Times New Roman" panose="02020603050405020304" pitchFamily="18" charset="0"/>
                <a:cs typeface="Times New Roman" pitchFamily="18" charset="0"/>
              </a:rPr>
              <a:t>: </a:t>
            </a:r>
            <a:r>
              <a:rPr lang="fr-FR" sz="2400" dirty="0">
                <a:latin typeface="Times New Roman" panose="02020603050405020304" pitchFamily="18" charset="0"/>
                <a:cs typeface="Times New Roman" panose="02020603050405020304" pitchFamily="18" charset="0"/>
              </a:rPr>
              <a:t>C'est l'interface visuelle avec des boutons et des menus qui vous permet de </a:t>
            </a:r>
            <a:r>
              <a:rPr lang="fr-FR" sz="2400" dirty="0" smtClean="0">
                <a:latin typeface="Times New Roman" panose="02020603050405020304" pitchFamily="18" charset="0"/>
                <a:cs typeface="Times New Roman" panose="02020603050405020304" pitchFamily="18" charset="0"/>
              </a:rPr>
              <a:t>voir et manipuler les données sans </a:t>
            </a:r>
            <a:r>
              <a:rPr lang="fr-FR" sz="2400" dirty="0">
                <a:latin typeface="Times New Roman" panose="02020603050405020304" pitchFamily="18" charset="0"/>
                <a:cs typeface="Times New Roman" panose="02020603050405020304" pitchFamily="18" charset="0"/>
              </a:rPr>
              <a:t>avoir à taper des lignes de code complexes dans un terminal noir et austère</a:t>
            </a:r>
            <a:r>
              <a:rPr lang="fr-FR" sz="2400" dirty="0" smtClean="0">
                <a:latin typeface="Times New Roman" panose="02020603050405020304" pitchFamily="18" charset="0"/>
                <a:cs typeface="Times New Roman" panose="02020603050405020304" pitchFamily="18" charset="0"/>
              </a:rPr>
              <a:t>.</a:t>
            </a:r>
          </a:p>
          <a:p>
            <a:pPr marL="342900" indent="-342900" algn="just">
              <a:lnSpc>
                <a:spcPct val="150000"/>
              </a:lnSpc>
              <a:buFont typeface="Arial" panose="020B0604020202020204" pitchFamily="34" charset="0"/>
              <a:buChar char="•"/>
            </a:pPr>
            <a:endParaRPr lang="fr-FR"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fr-FR" sz="2400" dirty="0" smtClean="0">
                <a:latin typeface="Times New Roman" panose="02020603050405020304" pitchFamily="18" charset="0"/>
                <a:cs typeface="Times New Roman" panose="02020603050405020304" pitchFamily="18" charset="0"/>
              </a:rPr>
              <a:t>Le fichier installation donne avec précisions les étapes à suivre pour bien installer les outils techniques</a:t>
            </a:r>
          </a:p>
        </p:txBody>
      </p:sp>
    </p:spTree>
    <p:extLst>
      <p:ext uri="{BB962C8B-B14F-4D97-AF65-F5344CB8AC3E}">
        <p14:creationId xmlns:p14="http://schemas.microsoft.com/office/powerpoint/2010/main" val="521463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7368988" y="563418"/>
            <a:ext cx="4823012"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p:cNvSpPr txBox="1"/>
          <p:nvPr/>
        </p:nvSpPr>
        <p:spPr>
          <a:xfrm>
            <a:off x="1913085" y="384935"/>
            <a:ext cx="5306962" cy="523220"/>
          </a:xfrm>
          <a:prstGeom prst="rect">
            <a:avLst/>
          </a:prstGeom>
          <a:noFill/>
        </p:spPr>
        <p:txBody>
          <a:bodyPr wrap="square" rtlCol="0">
            <a:spAutoFit/>
          </a:bodyPr>
          <a:lstStyle/>
          <a:p>
            <a:r>
              <a:rPr lang="fr-FR" sz="2800" b="1" dirty="0" smtClean="0">
                <a:latin typeface="Times New Roman" panose="02020603050405020304" pitchFamily="18" charset="0"/>
                <a:cs typeface="Times New Roman" panose="02020603050405020304" pitchFamily="18" charset="0"/>
              </a:rPr>
              <a:t>Définition d’une base de données</a:t>
            </a:r>
            <a:endParaRPr lang="fr-FR" sz="2800" b="1" dirty="0">
              <a:latin typeface="Times New Roman" panose="02020603050405020304" pitchFamily="18" charset="0"/>
              <a:cs typeface="Times New Roman" panose="02020603050405020304" pitchFamily="18" charset="0"/>
            </a:endParaRPr>
          </a:p>
        </p:txBody>
      </p:sp>
      <p:sp>
        <p:nvSpPr>
          <p:cNvPr id="14" name="ZoneTexte 13"/>
          <p:cNvSpPr txBox="1"/>
          <p:nvPr/>
        </p:nvSpPr>
        <p:spPr>
          <a:xfrm>
            <a:off x="1083001" y="1647957"/>
            <a:ext cx="10145770" cy="378565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fr-FR" sz="2400" dirty="0">
                <a:latin typeface="Times New Roman" panose="02020603050405020304" pitchFamily="18" charset="0"/>
                <a:cs typeface="Times New Roman" panose="02020603050405020304" pitchFamily="18" charset="0"/>
              </a:rPr>
              <a:t>La création d’une base de données en SQL est possible en ligne de commande. Même si les systèmes de gestion de base de données (SGBD) sont souvent utilisés pour créer une base, il convient de connaître la commande à utiliser, qui est très simple</a:t>
            </a:r>
            <a:r>
              <a:rPr lang="fr-FR" sz="2400" dirty="0" smtClean="0">
                <a:latin typeface="Times New Roman" panose="02020603050405020304" pitchFamily="18" charset="0"/>
                <a:cs typeface="Times New Roman" panose="02020603050405020304" pitchFamily="18" charset="0"/>
              </a:rPr>
              <a:t>.</a:t>
            </a:r>
          </a:p>
          <a:p>
            <a:pPr algn="just"/>
            <a:endParaRPr lang="fr-FR" sz="2400" dirty="0">
              <a:latin typeface="Times New Roman" panose="02020603050405020304" pitchFamily="18" charset="0"/>
              <a:cs typeface="Times New Roman" panose="02020603050405020304" pitchFamily="18" charset="0"/>
            </a:endParaRPr>
          </a:p>
          <a:p>
            <a:pPr algn="just"/>
            <a:r>
              <a:rPr lang="fr-FR" sz="2400" dirty="0">
                <a:solidFill>
                  <a:srgbClr val="FF0000"/>
                </a:solidFill>
                <a:latin typeface="Times New Roman" panose="02020603050405020304" pitchFamily="18" charset="0"/>
                <a:cs typeface="Times New Roman" panose="02020603050405020304" pitchFamily="18" charset="0"/>
              </a:rPr>
              <a:t>Syntaxe:</a:t>
            </a:r>
          </a:p>
          <a:p>
            <a:pPr algn="just"/>
            <a:r>
              <a:rPr lang="fr-FR" sz="2400" dirty="0" smtClean="0">
                <a:latin typeface="Times New Roman" panose="02020603050405020304" pitchFamily="18" charset="0"/>
                <a:cs typeface="Times New Roman" panose="02020603050405020304" pitchFamily="18" charset="0"/>
              </a:rPr>
              <a:t>Pour </a:t>
            </a:r>
            <a:r>
              <a:rPr lang="fr-FR" sz="2400" dirty="0">
                <a:latin typeface="Times New Roman" panose="02020603050405020304" pitchFamily="18" charset="0"/>
                <a:cs typeface="Times New Roman" panose="02020603050405020304" pitchFamily="18" charset="0"/>
              </a:rPr>
              <a:t>créer une base de données qui sera appelé « </a:t>
            </a:r>
            <a:r>
              <a:rPr lang="fr-FR" sz="2400" dirty="0" err="1">
                <a:latin typeface="Times New Roman" panose="02020603050405020304" pitchFamily="18" charset="0"/>
                <a:cs typeface="Times New Roman" panose="02020603050405020304" pitchFamily="18" charset="0"/>
              </a:rPr>
              <a:t>ma_base</a:t>
            </a:r>
            <a:r>
              <a:rPr lang="fr-FR" sz="2400" dirty="0">
                <a:latin typeface="Times New Roman" panose="02020603050405020304" pitchFamily="18" charset="0"/>
                <a:cs typeface="Times New Roman" panose="02020603050405020304" pitchFamily="18" charset="0"/>
              </a:rPr>
              <a:t> » il suffit d’utiliser la requête suivante qui est très simple </a:t>
            </a:r>
            <a:r>
              <a:rPr lang="fr-FR" sz="2400" dirty="0" smtClean="0">
                <a:latin typeface="Times New Roman" panose="02020603050405020304" pitchFamily="18" charset="0"/>
                <a:cs typeface="Times New Roman" panose="02020603050405020304" pitchFamily="18" charset="0"/>
              </a:rPr>
              <a:t>:</a:t>
            </a:r>
          </a:p>
          <a:p>
            <a:pPr algn="just"/>
            <a:endParaRPr lang="fr-FR" sz="2400" dirty="0" smtClean="0">
              <a:latin typeface="Times New Roman" panose="02020603050405020304" pitchFamily="18" charset="0"/>
              <a:cs typeface="Times New Roman" panose="02020603050405020304" pitchFamily="18" charset="0"/>
            </a:endParaRPr>
          </a:p>
          <a:p>
            <a:pPr algn="just"/>
            <a:endParaRPr lang="fr-FR" sz="2400" dirty="0">
              <a:latin typeface="Times New Roman" panose="02020603050405020304" pitchFamily="18" charset="0"/>
              <a:cs typeface="Times New Roman" panose="02020603050405020304" pitchFamily="18" charset="0"/>
            </a:endParaRPr>
          </a:p>
        </p:txBody>
      </p:sp>
      <p:pic>
        <p:nvPicPr>
          <p:cNvPr id="7" name="Image 6"/>
          <p:cNvPicPr>
            <a:picLocks noChangeAspect="1"/>
          </p:cNvPicPr>
          <p:nvPr/>
        </p:nvPicPr>
        <p:blipFill>
          <a:blip r:embed="rId2"/>
          <a:stretch>
            <a:fillRect/>
          </a:stretch>
        </p:blipFill>
        <p:spPr>
          <a:xfrm>
            <a:off x="1452210" y="4718660"/>
            <a:ext cx="9621873" cy="660163"/>
          </a:xfrm>
          <a:prstGeom prst="rect">
            <a:avLst/>
          </a:prstGeom>
        </p:spPr>
      </p:pic>
    </p:spTree>
    <p:extLst>
      <p:ext uri="{BB962C8B-B14F-4D97-AF65-F5344CB8AC3E}">
        <p14:creationId xmlns:p14="http://schemas.microsoft.com/office/powerpoint/2010/main" val="2432313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7250654" y="563418"/>
            <a:ext cx="4941346"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p:cNvSpPr txBox="1"/>
          <p:nvPr/>
        </p:nvSpPr>
        <p:spPr>
          <a:xfrm>
            <a:off x="1850206" y="301808"/>
            <a:ext cx="5274689" cy="523220"/>
          </a:xfrm>
          <a:prstGeom prst="rect">
            <a:avLst/>
          </a:prstGeom>
          <a:noFill/>
        </p:spPr>
        <p:txBody>
          <a:bodyPr wrap="square" rtlCol="0">
            <a:spAutoFit/>
          </a:bodyPr>
          <a:lstStyle/>
          <a:p>
            <a:r>
              <a:rPr lang="fr-FR" sz="2800" b="1" dirty="0">
                <a:latin typeface="Times New Roman" panose="02020603050405020304" pitchFamily="18" charset="0"/>
                <a:cs typeface="Times New Roman" panose="02020603050405020304" pitchFamily="18" charset="0"/>
              </a:rPr>
              <a:t>Définition d’une base de données</a:t>
            </a:r>
            <a:endParaRPr lang="fr-FR" sz="2800" b="1" dirty="0">
              <a:latin typeface="Times New Roman" panose="02020603050405020304" pitchFamily="18" charset="0"/>
              <a:cs typeface="Times New Roman" panose="02020603050405020304" pitchFamily="18" charset="0"/>
            </a:endParaRPr>
          </a:p>
        </p:txBody>
      </p:sp>
      <p:sp>
        <p:nvSpPr>
          <p:cNvPr id="14" name="ZoneTexte 13"/>
          <p:cNvSpPr txBox="1"/>
          <p:nvPr/>
        </p:nvSpPr>
        <p:spPr>
          <a:xfrm>
            <a:off x="1145540" y="1441497"/>
            <a:ext cx="10145770" cy="34163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fr-FR" sz="2400" dirty="0">
                <a:latin typeface="Times New Roman" panose="02020603050405020304" pitchFamily="18" charset="0"/>
                <a:cs typeface="Times New Roman" panose="02020603050405020304" pitchFamily="18" charset="0"/>
              </a:rPr>
              <a:t>Base du même nom qui existe déjà:</a:t>
            </a:r>
          </a:p>
          <a:p>
            <a:pPr algn="just"/>
            <a:r>
              <a:rPr lang="fr-FR" sz="2400" dirty="0">
                <a:latin typeface="Times New Roman" panose="02020603050405020304" pitchFamily="18" charset="0"/>
                <a:cs typeface="Times New Roman" panose="02020603050405020304" pitchFamily="18" charset="0"/>
              </a:rPr>
              <a:t>Avec MySQL, si une base de données porte déjà ce nom, la requête retournera une erreur. Pour éviter d’avoir cette erreur, il convient d’utiliser la requête suivante pour MySQL </a:t>
            </a:r>
            <a:r>
              <a:rPr lang="fr-FR" sz="2400" dirty="0" smtClean="0">
                <a:latin typeface="Times New Roman" panose="02020603050405020304" pitchFamily="18" charset="0"/>
                <a:cs typeface="Times New Roman" panose="02020603050405020304" pitchFamily="18" charset="0"/>
              </a:rPr>
              <a:t>:</a:t>
            </a:r>
          </a:p>
          <a:p>
            <a:pPr algn="just"/>
            <a:endParaRPr lang="fr-FR"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fr-FR" sz="2400" dirty="0">
                <a:latin typeface="Times New Roman" panose="02020603050405020304" pitchFamily="18" charset="0"/>
                <a:cs typeface="Times New Roman" panose="02020603050405020304" pitchFamily="18" charset="0"/>
              </a:rPr>
              <a:t>L’option IF NOT EXISTS permet juste de ne pas retourner d’erreur si une base du même nom existe déjà. La base de données ne sera pas écrasée.</a:t>
            </a:r>
            <a:endParaRPr lang="en-US" sz="2400" dirty="0">
              <a:latin typeface="Times New Roman" panose="02020603050405020304" pitchFamily="18" charset="0"/>
              <a:cs typeface="Times New Roman" panose="02020603050405020304" pitchFamily="18" charset="0"/>
            </a:endParaRPr>
          </a:p>
        </p:txBody>
      </p:sp>
      <p:pic>
        <p:nvPicPr>
          <p:cNvPr id="7" name="Image 6"/>
          <p:cNvPicPr>
            <a:picLocks noChangeAspect="1"/>
          </p:cNvPicPr>
          <p:nvPr/>
        </p:nvPicPr>
        <p:blipFill>
          <a:blip r:embed="rId3"/>
          <a:stretch>
            <a:fillRect/>
          </a:stretch>
        </p:blipFill>
        <p:spPr>
          <a:xfrm>
            <a:off x="1566464" y="3149657"/>
            <a:ext cx="9303922" cy="665698"/>
          </a:xfrm>
          <a:prstGeom prst="rect">
            <a:avLst/>
          </a:prstGeom>
        </p:spPr>
      </p:pic>
    </p:spTree>
    <p:extLst>
      <p:ext uri="{BB962C8B-B14F-4D97-AF65-F5344CB8AC3E}">
        <p14:creationId xmlns:p14="http://schemas.microsoft.com/office/powerpoint/2010/main" val="869813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7917628" y="563418"/>
            <a:ext cx="4274372"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p:cNvSpPr txBox="1"/>
          <p:nvPr/>
        </p:nvSpPr>
        <p:spPr>
          <a:xfrm>
            <a:off x="2051268" y="384935"/>
            <a:ext cx="5748026" cy="523220"/>
          </a:xfrm>
          <a:prstGeom prst="rect">
            <a:avLst/>
          </a:prstGeom>
          <a:noFill/>
        </p:spPr>
        <p:txBody>
          <a:bodyPr wrap="square" rtlCol="0">
            <a:spAutoFit/>
          </a:bodyPr>
          <a:lstStyle/>
          <a:p>
            <a:r>
              <a:rPr lang="fr-FR" sz="2800" b="1" dirty="0" smtClean="0">
                <a:latin typeface="Times New Roman" panose="02020603050405020304" pitchFamily="18" charset="0"/>
                <a:cs typeface="Times New Roman" panose="02020603050405020304" pitchFamily="18" charset="0"/>
              </a:rPr>
              <a:t>Suppression d’une base de données</a:t>
            </a:r>
            <a:endParaRPr lang="fr-FR" sz="2800" b="1" dirty="0">
              <a:latin typeface="Times New Roman" panose="02020603050405020304" pitchFamily="18" charset="0"/>
              <a:cs typeface="Times New Roman" panose="02020603050405020304" pitchFamily="18" charset="0"/>
            </a:endParaRPr>
          </a:p>
        </p:txBody>
      </p:sp>
      <p:sp>
        <p:nvSpPr>
          <p:cNvPr id="14" name="ZoneTexte 13"/>
          <p:cNvSpPr txBox="1"/>
          <p:nvPr/>
        </p:nvSpPr>
        <p:spPr>
          <a:xfrm>
            <a:off x="1118740" y="1531389"/>
            <a:ext cx="10145770" cy="350865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fr-FR" sz="2400" dirty="0">
                <a:latin typeface="Times New Roman" panose="02020603050405020304" pitchFamily="18" charset="0"/>
                <a:cs typeface="Times New Roman" panose="02020603050405020304" pitchFamily="18" charset="0"/>
              </a:rPr>
              <a:t>En SQL, la commande DROP DATABASE permet de supprimer totalement une base de données et tout ce qu’elle contient. Cette commande est à utiliser avec beaucoup d’attention car elle permet de supprimer tout ce qui est inclus dans une base: les tables, les données, les index …</a:t>
            </a:r>
          </a:p>
          <a:p>
            <a:pPr algn="just"/>
            <a:r>
              <a:rPr lang="fr-FR" sz="2400" dirty="0">
                <a:latin typeface="Times New Roman" panose="02020603050405020304" pitchFamily="18" charset="0"/>
                <a:cs typeface="Times New Roman" panose="02020603050405020304" pitchFamily="18" charset="0"/>
              </a:rPr>
              <a:t>Syntaxe:</a:t>
            </a:r>
          </a:p>
          <a:p>
            <a:pPr algn="just"/>
            <a:r>
              <a:rPr lang="fr-FR" sz="2400" dirty="0">
                <a:latin typeface="Times New Roman" panose="02020603050405020304" pitchFamily="18" charset="0"/>
                <a:cs typeface="Times New Roman" panose="02020603050405020304" pitchFamily="18" charset="0"/>
              </a:rPr>
              <a:t>Pour supprimer la base de données « </a:t>
            </a:r>
            <a:r>
              <a:rPr lang="fr-FR" sz="2400" dirty="0" err="1">
                <a:latin typeface="Times New Roman" panose="02020603050405020304" pitchFamily="18" charset="0"/>
                <a:cs typeface="Times New Roman" panose="02020603050405020304" pitchFamily="18" charset="0"/>
              </a:rPr>
              <a:t>ma_base</a:t>
            </a:r>
            <a:r>
              <a:rPr lang="fr-FR" sz="2400" dirty="0">
                <a:latin typeface="Times New Roman" panose="02020603050405020304" pitchFamily="18" charset="0"/>
                <a:cs typeface="Times New Roman" panose="02020603050405020304" pitchFamily="18" charset="0"/>
              </a:rPr>
              <a:t> », la requête est la suivante </a:t>
            </a:r>
            <a:r>
              <a:rPr lang="fr-FR" sz="2400" dirty="0" smtClean="0">
                <a:latin typeface="Times New Roman" panose="02020603050405020304" pitchFamily="18" charset="0"/>
                <a:cs typeface="Times New Roman" panose="02020603050405020304" pitchFamily="18" charset="0"/>
              </a:rPr>
              <a:t>:</a:t>
            </a:r>
          </a:p>
          <a:p>
            <a:pPr algn="just"/>
            <a:endParaRPr lang="fr-FR" sz="2400" dirty="0">
              <a:latin typeface="Times New Roman" panose="02020603050405020304" pitchFamily="18" charset="0"/>
              <a:cs typeface="Times New Roman" panose="02020603050405020304" pitchFamily="18" charset="0"/>
            </a:endParaRPr>
          </a:p>
          <a:p>
            <a:pPr algn="just">
              <a:lnSpc>
                <a:spcPct val="150000"/>
              </a:lnSpc>
            </a:pPr>
            <a:endParaRPr lang="fr-FR" b="0" i="0" dirty="0" smtClean="0">
              <a:solidFill>
                <a:srgbClr val="231F20"/>
              </a:solidFill>
              <a:effectLst/>
              <a:latin typeface="Times New Roman" panose="02020603050405020304" pitchFamily="18" charset="0"/>
              <a:cs typeface="Times New Roman" panose="02020603050405020304" pitchFamily="18" charset="0"/>
            </a:endParaRPr>
          </a:p>
          <a:p>
            <a:pPr algn="just">
              <a:lnSpc>
                <a:spcPct val="150000"/>
              </a:lnSpc>
            </a:pPr>
            <a:endParaRPr lang="fr-FR" b="0" i="0" dirty="0" smtClean="0">
              <a:solidFill>
                <a:srgbClr val="231F20"/>
              </a:solidFill>
              <a:effectLst/>
              <a:latin typeface="Times New Roman" panose="02020603050405020304" pitchFamily="18" charset="0"/>
              <a:cs typeface="Times New Roman" panose="02020603050405020304" pitchFamily="18" charset="0"/>
            </a:endParaRPr>
          </a:p>
        </p:txBody>
      </p:sp>
      <p:pic>
        <p:nvPicPr>
          <p:cNvPr id="7" name="Image 6"/>
          <p:cNvPicPr>
            <a:picLocks noChangeAspect="1"/>
          </p:cNvPicPr>
          <p:nvPr/>
        </p:nvPicPr>
        <p:blipFill>
          <a:blip r:embed="rId2"/>
          <a:stretch>
            <a:fillRect/>
          </a:stretch>
        </p:blipFill>
        <p:spPr>
          <a:xfrm>
            <a:off x="1491068" y="4014303"/>
            <a:ext cx="9401113" cy="708303"/>
          </a:xfrm>
          <a:prstGeom prst="rect">
            <a:avLst/>
          </a:prstGeom>
        </p:spPr>
      </p:pic>
    </p:spTree>
    <p:extLst>
      <p:ext uri="{BB962C8B-B14F-4D97-AF65-F5344CB8AC3E}">
        <p14:creationId xmlns:p14="http://schemas.microsoft.com/office/powerpoint/2010/main" val="3820669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5209309" y="563418"/>
            <a:ext cx="6982691"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p:cNvSpPr txBox="1"/>
          <p:nvPr/>
        </p:nvSpPr>
        <p:spPr>
          <a:xfrm>
            <a:off x="1911419" y="384935"/>
            <a:ext cx="4388288" cy="523220"/>
          </a:xfrm>
          <a:prstGeom prst="rect">
            <a:avLst/>
          </a:prstGeom>
          <a:noFill/>
        </p:spPr>
        <p:txBody>
          <a:bodyPr wrap="square" rtlCol="0">
            <a:spAutoFit/>
          </a:bodyPr>
          <a:lstStyle/>
          <a:p>
            <a:r>
              <a:rPr lang="fr-FR" sz="2800" b="1" dirty="0" smtClean="0">
                <a:latin typeface="Times New Roman" panose="02020603050405020304" pitchFamily="18" charset="0"/>
                <a:cs typeface="Times New Roman" panose="02020603050405020304" pitchFamily="18" charset="0"/>
              </a:rPr>
              <a:t>Définition d’objets</a:t>
            </a:r>
            <a:endParaRPr lang="fr-FR" sz="2800" b="1" dirty="0">
              <a:latin typeface="Times New Roman" panose="02020603050405020304" pitchFamily="18" charset="0"/>
              <a:cs typeface="Times New Roman" panose="02020603050405020304" pitchFamily="18" charset="0"/>
            </a:endParaRPr>
          </a:p>
        </p:txBody>
      </p:sp>
      <p:sp>
        <p:nvSpPr>
          <p:cNvPr id="14" name="ZoneTexte 13"/>
          <p:cNvSpPr txBox="1"/>
          <p:nvPr/>
        </p:nvSpPr>
        <p:spPr>
          <a:xfrm>
            <a:off x="1039970" y="1209369"/>
            <a:ext cx="10145770" cy="507831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lnSpc>
                <a:spcPct val="150000"/>
              </a:lnSpc>
            </a:pPr>
            <a:r>
              <a:rPr lang="fr-FR" sz="2400" dirty="0">
                <a:latin typeface="Times New Roman" panose="02020603050405020304" pitchFamily="18" charset="0"/>
                <a:cs typeface="Times New Roman" panose="02020603050405020304" pitchFamily="18" charset="0"/>
              </a:rPr>
              <a:t>La définition de données dans SQL permet la définition des objets manipulés par le SGBD. Les objets : Table, Vue, </a:t>
            </a:r>
            <a:r>
              <a:rPr lang="fr-FR" sz="2400" dirty="0" smtClean="0">
                <a:latin typeface="Times New Roman" panose="02020603050405020304" pitchFamily="18" charset="0"/>
                <a:cs typeface="Times New Roman" panose="02020603050405020304" pitchFamily="18" charset="0"/>
              </a:rPr>
              <a:t>Index</a:t>
            </a:r>
          </a:p>
          <a:p>
            <a:pPr marL="457200" indent="-457200" algn="just">
              <a:lnSpc>
                <a:spcPct val="150000"/>
              </a:lnSpc>
              <a:buAutoNum type="arabicPeriod"/>
            </a:pPr>
            <a:r>
              <a:rPr lang="fr-FR" sz="2400" b="1" dirty="0" smtClean="0">
                <a:solidFill>
                  <a:schemeClr val="accent1">
                    <a:lumMod val="75000"/>
                  </a:schemeClr>
                </a:solidFill>
                <a:latin typeface="Times New Roman" panose="02020603050405020304" pitchFamily="18" charset="0"/>
                <a:cs typeface="Times New Roman" panose="02020603050405020304" pitchFamily="18" charset="0"/>
              </a:rPr>
              <a:t>La Table: </a:t>
            </a:r>
          </a:p>
          <a:p>
            <a:pPr algn="just">
              <a:lnSpc>
                <a:spcPct val="150000"/>
              </a:lnSpc>
            </a:pPr>
            <a:r>
              <a:rPr lang="fr-FR" sz="2400" dirty="0" smtClean="0">
                <a:latin typeface="Times New Roman" panose="02020603050405020304" pitchFamily="18" charset="0"/>
                <a:cs typeface="Times New Roman" panose="02020603050405020304" pitchFamily="18" charset="0"/>
              </a:rPr>
              <a:t>C'est </a:t>
            </a:r>
            <a:r>
              <a:rPr lang="fr-FR" sz="2400" dirty="0">
                <a:latin typeface="Times New Roman" panose="02020603050405020304" pitchFamily="18" charset="0"/>
                <a:cs typeface="Times New Roman" panose="02020603050405020304" pitchFamily="18" charset="0"/>
              </a:rPr>
              <a:t>l'unité de stockage de base. Une table contient les données brutes, organisées en </a:t>
            </a:r>
            <a:r>
              <a:rPr lang="fr-FR" sz="2400" b="1" dirty="0">
                <a:latin typeface="Times New Roman" panose="02020603050405020304" pitchFamily="18" charset="0"/>
                <a:cs typeface="Times New Roman" panose="02020603050405020304" pitchFamily="18" charset="0"/>
              </a:rPr>
              <a:t>colonnes</a:t>
            </a:r>
            <a:r>
              <a:rPr lang="fr-FR" sz="2400" dirty="0">
                <a:latin typeface="Times New Roman" panose="02020603050405020304" pitchFamily="18" charset="0"/>
                <a:cs typeface="Times New Roman" panose="02020603050405020304" pitchFamily="18" charset="0"/>
              </a:rPr>
              <a:t> (les propriétés, comme "Nom" ou "Prix") et en </a:t>
            </a:r>
            <a:r>
              <a:rPr lang="fr-FR" sz="2400" b="1" dirty="0">
                <a:latin typeface="Times New Roman" panose="02020603050405020304" pitchFamily="18" charset="0"/>
                <a:cs typeface="Times New Roman" panose="02020603050405020304" pitchFamily="18" charset="0"/>
              </a:rPr>
              <a:t>lignes</a:t>
            </a:r>
            <a:r>
              <a:rPr lang="fr-FR" sz="2400" dirty="0">
                <a:latin typeface="Times New Roman" panose="02020603050405020304" pitchFamily="18" charset="0"/>
                <a:cs typeface="Times New Roman" panose="02020603050405020304" pitchFamily="18" charset="0"/>
              </a:rPr>
              <a:t> (les enregistrements individuels).</a:t>
            </a:r>
          </a:p>
          <a:p>
            <a:pPr algn="just">
              <a:lnSpc>
                <a:spcPct val="150000"/>
              </a:lnSpc>
            </a:pPr>
            <a:r>
              <a:rPr lang="fr-FR" sz="2400" dirty="0">
                <a:solidFill>
                  <a:srgbClr val="FF0000"/>
                </a:solidFill>
                <a:latin typeface="Times New Roman" panose="02020603050405020304" pitchFamily="18" charset="0"/>
                <a:cs typeface="Times New Roman" panose="02020603050405020304" pitchFamily="18" charset="0"/>
              </a:rPr>
              <a:t>Rôle : </a:t>
            </a:r>
            <a:r>
              <a:rPr lang="fr-FR" sz="2400" dirty="0">
                <a:latin typeface="Times New Roman" panose="02020603050405020304" pitchFamily="18" charset="0"/>
                <a:cs typeface="Times New Roman" panose="02020603050405020304" pitchFamily="18" charset="0"/>
              </a:rPr>
              <a:t>Stocker physiquement l'information sur le disque.</a:t>
            </a:r>
          </a:p>
          <a:p>
            <a:pPr algn="just"/>
            <a:endParaRPr lang="fr-FR" sz="2400" dirty="0">
              <a:latin typeface="Times New Roman" panose="02020603050405020304" pitchFamily="18" charset="0"/>
              <a:cs typeface="Times New Roman" panose="02020603050405020304" pitchFamily="18" charset="0"/>
            </a:endParaRPr>
          </a:p>
          <a:p>
            <a:pPr algn="just">
              <a:lnSpc>
                <a:spcPct val="200000"/>
              </a:lnSpc>
            </a:pPr>
            <a:endParaRPr lang="fr-F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9647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5209309" y="563418"/>
            <a:ext cx="6982691"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p:cNvSpPr txBox="1"/>
          <p:nvPr/>
        </p:nvSpPr>
        <p:spPr>
          <a:xfrm>
            <a:off x="1911419" y="384935"/>
            <a:ext cx="4388288" cy="523220"/>
          </a:xfrm>
          <a:prstGeom prst="rect">
            <a:avLst/>
          </a:prstGeom>
          <a:noFill/>
        </p:spPr>
        <p:txBody>
          <a:bodyPr wrap="square" rtlCol="0">
            <a:spAutoFit/>
          </a:bodyPr>
          <a:lstStyle/>
          <a:p>
            <a:r>
              <a:rPr lang="fr-FR" sz="2800" b="1" dirty="0" smtClean="0">
                <a:latin typeface="Times New Roman" panose="02020603050405020304" pitchFamily="18" charset="0"/>
                <a:cs typeface="Times New Roman" panose="02020603050405020304" pitchFamily="18" charset="0"/>
              </a:rPr>
              <a:t>Définition d’objets</a:t>
            </a:r>
            <a:endParaRPr lang="fr-FR" sz="2800" b="1" dirty="0">
              <a:latin typeface="Times New Roman" panose="02020603050405020304" pitchFamily="18" charset="0"/>
              <a:cs typeface="Times New Roman" panose="02020603050405020304" pitchFamily="18" charset="0"/>
            </a:endParaRPr>
          </a:p>
        </p:txBody>
      </p:sp>
      <p:sp>
        <p:nvSpPr>
          <p:cNvPr id="14" name="ZoneTexte 13"/>
          <p:cNvSpPr txBox="1"/>
          <p:nvPr/>
        </p:nvSpPr>
        <p:spPr>
          <a:xfrm>
            <a:off x="1039970" y="1209369"/>
            <a:ext cx="10145770" cy="507831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457200" indent="-457200" algn="just">
              <a:lnSpc>
                <a:spcPct val="150000"/>
              </a:lnSpc>
              <a:buAutoNum type="arabicPeriod"/>
            </a:pPr>
            <a:r>
              <a:rPr lang="fr-FR" sz="2400" b="1" dirty="0" smtClean="0">
                <a:solidFill>
                  <a:schemeClr val="accent1">
                    <a:lumMod val="75000"/>
                  </a:schemeClr>
                </a:solidFill>
                <a:latin typeface="Times New Roman" panose="02020603050405020304" pitchFamily="18" charset="0"/>
                <a:cs typeface="Times New Roman" panose="02020603050405020304" pitchFamily="18" charset="0"/>
              </a:rPr>
              <a:t>La vue: </a:t>
            </a:r>
          </a:p>
          <a:p>
            <a:pPr algn="just">
              <a:lnSpc>
                <a:spcPct val="150000"/>
              </a:lnSpc>
            </a:pPr>
            <a:r>
              <a:rPr lang="fr-FR" sz="2400" dirty="0">
                <a:latin typeface="Times New Roman" panose="02020603050405020304" pitchFamily="18" charset="0"/>
                <a:cs typeface="Times New Roman" panose="02020603050405020304" pitchFamily="18" charset="0"/>
              </a:rPr>
              <a:t>Une vue est une table virtuelle. </a:t>
            </a:r>
            <a:r>
              <a:rPr lang="fr-FR" sz="2400" dirty="0">
                <a:latin typeface="Times New Roman" panose="02020603050405020304" pitchFamily="18" charset="0"/>
                <a:cs typeface="Times New Roman" panose="02020603050405020304" pitchFamily="18" charset="0"/>
              </a:rPr>
              <a:t>Ce n'est pas une copie des données, mais plutôt une </a:t>
            </a:r>
            <a:r>
              <a:rPr lang="fr-FR" sz="2400" dirty="0" smtClean="0">
                <a:latin typeface="Times New Roman" panose="02020603050405020304" pitchFamily="18" charset="0"/>
                <a:cs typeface="Times New Roman" panose="02020603050405020304" pitchFamily="18" charset="0"/>
              </a:rPr>
              <a:t>« requête enregistrée », </a:t>
            </a:r>
            <a:r>
              <a:rPr lang="fr-FR" sz="2400" dirty="0">
                <a:latin typeface="Times New Roman" panose="02020603050405020304" pitchFamily="18" charset="0"/>
                <a:cs typeface="Times New Roman" panose="02020603050405020304" pitchFamily="18" charset="0"/>
              </a:rPr>
              <a:t>Elle se met à jour automatiquement. Si les données changent dans la table d'origine, la vue affiche instantanément les nouvelles valeurs.</a:t>
            </a:r>
          </a:p>
          <a:p>
            <a:pPr algn="just">
              <a:lnSpc>
                <a:spcPct val="150000"/>
              </a:lnSpc>
            </a:pPr>
            <a:r>
              <a:rPr lang="fr-FR" sz="2400" b="1" dirty="0" smtClean="0">
                <a:solidFill>
                  <a:schemeClr val="accent1">
                    <a:lumMod val="75000"/>
                  </a:schemeClr>
                </a:solidFill>
                <a:latin typeface="Times New Roman" panose="02020603050405020304" pitchFamily="18" charset="0"/>
                <a:cs typeface="Times New Roman" panose="02020603050405020304" pitchFamily="18" charset="0"/>
              </a:rPr>
              <a:t>2.   L’index:</a:t>
            </a:r>
          </a:p>
          <a:p>
            <a:pPr algn="just">
              <a:lnSpc>
                <a:spcPct val="150000"/>
              </a:lnSpc>
            </a:pPr>
            <a:r>
              <a:rPr lang="fr-FR" sz="2400" dirty="0">
                <a:latin typeface="Times New Roman" panose="02020603050405020304" pitchFamily="18" charset="0"/>
                <a:cs typeface="Times New Roman" panose="02020603050405020304" pitchFamily="18" charset="0"/>
              </a:rPr>
              <a:t>L'index fonctionne exactement comme l'index à la fin d'un livre technique. </a:t>
            </a:r>
            <a:r>
              <a:rPr lang="fr-FR" sz="2400" dirty="0">
                <a:latin typeface="Times New Roman" panose="02020603050405020304" pitchFamily="18" charset="0"/>
                <a:cs typeface="Times New Roman" panose="02020603050405020304" pitchFamily="18" charset="0"/>
              </a:rPr>
              <a:t>Au lieu de parcourir toutes les pages (un "Full Table Scan") pour trouver un mot, vous allez à l'index, vous trouvez la page, et vous y allez directement</a:t>
            </a:r>
            <a:r>
              <a:rPr lang="fr-FR" sz="2400" dirty="0" smtClean="0">
                <a:latin typeface="Times New Roman" panose="02020603050405020304" pitchFamily="18" charset="0"/>
                <a:cs typeface="Times New Roman" panose="02020603050405020304" pitchFamily="18" charset="0"/>
              </a:rPr>
              <a:t>.</a:t>
            </a:r>
            <a:endParaRPr lang="fr-F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4991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5282005" y="563418"/>
            <a:ext cx="690999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p:cNvSpPr txBox="1"/>
          <p:nvPr/>
        </p:nvSpPr>
        <p:spPr>
          <a:xfrm>
            <a:off x="1911419" y="384935"/>
            <a:ext cx="4388288" cy="523220"/>
          </a:xfrm>
          <a:prstGeom prst="rect">
            <a:avLst/>
          </a:prstGeom>
          <a:noFill/>
        </p:spPr>
        <p:txBody>
          <a:bodyPr wrap="square" rtlCol="0">
            <a:spAutoFit/>
          </a:bodyPr>
          <a:lstStyle/>
          <a:p>
            <a:r>
              <a:rPr lang="fr-FR" sz="2800" b="1" dirty="0" smtClean="0">
                <a:latin typeface="Times New Roman" panose="02020603050405020304" pitchFamily="18" charset="0"/>
                <a:cs typeface="Times New Roman" panose="02020603050405020304" pitchFamily="18" charset="0"/>
              </a:rPr>
              <a:t>Création d’une table</a:t>
            </a:r>
            <a:endParaRPr lang="fr-FR" sz="2800" b="1" dirty="0">
              <a:latin typeface="Times New Roman" panose="02020603050405020304" pitchFamily="18" charset="0"/>
              <a:cs typeface="Times New Roman" panose="02020603050405020304" pitchFamily="18" charset="0"/>
            </a:endParaRPr>
          </a:p>
        </p:txBody>
      </p:sp>
      <p:sp>
        <p:nvSpPr>
          <p:cNvPr id="7" name="ZoneTexte 6"/>
          <p:cNvSpPr txBox="1"/>
          <p:nvPr/>
        </p:nvSpPr>
        <p:spPr>
          <a:xfrm>
            <a:off x="1072243" y="1424522"/>
            <a:ext cx="10145770" cy="507831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lnSpc>
                <a:spcPct val="150000"/>
              </a:lnSpc>
            </a:pPr>
            <a:r>
              <a:rPr lang="fr-FR" sz="2400" dirty="0">
                <a:latin typeface="Times New Roman" panose="02020603050405020304" pitchFamily="18" charset="0"/>
                <a:cs typeface="Times New Roman" panose="02020603050405020304" pitchFamily="18" charset="0"/>
              </a:rPr>
              <a:t>La création d’une table sert à définir les colonnes et le type de données qui seront contenus dans chacune des colonnes (entier, chaîne de caractères, date, valeur binaire </a:t>
            </a:r>
            <a:r>
              <a:rPr lang="fr-FR" sz="2400" dirty="0" smtClean="0">
                <a:latin typeface="Times New Roman" panose="02020603050405020304" pitchFamily="18" charset="0"/>
                <a:cs typeface="Times New Roman" panose="02020603050405020304" pitchFamily="18" charset="0"/>
              </a:rPr>
              <a:t>…). La </a:t>
            </a:r>
            <a:r>
              <a:rPr lang="fr-FR" sz="2400" dirty="0">
                <a:latin typeface="Times New Roman" panose="02020603050405020304" pitchFamily="18" charset="0"/>
                <a:cs typeface="Times New Roman" panose="02020603050405020304" pitchFamily="18" charset="0"/>
              </a:rPr>
              <a:t>syntaxe générale pour créer une table est la suivante : </a:t>
            </a:r>
            <a:endParaRPr lang="fr-FR" sz="2400" dirty="0" smtClean="0">
              <a:latin typeface="Times New Roman" panose="02020603050405020304" pitchFamily="18" charset="0"/>
              <a:cs typeface="Times New Roman" panose="02020603050405020304" pitchFamily="18" charset="0"/>
            </a:endParaRPr>
          </a:p>
          <a:p>
            <a:pPr algn="just">
              <a:lnSpc>
                <a:spcPct val="150000"/>
              </a:lnSpc>
            </a:pPr>
            <a:endParaRPr lang="fr-FR" sz="2400" dirty="0" smtClean="0">
              <a:latin typeface="Times New Roman" panose="02020603050405020304" pitchFamily="18" charset="0"/>
              <a:cs typeface="Times New Roman" panose="02020603050405020304" pitchFamily="18" charset="0"/>
            </a:endParaRPr>
          </a:p>
          <a:p>
            <a:pPr algn="just">
              <a:lnSpc>
                <a:spcPct val="150000"/>
              </a:lnSpc>
            </a:pPr>
            <a:endParaRPr lang="fr-FR" sz="2400" dirty="0">
              <a:latin typeface="Times New Roman" panose="02020603050405020304" pitchFamily="18" charset="0"/>
              <a:cs typeface="Times New Roman" panose="02020603050405020304" pitchFamily="18" charset="0"/>
            </a:endParaRPr>
          </a:p>
          <a:p>
            <a:pPr algn="just">
              <a:lnSpc>
                <a:spcPct val="150000"/>
              </a:lnSpc>
            </a:pPr>
            <a:endParaRPr lang="fr-FR" sz="2400" dirty="0" smtClean="0">
              <a:latin typeface="Times New Roman" panose="02020603050405020304" pitchFamily="18" charset="0"/>
              <a:cs typeface="Times New Roman" panose="02020603050405020304" pitchFamily="18" charset="0"/>
            </a:endParaRPr>
          </a:p>
          <a:p>
            <a:pPr algn="just">
              <a:lnSpc>
                <a:spcPct val="150000"/>
              </a:lnSpc>
            </a:pPr>
            <a:endParaRPr lang="fr-FR" sz="2400" dirty="0">
              <a:latin typeface="Times New Roman" panose="02020603050405020304" pitchFamily="18" charset="0"/>
              <a:cs typeface="Times New Roman" panose="02020603050405020304" pitchFamily="18" charset="0"/>
            </a:endParaRPr>
          </a:p>
          <a:p>
            <a:pPr algn="just">
              <a:lnSpc>
                <a:spcPct val="150000"/>
              </a:lnSpc>
            </a:pPr>
            <a:endParaRPr lang="fr-FR" sz="2400" dirty="0" smtClean="0">
              <a:latin typeface="Times New Roman" panose="02020603050405020304" pitchFamily="18" charset="0"/>
              <a:cs typeface="Times New Roman" panose="02020603050405020304" pitchFamily="18" charset="0"/>
            </a:endParaRPr>
          </a:p>
          <a:p>
            <a:pPr algn="just">
              <a:lnSpc>
                <a:spcPct val="150000"/>
              </a:lnSpc>
            </a:pPr>
            <a:endParaRPr lang="fr-FR" sz="2400" dirty="0">
              <a:latin typeface="Times New Roman" panose="02020603050405020304" pitchFamily="18" charset="0"/>
              <a:cs typeface="Times New Roman" panose="02020603050405020304" pitchFamily="18" charset="0"/>
            </a:endParaRPr>
          </a:p>
        </p:txBody>
      </p:sp>
      <p:pic>
        <p:nvPicPr>
          <p:cNvPr id="3" name="Image 2"/>
          <p:cNvPicPr>
            <a:picLocks noChangeAspect="1"/>
          </p:cNvPicPr>
          <p:nvPr/>
        </p:nvPicPr>
        <p:blipFill>
          <a:blip r:embed="rId2"/>
          <a:stretch>
            <a:fillRect/>
          </a:stretch>
        </p:blipFill>
        <p:spPr>
          <a:xfrm>
            <a:off x="1431836" y="3434521"/>
            <a:ext cx="9426584" cy="2622034"/>
          </a:xfrm>
          <a:prstGeom prst="rect">
            <a:avLst/>
          </a:prstGeom>
        </p:spPr>
      </p:pic>
    </p:spTree>
    <p:extLst>
      <p:ext uri="{BB962C8B-B14F-4D97-AF65-F5344CB8AC3E}">
        <p14:creationId xmlns:p14="http://schemas.microsoft.com/office/powerpoint/2010/main" val="2750263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5282005" y="563418"/>
            <a:ext cx="690999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p:cNvSpPr txBox="1"/>
          <p:nvPr/>
        </p:nvSpPr>
        <p:spPr>
          <a:xfrm>
            <a:off x="1911419" y="384935"/>
            <a:ext cx="4388288" cy="523220"/>
          </a:xfrm>
          <a:prstGeom prst="rect">
            <a:avLst/>
          </a:prstGeom>
          <a:noFill/>
        </p:spPr>
        <p:txBody>
          <a:bodyPr wrap="square" rtlCol="0">
            <a:spAutoFit/>
          </a:bodyPr>
          <a:lstStyle/>
          <a:p>
            <a:r>
              <a:rPr lang="fr-FR" sz="2800" b="1" dirty="0" smtClean="0">
                <a:latin typeface="Times New Roman" panose="02020603050405020304" pitchFamily="18" charset="0"/>
                <a:cs typeface="Times New Roman" panose="02020603050405020304" pitchFamily="18" charset="0"/>
              </a:rPr>
              <a:t>Création d’une table</a:t>
            </a:r>
            <a:endParaRPr lang="fr-FR" sz="2800" b="1" dirty="0">
              <a:latin typeface="Times New Roman" panose="02020603050405020304" pitchFamily="18" charset="0"/>
              <a:cs typeface="Times New Roman" panose="02020603050405020304" pitchFamily="18" charset="0"/>
            </a:endParaRPr>
          </a:p>
        </p:txBody>
      </p:sp>
      <p:sp>
        <p:nvSpPr>
          <p:cNvPr id="7" name="ZoneTexte 6"/>
          <p:cNvSpPr txBox="1"/>
          <p:nvPr/>
        </p:nvSpPr>
        <p:spPr>
          <a:xfrm>
            <a:off x="1072243" y="1424522"/>
            <a:ext cx="10145770" cy="489364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lnSpc>
                <a:spcPct val="150000"/>
              </a:lnSpc>
            </a:pPr>
            <a:r>
              <a:rPr lang="fr-FR" sz="2400" b="1" dirty="0" smtClean="0">
                <a:solidFill>
                  <a:schemeClr val="accent1">
                    <a:lumMod val="75000"/>
                  </a:schemeClr>
                </a:solidFill>
                <a:latin typeface="Times New Roman" panose="02020603050405020304" pitchFamily="18" charset="0"/>
                <a:cs typeface="Times New Roman" panose="02020603050405020304" pitchFamily="18" charset="0"/>
              </a:rPr>
              <a:t>Remarque :</a:t>
            </a:r>
          </a:p>
          <a:p>
            <a:pPr algn="just">
              <a:lnSpc>
                <a:spcPct val="150000"/>
              </a:lnSpc>
            </a:pPr>
            <a:r>
              <a:rPr lang="fr-FR" sz="2400" dirty="0">
                <a:latin typeface="Times New Roman" panose="02020603050405020304" pitchFamily="18" charset="0"/>
                <a:cs typeface="Times New Roman" panose="02020603050405020304" pitchFamily="18" charset="0"/>
              </a:rPr>
              <a:t>La commande USE est une instruction très simple mais </a:t>
            </a:r>
            <a:r>
              <a:rPr lang="fr-FR" sz="2400" b="1" dirty="0">
                <a:latin typeface="Times New Roman" panose="02020603050405020304" pitchFamily="18" charset="0"/>
                <a:cs typeface="Times New Roman" panose="02020603050405020304" pitchFamily="18" charset="0"/>
              </a:rPr>
              <a:t>indispensable</a:t>
            </a:r>
            <a:r>
              <a:rPr lang="fr-FR" sz="2400" dirty="0">
                <a:latin typeface="Times New Roman" panose="02020603050405020304" pitchFamily="18" charset="0"/>
                <a:cs typeface="Times New Roman" panose="02020603050405020304" pitchFamily="18" charset="0"/>
              </a:rPr>
              <a:t> lorsque vous travaillez avec plusieurs bases de données</a:t>
            </a:r>
            <a:r>
              <a:rPr lang="fr-FR" sz="2400" dirty="0" smtClean="0">
                <a:latin typeface="Times New Roman" panose="02020603050405020304" pitchFamily="18" charset="0"/>
                <a:cs typeface="Times New Roman" panose="02020603050405020304" pitchFamily="18" charset="0"/>
              </a:rPr>
              <a:t>.</a:t>
            </a:r>
          </a:p>
          <a:p>
            <a:pPr algn="ctr">
              <a:lnSpc>
                <a:spcPct val="150000"/>
              </a:lnSpc>
            </a:pPr>
            <a:r>
              <a:rPr lang="fr-FR" sz="2400" b="1" dirty="0">
                <a:latin typeface="Times New Roman" panose="02020603050405020304" pitchFamily="18" charset="0"/>
                <a:cs typeface="Times New Roman" panose="02020603050405020304" pitchFamily="18" charset="0"/>
              </a:rPr>
              <a:t>USE </a:t>
            </a:r>
            <a:r>
              <a:rPr lang="fr-FR" sz="2400" b="1" dirty="0" err="1">
                <a:latin typeface="Times New Roman" panose="02020603050405020304" pitchFamily="18" charset="0"/>
                <a:cs typeface="Times New Roman" panose="02020603050405020304" pitchFamily="18" charset="0"/>
              </a:rPr>
              <a:t>nom_de_votre_base</a:t>
            </a:r>
            <a:r>
              <a:rPr lang="fr-FR" sz="2400" b="1" dirty="0" smtClean="0">
                <a:latin typeface="Times New Roman" panose="02020603050405020304" pitchFamily="18" charset="0"/>
                <a:cs typeface="Times New Roman" panose="02020603050405020304" pitchFamily="18" charset="0"/>
              </a:rPr>
              <a:t>;</a:t>
            </a:r>
            <a:endParaRPr lang="fr-FR" sz="2400" dirty="0" smtClean="0">
              <a:latin typeface="Times New Roman" panose="02020603050405020304" pitchFamily="18" charset="0"/>
              <a:cs typeface="Times New Roman" panose="02020603050405020304" pitchFamily="18" charset="0"/>
            </a:endParaRPr>
          </a:p>
          <a:p>
            <a:pPr>
              <a:lnSpc>
                <a:spcPct val="150000"/>
              </a:lnSpc>
            </a:pPr>
            <a:r>
              <a:rPr lang="fr-FR" sz="2400" dirty="0">
                <a:latin typeface="Times New Roman" panose="02020603050405020304" pitchFamily="18" charset="0"/>
                <a:cs typeface="Times New Roman" panose="02020603050405020304" pitchFamily="18" charset="0"/>
              </a:rPr>
              <a:t>Si vous ne tapez pas USE, le système ne sait pas dans quelle base créer vos tables. Si vous essayez de créer la table </a:t>
            </a:r>
            <a:r>
              <a:rPr lang="fr-FR" sz="2400" dirty="0" err="1">
                <a:latin typeface="Times New Roman" panose="02020603050405020304" pitchFamily="18" charset="0"/>
                <a:cs typeface="Times New Roman" panose="02020603050405020304" pitchFamily="18" charset="0"/>
              </a:rPr>
              <a:t>etudiants</a:t>
            </a:r>
            <a:r>
              <a:rPr lang="fr-FR" sz="2400" dirty="0">
                <a:latin typeface="Times New Roman" panose="02020603050405020304" pitchFamily="18" charset="0"/>
                <a:cs typeface="Times New Roman" panose="02020603050405020304" pitchFamily="18" charset="0"/>
              </a:rPr>
              <a:t> sans avoir sélectionné de base, vous recevrez souvent cette erreur :</a:t>
            </a:r>
          </a:p>
          <a:p>
            <a:pPr>
              <a:lnSpc>
                <a:spcPct val="150000"/>
              </a:lnSpc>
            </a:pPr>
            <a:r>
              <a:rPr lang="fr-FR" sz="2400" b="1" i="1" dirty="0" err="1">
                <a:solidFill>
                  <a:srgbClr val="FF0000"/>
                </a:solidFill>
                <a:latin typeface="Times New Roman" panose="02020603050405020304" pitchFamily="18" charset="0"/>
                <a:cs typeface="Times New Roman" panose="02020603050405020304" pitchFamily="18" charset="0"/>
              </a:rPr>
              <a:t>Error</a:t>
            </a:r>
            <a:r>
              <a:rPr lang="fr-FR" sz="2400" i="1" dirty="0">
                <a:latin typeface="Times New Roman" panose="02020603050405020304" pitchFamily="18" charset="0"/>
                <a:cs typeface="Times New Roman" panose="02020603050405020304" pitchFamily="18" charset="0"/>
              </a:rPr>
              <a:t>: No </a:t>
            </a:r>
            <a:r>
              <a:rPr lang="fr-FR" sz="2400" i="1" dirty="0" err="1">
                <a:latin typeface="Times New Roman" panose="02020603050405020304" pitchFamily="18" charset="0"/>
                <a:cs typeface="Times New Roman" panose="02020603050405020304" pitchFamily="18" charset="0"/>
              </a:rPr>
              <a:t>database</a:t>
            </a:r>
            <a:r>
              <a:rPr lang="fr-FR" sz="2400" i="1" dirty="0">
                <a:latin typeface="Times New Roman" panose="02020603050405020304" pitchFamily="18" charset="0"/>
                <a:cs typeface="Times New Roman" panose="02020603050405020304" pitchFamily="18" charset="0"/>
              </a:rPr>
              <a:t> </a:t>
            </a:r>
            <a:r>
              <a:rPr lang="fr-FR" sz="2400" i="1" dirty="0" err="1">
                <a:latin typeface="Times New Roman" panose="02020603050405020304" pitchFamily="18" charset="0"/>
                <a:cs typeface="Times New Roman" panose="02020603050405020304" pitchFamily="18" charset="0"/>
              </a:rPr>
              <a:t>selected</a:t>
            </a:r>
            <a:r>
              <a:rPr lang="fr-FR" sz="2400" dirty="0">
                <a:latin typeface="Times New Roman" panose="02020603050405020304" pitchFamily="18" charset="0"/>
                <a:cs typeface="Times New Roman" panose="02020603050405020304" pitchFamily="18" charset="0"/>
              </a:rPr>
              <a:t> (Erreur : Aucune base de données sélectionnée)</a:t>
            </a:r>
          </a:p>
          <a:p>
            <a:endParaRPr lang="fr-FR" sz="2400" dirty="0"/>
          </a:p>
        </p:txBody>
      </p:sp>
    </p:spTree>
    <p:extLst>
      <p:ext uri="{BB962C8B-B14F-4D97-AF65-F5344CB8AC3E}">
        <p14:creationId xmlns:p14="http://schemas.microsoft.com/office/powerpoint/2010/main" val="1069301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5282005" y="563418"/>
            <a:ext cx="690999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p:cNvSpPr txBox="1"/>
          <p:nvPr/>
        </p:nvSpPr>
        <p:spPr>
          <a:xfrm>
            <a:off x="1911419" y="384935"/>
            <a:ext cx="4388288" cy="523220"/>
          </a:xfrm>
          <a:prstGeom prst="rect">
            <a:avLst/>
          </a:prstGeom>
          <a:noFill/>
        </p:spPr>
        <p:txBody>
          <a:bodyPr wrap="square" rtlCol="0">
            <a:spAutoFit/>
          </a:bodyPr>
          <a:lstStyle/>
          <a:p>
            <a:r>
              <a:rPr lang="fr-FR" sz="2800" b="1" dirty="0" smtClean="0">
                <a:latin typeface="Times New Roman" panose="02020603050405020304" pitchFamily="18" charset="0"/>
                <a:cs typeface="Times New Roman" panose="02020603050405020304" pitchFamily="18" charset="0"/>
              </a:rPr>
              <a:t>Création d’une table</a:t>
            </a:r>
            <a:endParaRPr lang="fr-FR" sz="2800" b="1" dirty="0">
              <a:latin typeface="Times New Roman" panose="02020603050405020304" pitchFamily="18" charset="0"/>
              <a:cs typeface="Times New Roman" panose="02020603050405020304" pitchFamily="18" charset="0"/>
            </a:endParaRPr>
          </a:p>
        </p:txBody>
      </p:sp>
      <p:sp>
        <p:nvSpPr>
          <p:cNvPr id="7" name="ZoneTexte 6"/>
          <p:cNvSpPr txBox="1"/>
          <p:nvPr/>
        </p:nvSpPr>
        <p:spPr>
          <a:xfrm>
            <a:off x="1366671" y="1403007"/>
            <a:ext cx="10145770" cy="452431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lnSpc>
                <a:spcPct val="150000"/>
              </a:lnSpc>
            </a:pPr>
            <a:r>
              <a:rPr lang="fr-FR" sz="2400" b="1" dirty="0">
                <a:solidFill>
                  <a:schemeClr val="accent1">
                    <a:lumMod val="75000"/>
                  </a:schemeClr>
                </a:solidFill>
                <a:latin typeface="Times New Roman" panose="02020603050405020304" pitchFamily="18" charset="0"/>
                <a:cs typeface="Times New Roman" panose="02020603050405020304" pitchFamily="18" charset="0"/>
              </a:rPr>
              <a:t>Types</a:t>
            </a:r>
            <a:r>
              <a:rPr lang="fr-FR" sz="2400" dirty="0">
                <a:latin typeface="Times New Roman" panose="02020603050405020304" pitchFamily="18" charset="0"/>
                <a:cs typeface="Times New Roman" panose="02020603050405020304" pitchFamily="18" charset="0"/>
              </a:rPr>
              <a:t> : indique le type de données de la l’attribut (colonne) </a:t>
            </a:r>
            <a:endParaRPr lang="fr-FR" sz="2400" dirty="0" smtClean="0">
              <a:latin typeface="Times New Roman" panose="02020603050405020304" pitchFamily="18" charset="0"/>
              <a:cs typeface="Times New Roman" panose="02020603050405020304" pitchFamily="18" charset="0"/>
            </a:endParaRPr>
          </a:p>
          <a:p>
            <a:pPr algn="just">
              <a:lnSpc>
                <a:spcPct val="150000"/>
              </a:lnSpc>
            </a:pPr>
            <a:r>
              <a:rPr lang="fr-FR" sz="2400" b="1" dirty="0" smtClean="0">
                <a:solidFill>
                  <a:schemeClr val="accent1">
                    <a:lumMod val="75000"/>
                  </a:schemeClr>
                </a:solidFill>
                <a:latin typeface="Times New Roman" panose="02020603050405020304" pitchFamily="18" charset="0"/>
                <a:cs typeface="Times New Roman" panose="02020603050405020304" pitchFamily="18" charset="0"/>
              </a:rPr>
              <a:t>Taille</a:t>
            </a: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 indique la valeur maximale de la longueur de l’attribut </a:t>
            </a:r>
            <a:endParaRPr lang="fr-FR" sz="2400" dirty="0" smtClean="0">
              <a:latin typeface="Times New Roman" panose="02020603050405020304" pitchFamily="18" charset="0"/>
              <a:cs typeface="Times New Roman" panose="02020603050405020304" pitchFamily="18" charset="0"/>
            </a:endParaRPr>
          </a:p>
          <a:p>
            <a:pPr marL="1257300" lvl="2" indent="-324000" algn="just">
              <a:lnSpc>
                <a:spcPct val="150000"/>
              </a:lnSpc>
              <a:buFont typeface="Arial" panose="020B0604020202020204" pitchFamily="34" charset="0"/>
              <a:buChar char="•"/>
            </a:pPr>
            <a:r>
              <a:rPr lang="fr-FR" sz="2400" dirty="0" smtClean="0">
                <a:latin typeface="Times New Roman" panose="02020603050405020304" pitchFamily="18" charset="0"/>
                <a:cs typeface="Times New Roman" panose="02020603050405020304" pitchFamily="18" charset="0"/>
              </a:rPr>
              <a:t>INTEGER </a:t>
            </a:r>
            <a:r>
              <a:rPr lang="fr-FR" sz="2400" dirty="0">
                <a:latin typeface="Times New Roman" panose="02020603050405020304" pitchFamily="18" charset="0"/>
                <a:cs typeface="Times New Roman" panose="02020603050405020304" pitchFamily="18" charset="0"/>
              </a:rPr>
              <a:t>: Entier. </a:t>
            </a:r>
          </a:p>
          <a:p>
            <a:pPr marL="1257300" lvl="2" indent="-324000" algn="just">
              <a:lnSpc>
                <a:spcPct val="150000"/>
              </a:lnSpc>
              <a:buFont typeface="Arial" panose="020B0604020202020204" pitchFamily="34" charset="0"/>
              <a:buChar char="•"/>
            </a:pPr>
            <a:r>
              <a:rPr lang="fr-FR" sz="2400" dirty="0" smtClean="0">
                <a:latin typeface="Times New Roman" panose="02020603050405020304" pitchFamily="18" charset="0"/>
                <a:cs typeface="Times New Roman" panose="02020603050405020304" pitchFamily="18" charset="0"/>
              </a:rPr>
              <a:t>VARCHAR(n</a:t>
            </a:r>
            <a:r>
              <a:rPr lang="fr-FR" sz="2400" dirty="0">
                <a:latin typeface="Times New Roman" panose="02020603050405020304" pitchFamily="18" charset="0"/>
                <a:cs typeface="Times New Roman" panose="02020603050405020304" pitchFamily="18" charset="0"/>
              </a:rPr>
              <a:t>) : Chaine de longueur maximale n. </a:t>
            </a:r>
          </a:p>
          <a:p>
            <a:pPr marL="1257300" lvl="2" indent="-324000" algn="just">
              <a:lnSpc>
                <a:spcPct val="150000"/>
              </a:lnSpc>
              <a:buFont typeface="Arial" panose="020B0604020202020204" pitchFamily="34" charset="0"/>
              <a:buChar char="•"/>
            </a:pPr>
            <a:r>
              <a:rPr lang="fr-FR" sz="2400" dirty="0" smtClean="0">
                <a:latin typeface="Times New Roman" panose="02020603050405020304" pitchFamily="18" charset="0"/>
                <a:cs typeface="Times New Roman" panose="02020603050405020304" pitchFamily="18" charset="0"/>
              </a:rPr>
              <a:t>DECIMAL(</a:t>
            </a:r>
            <a:r>
              <a:rPr lang="fr-FR" sz="2400" dirty="0" err="1" smtClean="0">
                <a:latin typeface="Times New Roman" panose="02020603050405020304" pitchFamily="18" charset="0"/>
                <a:cs typeface="Times New Roman" panose="02020603050405020304" pitchFamily="18" charset="0"/>
              </a:rPr>
              <a:t>m,n</a:t>
            </a:r>
            <a:r>
              <a:rPr lang="fr-FR" sz="2400" dirty="0">
                <a:latin typeface="Times New Roman" panose="02020603050405020304" pitchFamily="18" charset="0"/>
                <a:cs typeface="Times New Roman" panose="02020603050405020304" pitchFamily="18" charset="0"/>
              </a:rPr>
              <a:t>) : Numérique sur m chiffres avec n décimales. </a:t>
            </a:r>
          </a:p>
          <a:p>
            <a:pPr marL="1257300" lvl="2" indent="-324000" algn="just">
              <a:lnSpc>
                <a:spcPct val="150000"/>
              </a:lnSpc>
              <a:buFont typeface="Arial" panose="020B0604020202020204" pitchFamily="34" charset="0"/>
              <a:buChar char="•"/>
            </a:pPr>
            <a:r>
              <a:rPr lang="fr-FR" sz="2400" dirty="0" smtClean="0">
                <a:latin typeface="Times New Roman" panose="02020603050405020304" pitchFamily="18" charset="0"/>
                <a:cs typeface="Times New Roman" panose="02020603050405020304" pitchFamily="18" charset="0"/>
              </a:rPr>
              <a:t>DATE </a:t>
            </a:r>
            <a:r>
              <a:rPr lang="fr-FR" sz="2400" dirty="0">
                <a:latin typeface="Times New Roman" panose="02020603050405020304" pitchFamily="18" charset="0"/>
                <a:cs typeface="Times New Roman" panose="02020603050405020304" pitchFamily="18" charset="0"/>
              </a:rPr>
              <a:t>: Date avec le jour, le mois, l'année. </a:t>
            </a:r>
          </a:p>
          <a:p>
            <a:pPr marL="1257300" lvl="2" indent="-324000" algn="just">
              <a:lnSpc>
                <a:spcPct val="150000"/>
              </a:lnSpc>
              <a:buFont typeface="Arial" panose="020B0604020202020204" pitchFamily="34" charset="0"/>
              <a:buChar char="•"/>
            </a:pPr>
            <a:r>
              <a:rPr lang="fr-FR" sz="2400" dirty="0" smtClean="0">
                <a:latin typeface="Times New Roman" panose="02020603050405020304" pitchFamily="18" charset="0"/>
                <a:cs typeface="Times New Roman" panose="02020603050405020304" pitchFamily="18" charset="0"/>
              </a:rPr>
              <a:t>TIME </a:t>
            </a:r>
            <a:r>
              <a:rPr lang="fr-FR" sz="2400" dirty="0">
                <a:latin typeface="Times New Roman" panose="02020603050405020304" pitchFamily="18" charset="0"/>
                <a:cs typeface="Times New Roman" panose="02020603050405020304" pitchFamily="18" charset="0"/>
              </a:rPr>
              <a:t>: Horaire avec heures, minutes, secondes. </a:t>
            </a:r>
          </a:p>
          <a:p>
            <a:pPr marL="1257300" lvl="2" indent="-324000" algn="just">
              <a:lnSpc>
                <a:spcPct val="150000"/>
              </a:lnSpc>
              <a:buFont typeface="Arial" panose="020B0604020202020204" pitchFamily="34" charset="0"/>
              <a:buChar char="•"/>
            </a:pPr>
            <a:r>
              <a:rPr lang="fr-FR" sz="2400" dirty="0" smtClean="0">
                <a:latin typeface="Times New Roman" panose="02020603050405020304" pitchFamily="18" charset="0"/>
                <a:cs typeface="Times New Roman" panose="02020603050405020304" pitchFamily="18" charset="0"/>
              </a:rPr>
              <a:t>TEXT </a:t>
            </a:r>
            <a:r>
              <a:rPr lang="fr-FR" sz="2400" dirty="0">
                <a:latin typeface="Times New Roman" panose="02020603050405020304" pitchFamily="18" charset="0"/>
                <a:cs typeface="Times New Roman" panose="02020603050405020304" pitchFamily="18" charset="0"/>
              </a:rPr>
              <a:t>: Texte de longueur </a:t>
            </a:r>
            <a:r>
              <a:rPr lang="fr-FR" sz="2400" dirty="0" smtClean="0">
                <a:latin typeface="Times New Roman" panose="02020603050405020304" pitchFamily="18" charset="0"/>
                <a:cs typeface="Times New Roman" panose="02020603050405020304" pitchFamily="18" charset="0"/>
              </a:rPr>
              <a:t>quelconque.</a:t>
            </a:r>
          </a:p>
        </p:txBody>
      </p:sp>
    </p:spTree>
    <p:extLst>
      <p:ext uri="{BB962C8B-B14F-4D97-AF65-F5344CB8AC3E}">
        <p14:creationId xmlns:p14="http://schemas.microsoft.com/office/powerpoint/2010/main" val="3888163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5282005" y="563418"/>
            <a:ext cx="690999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p:cNvSpPr txBox="1"/>
          <p:nvPr/>
        </p:nvSpPr>
        <p:spPr>
          <a:xfrm>
            <a:off x="1911419" y="384935"/>
            <a:ext cx="4388288" cy="523220"/>
          </a:xfrm>
          <a:prstGeom prst="rect">
            <a:avLst/>
          </a:prstGeom>
          <a:noFill/>
        </p:spPr>
        <p:txBody>
          <a:bodyPr wrap="square" rtlCol="0">
            <a:spAutoFit/>
          </a:bodyPr>
          <a:lstStyle/>
          <a:p>
            <a:r>
              <a:rPr lang="fr-FR" sz="2800" b="1" dirty="0" smtClean="0">
                <a:latin typeface="Times New Roman" panose="02020603050405020304" pitchFamily="18" charset="0"/>
                <a:cs typeface="Times New Roman" panose="02020603050405020304" pitchFamily="18" charset="0"/>
              </a:rPr>
              <a:t>Création d’une table</a:t>
            </a:r>
            <a:endParaRPr lang="fr-FR" sz="2800" b="1" dirty="0">
              <a:latin typeface="Times New Roman" panose="02020603050405020304" pitchFamily="18" charset="0"/>
              <a:cs typeface="Times New Roman" panose="02020603050405020304" pitchFamily="18" charset="0"/>
            </a:endParaRPr>
          </a:p>
        </p:txBody>
      </p:sp>
      <p:sp>
        <p:nvSpPr>
          <p:cNvPr id="7" name="ZoneTexte 6"/>
          <p:cNvSpPr txBox="1"/>
          <p:nvPr/>
        </p:nvSpPr>
        <p:spPr>
          <a:xfrm>
            <a:off x="1366671" y="1403007"/>
            <a:ext cx="10145770" cy="452431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lnSpc>
                <a:spcPct val="150000"/>
              </a:lnSpc>
            </a:pPr>
            <a:r>
              <a:rPr lang="fr-FR" sz="2400" b="1" dirty="0" smtClean="0">
                <a:latin typeface="Times New Roman" panose="02020603050405020304" pitchFamily="18" charset="0"/>
                <a:cs typeface="Times New Roman" panose="02020603050405020304" pitchFamily="18" charset="0"/>
              </a:rPr>
              <a:t>Produit </a:t>
            </a:r>
            <a:r>
              <a:rPr lang="fr-FR" sz="2400" b="1" dirty="0">
                <a:latin typeface="Times New Roman" panose="02020603050405020304" pitchFamily="18" charset="0"/>
                <a:cs typeface="Times New Roman" panose="02020603050405020304" pitchFamily="18" charset="0"/>
              </a:rPr>
              <a:t>(</a:t>
            </a:r>
            <a:r>
              <a:rPr lang="fr-FR" sz="2400" b="1" u="sng" dirty="0" err="1">
                <a:latin typeface="Times New Roman" panose="02020603050405020304" pitchFamily="18" charset="0"/>
                <a:cs typeface="Times New Roman" panose="02020603050405020304" pitchFamily="18" charset="0"/>
              </a:rPr>
              <a:t>Numprod</a:t>
            </a:r>
            <a:r>
              <a:rPr lang="fr-FR" sz="2400" b="1" dirty="0">
                <a:latin typeface="Times New Roman" panose="02020603050405020304" pitchFamily="18" charset="0"/>
                <a:cs typeface="Times New Roman" panose="02020603050405020304" pitchFamily="18" charset="0"/>
              </a:rPr>
              <a:t>, </a:t>
            </a:r>
            <a:r>
              <a:rPr lang="fr-FR" sz="2400" b="1" dirty="0" err="1">
                <a:latin typeface="Times New Roman" panose="02020603050405020304" pitchFamily="18" charset="0"/>
                <a:cs typeface="Times New Roman" panose="02020603050405020304" pitchFamily="18" charset="0"/>
              </a:rPr>
              <a:t>Desprod</a:t>
            </a:r>
            <a:r>
              <a:rPr lang="fr-FR" sz="2400" b="1" dirty="0">
                <a:latin typeface="Times New Roman" panose="02020603050405020304" pitchFamily="18" charset="0"/>
                <a:cs typeface="Times New Roman" panose="02020603050405020304" pitchFamily="18" charset="0"/>
              </a:rPr>
              <a:t>, Couleur, Poids, </a:t>
            </a:r>
            <a:r>
              <a:rPr lang="fr-FR" sz="2400" b="1" dirty="0" err="1">
                <a:latin typeface="Times New Roman" panose="02020603050405020304" pitchFamily="18" charset="0"/>
                <a:cs typeface="Times New Roman" panose="02020603050405020304" pitchFamily="18" charset="0"/>
              </a:rPr>
              <a:t>Qte_stk</a:t>
            </a:r>
            <a:r>
              <a:rPr lang="fr-FR" sz="2400" b="1" dirty="0">
                <a:latin typeface="Times New Roman" panose="02020603050405020304" pitchFamily="18" charset="0"/>
                <a:cs typeface="Times New Roman" panose="02020603050405020304" pitchFamily="18" charset="0"/>
              </a:rPr>
              <a:t>, </a:t>
            </a:r>
            <a:r>
              <a:rPr lang="fr-FR" sz="2400" b="1" dirty="0" err="1">
                <a:latin typeface="Times New Roman" panose="02020603050405020304" pitchFamily="18" charset="0"/>
                <a:cs typeface="Times New Roman" panose="02020603050405020304" pitchFamily="18" charset="0"/>
              </a:rPr>
              <a:t>qte_seuil</a:t>
            </a:r>
            <a:r>
              <a:rPr lang="fr-FR" sz="2400" b="1" dirty="0">
                <a:latin typeface="Times New Roman" panose="02020603050405020304" pitchFamily="18" charset="0"/>
                <a:cs typeface="Times New Roman" panose="02020603050405020304" pitchFamily="18" charset="0"/>
              </a:rPr>
              <a:t>, Prix) </a:t>
            </a:r>
            <a:endParaRPr lang="fr-FR" sz="2400" b="1" dirty="0" smtClean="0">
              <a:latin typeface="Times New Roman" panose="02020603050405020304" pitchFamily="18" charset="0"/>
              <a:cs typeface="Times New Roman" panose="02020603050405020304" pitchFamily="18" charset="0"/>
            </a:endParaRPr>
          </a:p>
          <a:p>
            <a:pPr algn="just">
              <a:lnSpc>
                <a:spcPct val="150000"/>
              </a:lnSpc>
            </a:pPr>
            <a:r>
              <a:rPr lang="fr-FR" sz="2400" b="1" dirty="0" err="1" smtClean="0">
                <a:solidFill>
                  <a:schemeClr val="accent1">
                    <a:lumMod val="75000"/>
                  </a:schemeClr>
                </a:solidFill>
                <a:latin typeface="Times New Roman" panose="02020603050405020304" pitchFamily="18" charset="0"/>
                <a:cs typeface="Times New Roman" panose="02020603050405020304" pitchFamily="18" charset="0"/>
              </a:rPr>
              <a:t>Numprod</a:t>
            </a:r>
            <a:r>
              <a:rPr lang="fr-FR" sz="2400" dirty="0" smtClean="0">
                <a:solidFill>
                  <a:schemeClr val="accent1">
                    <a:lumMod val="75000"/>
                  </a:schemeClr>
                </a:solidFill>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 de type numérique de taille </a:t>
            </a:r>
            <a:r>
              <a:rPr lang="fr-FR" sz="2400" dirty="0" smtClean="0">
                <a:latin typeface="Times New Roman" panose="02020603050405020304" pitchFamily="18" charset="0"/>
                <a:cs typeface="Times New Roman" panose="02020603050405020304" pitchFamily="18" charset="0"/>
              </a:rPr>
              <a:t>6</a:t>
            </a:r>
          </a:p>
          <a:p>
            <a:pPr algn="just">
              <a:lnSpc>
                <a:spcPct val="150000"/>
              </a:lnSpc>
            </a:pPr>
            <a:r>
              <a:rPr lang="fr-FR" sz="2400" b="1" dirty="0" err="1">
                <a:solidFill>
                  <a:schemeClr val="accent1">
                    <a:lumMod val="75000"/>
                  </a:schemeClr>
                </a:solidFill>
                <a:latin typeface="Times New Roman" panose="02020603050405020304" pitchFamily="18" charset="0"/>
                <a:cs typeface="Times New Roman" panose="02020603050405020304" pitchFamily="18" charset="0"/>
              </a:rPr>
              <a:t>Desprod</a:t>
            </a: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 de type caractère variable de taille </a:t>
            </a:r>
            <a:r>
              <a:rPr lang="fr-FR" sz="2400" dirty="0" smtClean="0">
                <a:latin typeface="Times New Roman" panose="02020603050405020304" pitchFamily="18" charset="0"/>
                <a:cs typeface="Times New Roman" panose="02020603050405020304" pitchFamily="18" charset="0"/>
              </a:rPr>
              <a:t>15</a:t>
            </a:r>
          </a:p>
          <a:p>
            <a:pPr algn="just">
              <a:lnSpc>
                <a:spcPct val="150000"/>
              </a:lnSpc>
            </a:pPr>
            <a:r>
              <a:rPr lang="fr-FR" sz="2400" b="1" dirty="0">
                <a:solidFill>
                  <a:schemeClr val="accent1">
                    <a:lumMod val="75000"/>
                  </a:schemeClr>
                </a:solidFill>
                <a:latin typeface="Times New Roman" panose="02020603050405020304" pitchFamily="18" charset="0"/>
                <a:cs typeface="Times New Roman" panose="02020603050405020304" pitchFamily="18" charset="0"/>
              </a:rPr>
              <a:t>Couleur</a:t>
            </a: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 de type caractère sur une </a:t>
            </a:r>
            <a:r>
              <a:rPr lang="fr-FR" sz="2400" dirty="0" smtClean="0">
                <a:latin typeface="Times New Roman" panose="02020603050405020304" pitchFamily="18" charset="0"/>
                <a:cs typeface="Times New Roman" panose="02020603050405020304" pitchFamily="18" charset="0"/>
              </a:rPr>
              <a:t>position</a:t>
            </a:r>
          </a:p>
          <a:p>
            <a:pPr algn="just">
              <a:lnSpc>
                <a:spcPct val="150000"/>
              </a:lnSpc>
            </a:pPr>
            <a:r>
              <a:rPr lang="fr-FR" sz="2400" b="1" dirty="0">
                <a:solidFill>
                  <a:schemeClr val="accent1">
                    <a:lumMod val="75000"/>
                  </a:schemeClr>
                </a:solidFill>
                <a:latin typeface="Times New Roman" panose="02020603050405020304" pitchFamily="18" charset="0"/>
                <a:cs typeface="Times New Roman" panose="02020603050405020304" pitchFamily="18" charset="0"/>
              </a:rPr>
              <a:t>Poids</a:t>
            </a: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 numérique sur huit positions dont trois chiffre après la </a:t>
            </a:r>
            <a:r>
              <a:rPr lang="fr-FR" sz="2400" dirty="0" smtClean="0">
                <a:latin typeface="Times New Roman" panose="02020603050405020304" pitchFamily="18" charset="0"/>
                <a:cs typeface="Times New Roman" panose="02020603050405020304" pitchFamily="18" charset="0"/>
              </a:rPr>
              <a:t>virgule</a:t>
            </a:r>
          </a:p>
          <a:p>
            <a:pPr algn="just">
              <a:lnSpc>
                <a:spcPct val="150000"/>
              </a:lnSpc>
            </a:pPr>
            <a:r>
              <a:rPr lang="fr-FR" sz="2400" b="1" dirty="0" err="1">
                <a:solidFill>
                  <a:schemeClr val="accent1">
                    <a:lumMod val="75000"/>
                  </a:schemeClr>
                </a:solidFill>
                <a:latin typeface="Times New Roman" panose="02020603050405020304" pitchFamily="18" charset="0"/>
                <a:cs typeface="Times New Roman" panose="02020603050405020304" pitchFamily="18" charset="0"/>
              </a:rPr>
              <a:t>Qte_stk</a:t>
            </a: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 numérique sur sept positions dont trois chiffres après la </a:t>
            </a:r>
            <a:r>
              <a:rPr lang="fr-FR" sz="2400" dirty="0" smtClean="0">
                <a:latin typeface="Times New Roman" panose="02020603050405020304" pitchFamily="18" charset="0"/>
                <a:cs typeface="Times New Roman" panose="02020603050405020304" pitchFamily="18" charset="0"/>
              </a:rPr>
              <a:t>virgule </a:t>
            </a:r>
            <a:r>
              <a:rPr lang="fr-FR" sz="2400" b="1" dirty="0" err="1">
                <a:solidFill>
                  <a:schemeClr val="accent1">
                    <a:lumMod val="75000"/>
                  </a:schemeClr>
                </a:solidFill>
                <a:latin typeface="Times New Roman" panose="02020603050405020304" pitchFamily="18" charset="0"/>
                <a:cs typeface="Times New Roman" panose="02020603050405020304" pitchFamily="18" charset="0"/>
              </a:rPr>
              <a:t>Qte_seuil</a:t>
            </a:r>
            <a:r>
              <a:rPr lang="fr-FR" sz="2400" dirty="0">
                <a:latin typeface="Times New Roman" panose="02020603050405020304" pitchFamily="18" charset="0"/>
                <a:cs typeface="Times New Roman" panose="02020603050405020304" pitchFamily="18" charset="0"/>
              </a:rPr>
              <a:t> : </a:t>
            </a:r>
            <a:r>
              <a:rPr lang="fr-FR" sz="2400" dirty="0" smtClean="0">
                <a:latin typeface="Times New Roman" panose="02020603050405020304" pitchFamily="18" charset="0"/>
                <a:cs typeface="Times New Roman" panose="02020603050405020304" pitchFamily="18" charset="0"/>
              </a:rPr>
              <a:t>numérique </a:t>
            </a:r>
            <a:r>
              <a:rPr lang="fr-FR" sz="2400" dirty="0">
                <a:latin typeface="Times New Roman" panose="02020603050405020304" pitchFamily="18" charset="0"/>
                <a:cs typeface="Times New Roman" panose="02020603050405020304" pitchFamily="18" charset="0"/>
              </a:rPr>
              <a:t>sur sept positions dont trois chiffres après la </a:t>
            </a:r>
            <a:r>
              <a:rPr lang="fr-FR" sz="2400" dirty="0" smtClean="0">
                <a:latin typeface="Times New Roman" panose="02020603050405020304" pitchFamily="18" charset="0"/>
                <a:cs typeface="Times New Roman" panose="02020603050405020304" pitchFamily="18" charset="0"/>
              </a:rPr>
              <a:t>virgule</a:t>
            </a:r>
          </a:p>
          <a:p>
            <a:pPr algn="just">
              <a:lnSpc>
                <a:spcPct val="150000"/>
              </a:lnSpc>
            </a:pPr>
            <a:r>
              <a:rPr lang="fr-FR" sz="2400" b="1" dirty="0">
                <a:solidFill>
                  <a:schemeClr val="accent1">
                    <a:lumMod val="75000"/>
                  </a:schemeClr>
                </a:solidFill>
                <a:latin typeface="Times New Roman" panose="02020603050405020304" pitchFamily="18" charset="0"/>
                <a:cs typeface="Times New Roman" panose="02020603050405020304" pitchFamily="18" charset="0"/>
              </a:rPr>
              <a:t>Prix</a:t>
            </a: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 numérique sur dix positions dont sept chiffres avant la virgule. </a:t>
            </a:r>
            <a:endParaRPr lang="fr-FR"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9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48B13EE-C1E2-30ED-BD20-FBEB386070F7}"/>
            </a:ext>
          </a:extLst>
        </p:cNvPr>
        <p:cNvGrpSpPr/>
        <p:nvPr/>
      </p:nvGrpSpPr>
      <p:grpSpPr>
        <a:xfrm>
          <a:off x="0" y="0"/>
          <a:ext cx="0" cy="0"/>
          <a:chOff x="0" y="0"/>
          <a:chExt cx="0" cy="0"/>
        </a:xfrm>
      </p:grpSpPr>
      <p:sp>
        <p:nvSpPr>
          <p:cNvPr id="11" name="Rectangle 10"/>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p:cNvSpPr/>
          <p:nvPr/>
        </p:nvSpPr>
        <p:spPr>
          <a:xfrm>
            <a:off x="5209309" y="563418"/>
            <a:ext cx="6982691"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p:cNvSpPr txBox="1"/>
          <p:nvPr/>
        </p:nvSpPr>
        <p:spPr>
          <a:xfrm>
            <a:off x="1764145" y="384935"/>
            <a:ext cx="4388288" cy="523220"/>
          </a:xfrm>
          <a:prstGeom prst="rect">
            <a:avLst/>
          </a:prstGeom>
          <a:noFill/>
        </p:spPr>
        <p:txBody>
          <a:bodyPr wrap="square" rtlCol="0">
            <a:spAutoFit/>
          </a:bodyPr>
          <a:lstStyle/>
          <a:p>
            <a:r>
              <a:rPr lang="fr-FR" sz="2800" b="1" dirty="0">
                <a:latin typeface="Times New Roman" panose="02020603050405020304" pitchFamily="18" charset="0"/>
                <a:cs typeface="Times New Roman" panose="02020603050405020304" pitchFamily="18" charset="0"/>
              </a:rPr>
              <a:t>Création d’une table</a:t>
            </a:r>
            <a:endParaRPr lang="fr-FR" sz="2800" b="1" dirty="0">
              <a:latin typeface="Times New Roman" panose="02020603050405020304" pitchFamily="18" charset="0"/>
              <a:cs typeface="Times New Roman" panose="02020603050405020304" pitchFamily="18" charset="0"/>
            </a:endParaRPr>
          </a:p>
        </p:txBody>
      </p:sp>
      <p:pic>
        <p:nvPicPr>
          <p:cNvPr id="3" name="Image 2"/>
          <p:cNvPicPr>
            <a:picLocks noChangeAspect="1"/>
          </p:cNvPicPr>
          <p:nvPr/>
        </p:nvPicPr>
        <p:blipFill>
          <a:blip r:embed="rId3"/>
          <a:stretch>
            <a:fillRect/>
          </a:stretch>
        </p:blipFill>
        <p:spPr>
          <a:xfrm>
            <a:off x="2834483" y="1838119"/>
            <a:ext cx="6034319" cy="3605249"/>
          </a:xfrm>
          <a:prstGeom prst="rect">
            <a:avLst/>
          </a:prstGeom>
        </p:spPr>
      </p:pic>
    </p:spTree>
    <p:extLst>
      <p:ext uri="{BB962C8B-B14F-4D97-AF65-F5344CB8AC3E}">
        <p14:creationId xmlns:p14="http://schemas.microsoft.com/office/powerpoint/2010/main" val="88638023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8464B79-BA5F-43A5-D23F-0AB176F291C3}"/>
            </a:ext>
          </a:extLst>
        </p:cNvPr>
        <p:cNvGrpSpPr/>
        <p:nvPr/>
      </p:nvGrpSpPr>
      <p:grpSpPr>
        <a:xfrm>
          <a:off x="0" y="0"/>
          <a:ext cx="0" cy="0"/>
          <a:chOff x="0" y="0"/>
          <a:chExt cx="0" cy="0"/>
        </a:xfrm>
      </p:grpSpPr>
      <p:sp>
        <p:nvSpPr>
          <p:cNvPr id="16" name="Rectangle 15"/>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p:cNvSpPr/>
          <p:nvPr/>
        </p:nvSpPr>
        <p:spPr>
          <a:xfrm>
            <a:off x="5209309" y="563418"/>
            <a:ext cx="6982691"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p:cNvSpPr txBox="1"/>
          <p:nvPr/>
        </p:nvSpPr>
        <p:spPr>
          <a:xfrm>
            <a:off x="1837989" y="384935"/>
            <a:ext cx="4388288" cy="523220"/>
          </a:xfrm>
          <a:prstGeom prst="rect">
            <a:avLst/>
          </a:prstGeom>
          <a:noFill/>
        </p:spPr>
        <p:txBody>
          <a:bodyPr wrap="square" rtlCol="0">
            <a:spAutoFit/>
          </a:bodyPr>
          <a:lstStyle/>
          <a:p>
            <a:r>
              <a:rPr lang="fr-FR" sz="2800" b="1" dirty="0">
                <a:latin typeface="Times New Roman" panose="02020603050405020304" pitchFamily="18" charset="0"/>
                <a:cs typeface="Times New Roman" panose="02020603050405020304" pitchFamily="18" charset="0"/>
              </a:rPr>
              <a:t>Création d’une table</a:t>
            </a:r>
            <a:endParaRPr lang="fr-FR" sz="2800" b="1" dirty="0">
              <a:latin typeface="Times New Roman" panose="02020603050405020304" pitchFamily="18" charset="0"/>
              <a:cs typeface="Times New Roman" panose="02020603050405020304" pitchFamily="18" charset="0"/>
            </a:endParaRPr>
          </a:p>
        </p:txBody>
      </p:sp>
      <p:sp>
        <p:nvSpPr>
          <p:cNvPr id="23" name="ZoneTexte 22"/>
          <p:cNvSpPr txBox="1"/>
          <p:nvPr/>
        </p:nvSpPr>
        <p:spPr>
          <a:xfrm>
            <a:off x="1366671" y="1403007"/>
            <a:ext cx="10145770" cy="452431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50000"/>
              </a:lnSpc>
            </a:pPr>
            <a:r>
              <a:rPr lang="fr-FR" sz="2400" dirty="0" smtClean="0">
                <a:latin typeface="Times New Roman" panose="02020603050405020304" pitchFamily="18" charset="0"/>
                <a:cs typeface="Times New Roman" panose="02020603050405020304" pitchFamily="18" charset="0"/>
              </a:rPr>
              <a:t>Créer les tables du modèle </a:t>
            </a:r>
            <a:r>
              <a:rPr lang="fr-FR" sz="2400" dirty="0">
                <a:latin typeface="Times New Roman" panose="02020603050405020304" pitchFamily="18" charset="0"/>
                <a:cs typeface="Times New Roman" panose="02020603050405020304" pitchFamily="18" charset="0"/>
              </a:rPr>
              <a:t>Logique de Données </a:t>
            </a:r>
            <a:r>
              <a:rPr lang="fr-FR" sz="2400" dirty="0" smtClean="0">
                <a:latin typeface="Times New Roman" panose="02020603050405020304" pitchFamily="18" charset="0"/>
                <a:cs typeface="Times New Roman" panose="02020603050405020304" pitchFamily="18" charset="0"/>
              </a:rPr>
              <a:t>suivant:</a:t>
            </a:r>
            <a:endParaRPr lang="fr-FR" sz="2400" dirty="0">
              <a:latin typeface="Times New Roman" panose="02020603050405020304" pitchFamily="18" charset="0"/>
              <a:cs typeface="Times New Roman" panose="02020603050405020304" pitchFamily="18" charset="0"/>
            </a:endParaRPr>
          </a:p>
          <a:p>
            <a:pPr>
              <a:lnSpc>
                <a:spcPct val="150000"/>
              </a:lnSpc>
            </a:pPr>
            <a:r>
              <a:rPr lang="fr-FR" sz="2400" b="1" dirty="0">
                <a:latin typeface="Times New Roman" panose="02020603050405020304" pitchFamily="18" charset="0"/>
                <a:cs typeface="Times New Roman" panose="02020603050405020304" pitchFamily="18" charset="0"/>
              </a:rPr>
              <a:t>ETUDIANT</a:t>
            </a: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id_etudiant</a:t>
            </a:r>
            <a:r>
              <a:rPr lang="fr-FR" sz="2400" dirty="0">
                <a:latin typeface="Times New Roman" panose="02020603050405020304" pitchFamily="18" charset="0"/>
                <a:cs typeface="Times New Roman" panose="02020603050405020304" pitchFamily="18" charset="0"/>
              </a:rPr>
              <a:t>, nom, </a:t>
            </a:r>
            <a:r>
              <a:rPr lang="fr-FR" sz="2400" dirty="0" err="1">
                <a:latin typeface="Times New Roman" panose="02020603050405020304" pitchFamily="18" charset="0"/>
                <a:cs typeface="Times New Roman" panose="02020603050405020304" pitchFamily="18" charset="0"/>
              </a:rPr>
              <a:t>prenom</a:t>
            </a: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date_naissance</a:t>
            </a:r>
            <a:r>
              <a:rPr lang="fr-FR" sz="2400" dirty="0">
                <a:latin typeface="Times New Roman" panose="02020603050405020304" pitchFamily="18" charset="0"/>
                <a:cs typeface="Times New Roman" panose="02020603050405020304" pitchFamily="18" charset="0"/>
              </a:rPr>
              <a:t>, email, biographie)</a:t>
            </a:r>
          </a:p>
          <a:p>
            <a:pPr>
              <a:lnSpc>
                <a:spcPct val="150000"/>
              </a:lnSpc>
            </a:pPr>
            <a:r>
              <a:rPr lang="fr-FR" sz="2400" b="1" dirty="0">
                <a:latin typeface="Times New Roman" panose="02020603050405020304" pitchFamily="18" charset="0"/>
                <a:cs typeface="Times New Roman" panose="02020603050405020304" pitchFamily="18" charset="0"/>
              </a:rPr>
              <a:t>COURS</a:t>
            </a: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id_cours</a:t>
            </a:r>
            <a:r>
              <a:rPr lang="fr-FR" sz="2400" dirty="0">
                <a:latin typeface="Times New Roman" panose="02020603050405020304" pitchFamily="18" charset="0"/>
                <a:cs typeface="Times New Roman" panose="02020603050405020304" pitchFamily="18" charset="0"/>
              </a:rPr>
              <a:t>, titre, </a:t>
            </a:r>
            <a:r>
              <a:rPr lang="fr-FR" sz="2400" dirty="0" err="1">
                <a:latin typeface="Times New Roman" panose="02020603050405020304" pitchFamily="18" charset="0"/>
                <a:cs typeface="Times New Roman" panose="02020603050405020304" pitchFamily="18" charset="0"/>
              </a:rPr>
              <a:t>credits</a:t>
            </a:r>
            <a:r>
              <a:rPr lang="fr-FR" sz="2400" dirty="0">
                <a:latin typeface="Times New Roman" panose="02020603050405020304" pitchFamily="18" charset="0"/>
                <a:cs typeface="Times New Roman" panose="02020603050405020304" pitchFamily="18" charset="0"/>
              </a:rPr>
              <a:t>)</a:t>
            </a:r>
          </a:p>
          <a:p>
            <a:pPr>
              <a:lnSpc>
                <a:spcPct val="150000"/>
              </a:lnSpc>
            </a:pPr>
            <a:r>
              <a:rPr lang="fr-FR" sz="2400" b="1" dirty="0">
                <a:latin typeface="Times New Roman" panose="02020603050405020304" pitchFamily="18" charset="0"/>
                <a:cs typeface="Times New Roman" panose="02020603050405020304" pitchFamily="18" charset="0"/>
              </a:rPr>
              <a:t>INSCRIPTION</a:t>
            </a: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id_etudiant</a:t>
            </a: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id_cours</a:t>
            </a: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date_inscription</a:t>
            </a: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note_finale</a:t>
            </a:r>
            <a:r>
              <a:rPr lang="fr-FR" sz="2400" dirty="0" smtClean="0">
                <a:latin typeface="Times New Roman" panose="02020603050405020304" pitchFamily="18" charset="0"/>
                <a:cs typeface="Times New Roman" panose="02020603050405020304" pitchFamily="18" charset="0"/>
              </a:rPr>
              <a:t>)</a:t>
            </a:r>
          </a:p>
          <a:p>
            <a:pPr>
              <a:lnSpc>
                <a:spcPct val="150000"/>
              </a:lnSpc>
            </a:pPr>
            <a:endParaRPr lang="fr-FR" sz="2400" dirty="0">
              <a:latin typeface="Times New Roman" panose="02020603050405020304" pitchFamily="18" charset="0"/>
              <a:cs typeface="Times New Roman" panose="02020603050405020304" pitchFamily="18" charset="0"/>
            </a:endParaRPr>
          </a:p>
          <a:p>
            <a:pPr>
              <a:lnSpc>
                <a:spcPct val="150000"/>
              </a:lnSpc>
            </a:pPr>
            <a:r>
              <a:rPr lang="fr-FR" sz="2400" u="sng" dirty="0">
                <a:latin typeface="Times New Roman" panose="02020603050405020304" pitchFamily="18" charset="0"/>
                <a:cs typeface="Times New Roman" panose="02020603050405020304" pitchFamily="18" charset="0"/>
              </a:rPr>
              <a:t>biographie</a:t>
            </a:r>
            <a:r>
              <a:rPr lang="fr-FR" sz="2400" dirty="0">
                <a:latin typeface="Times New Roman" panose="02020603050405020304" pitchFamily="18" charset="0"/>
                <a:cs typeface="Times New Roman" panose="02020603050405020304" pitchFamily="18" charset="0"/>
              </a:rPr>
              <a:t> : C'est le type TEXT que nous avons vu. On y mettrait un paragraphe de présentation (parcours, passions).</a:t>
            </a:r>
          </a:p>
          <a:p>
            <a:pPr>
              <a:lnSpc>
                <a:spcPct val="150000"/>
              </a:lnSpc>
            </a:pPr>
            <a:r>
              <a:rPr lang="fr-FR" sz="2400" u="sng" dirty="0">
                <a:latin typeface="Times New Roman" panose="02020603050405020304" pitchFamily="18" charset="0"/>
                <a:cs typeface="Times New Roman" panose="02020603050405020304" pitchFamily="18" charset="0"/>
              </a:rPr>
              <a:t>Crédit</a:t>
            </a:r>
            <a:r>
              <a:rPr lang="fr-FR" sz="2400" dirty="0">
                <a:latin typeface="Times New Roman" panose="02020603050405020304" pitchFamily="18" charset="0"/>
                <a:cs typeface="Times New Roman" panose="02020603050405020304" pitchFamily="18" charset="0"/>
              </a:rPr>
              <a:t> :Plus </a:t>
            </a:r>
            <a:r>
              <a:rPr lang="fr-FR" sz="2400" dirty="0">
                <a:latin typeface="Times New Roman" panose="02020603050405020304" pitchFamily="18" charset="0"/>
                <a:cs typeface="Times New Roman" panose="02020603050405020304" pitchFamily="18" charset="0"/>
              </a:rPr>
              <a:t>le chiffre est élevé, plus la matière compte dans la moyenne.</a:t>
            </a:r>
          </a:p>
        </p:txBody>
      </p:sp>
    </p:spTree>
    <p:extLst>
      <p:ext uri="{BB962C8B-B14F-4D97-AF65-F5344CB8AC3E}">
        <p14:creationId xmlns:p14="http://schemas.microsoft.com/office/powerpoint/2010/main" val="2736970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BB82EF0-0CEC-0569-CBE9-0A9DCE31C245}"/>
            </a:ext>
          </a:extLst>
        </p:cNvPr>
        <p:cNvGrpSpPr/>
        <p:nvPr/>
      </p:nvGrpSpPr>
      <p:grpSpPr>
        <a:xfrm>
          <a:off x="0" y="0"/>
          <a:ext cx="0" cy="0"/>
          <a:chOff x="0" y="0"/>
          <a:chExt cx="0" cy="0"/>
        </a:xfrm>
      </p:grpSpPr>
      <p:sp>
        <p:nvSpPr>
          <p:cNvPr id="13" name="Rectangle 12"/>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p:nvPr/>
        </p:nvSpPr>
        <p:spPr>
          <a:xfrm>
            <a:off x="5819887" y="544471"/>
            <a:ext cx="6372113"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p:cNvSpPr txBox="1"/>
          <p:nvPr/>
        </p:nvSpPr>
        <p:spPr>
          <a:xfrm>
            <a:off x="1943682" y="301808"/>
            <a:ext cx="4388288" cy="523220"/>
          </a:xfrm>
          <a:prstGeom prst="rect">
            <a:avLst/>
          </a:prstGeom>
          <a:noFill/>
        </p:spPr>
        <p:txBody>
          <a:bodyPr wrap="square" rtlCol="0">
            <a:spAutoFit/>
          </a:bodyPr>
          <a:lstStyle/>
          <a:p>
            <a:r>
              <a:rPr lang="fr-FR" sz="2800" b="1" dirty="0" smtClean="0">
                <a:latin typeface="Times New Roman" panose="02020603050405020304" pitchFamily="18" charset="0"/>
                <a:cs typeface="Times New Roman" panose="02020603050405020304" pitchFamily="18" charset="0"/>
              </a:rPr>
              <a:t>Contraintes d’intégrité </a:t>
            </a:r>
            <a:endParaRPr lang="fr-FR" sz="2800" b="1" dirty="0">
              <a:latin typeface="Times New Roman" panose="02020603050405020304" pitchFamily="18" charset="0"/>
              <a:cs typeface="Times New Roman" panose="02020603050405020304" pitchFamily="18" charset="0"/>
            </a:endParaRPr>
          </a:p>
        </p:txBody>
      </p:sp>
      <p:sp>
        <p:nvSpPr>
          <p:cNvPr id="11" name="ZoneTexte 10"/>
          <p:cNvSpPr txBox="1"/>
          <p:nvPr/>
        </p:nvSpPr>
        <p:spPr>
          <a:xfrm>
            <a:off x="1366671" y="1403007"/>
            <a:ext cx="10145770" cy="224914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lnSpc>
                <a:spcPct val="150000"/>
              </a:lnSpc>
            </a:pPr>
            <a:r>
              <a:rPr lang="fr-FR" sz="2400" dirty="0">
                <a:latin typeface="Times New Roman" panose="02020603050405020304" pitchFamily="18" charset="0"/>
                <a:cs typeface="Times New Roman" panose="02020603050405020304" pitchFamily="18" charset="0"/>
              </a:rPr>
              <a:t>Une </a:t>
            </a:r>
            <a:r>
              <a:rPr lang="fr-FR" sz="2400" b="1" dirty="0">
                <a:latin typeface="Times New Roman" panose="02020603050405020304" pitchFamily="18" charset="0"/>
                <a:cs typeface="Times New Roman" panose="02020603050405020304" pitchFamily="18" charset="0"/>
              </a:rPr>
              <a:t>contrainte d'intégrité</a:t>
            </a:r>
            <a:r>
              <a:rPr lang="fr-FR" sz="2400" dirty="0">
                <a:latin typeface="Times New Roman" panose="02020603050405020304" pitchFamily="18" charset="0"/>
                <a:cs typeface="Times New Roman" panose="02020603050405020304" pitchFamily="18" charset="0"/>
              </a:rPr>
              <a:t> est une règle logique définie lors de la conception d'une base de données qui doit être respectée à tout moment par les données stockées. Elle agit comme une condition d'admissibilité garantissant la </a:t>
            </a:r>
            <a:r>
              <a:rPr lang="fr-FR" sz="2400" b="1" dirty="0">
                <a:latin typeface="Times New Roman" panose="02020603050405020304" pitchFamily="18" charset="0"/>
                <a:cs typeface="Times New Roman" panose="02020603050405020304" pitchFamily="18" charset="0"/>
              </a:rPr>
              <a:t>cohérence</a:t>
            </a:r>
            <a:r>
              <a:rPr lang="fr-FR" sz="2400" dirty="0">
                <a:latin typeface="Times New Roman" panose="02020603050405020304" pitchFamily="18" charset="0"/>
                <a:cs typeface="Times New Roman" panose="02020603050405020304" pitchFamily="18" charset="0"/>
              </a:rPr>
              <a:t>, la </a:t>
            </a:r>
            <a:r>
              <a:rPr lang="fr-FR" sz="2400" b="1" dirty="0">
                <a:latin typeface="Times New Roman" panose="02020603050405020304" pitchFamily="18" charset="0"/>
                <a:cs typeface="Times New Roman" panose="02020603050405020304" pitchFamily="18" charset="0"/>
              </a:rPr>
              <a:t>validité</a:t>
            </a:r>
            <a:r>
              <a:rPr lang="fr-FR" sz="2400" dirty="0">
                <a:latin typeface="Times New Roman" panose="02020603050405020304" pitchFamily="18" charset="0"/>
                <a:cs typeface="Times New Roman" panose="02020603050405020304" pitchFamily="18" charset="0"/>
              </a:rPr>
              <a:t> et la </a:t>
            </a:r>
            <a:r>
              <a:rPr lang="fr-FR" sz="2400" b="1" dirty="0">
                <a:latin typeface="Times New Roman" panose="02020603050405020304" pitchFamily="18" charset="0"/>
                <a:cs typeface="Times New Roman" panose="02020603050405020304" pitchFamily="18" charset="0"/>
              </a:rPr>
              <a:t>fiabilité</a:t>
            </a:r>
            <a:r>
              <a:rPr lang="fr-FR" sz="2400" dirty="0">
                <a:latin typeface="Times New Roman" panose="02020603050405020304" pitchFamily="18" charset="0"/>
                <a:cs typeface="Times New Roman" panose="02020603050405020304" pitchFamily="18" charset="0"/>
              </a:rPr>
              <a:t> des informations au sein du système.</a:t>
            </a:r>
            <a:endParaRPr lang="fr-F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9833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BB82EF0-0CEC-0569-CBE9-0A9DCE31C245}"/>
            </a:ext>
          </a:extLst>
        </p:cNvPr>
        <p:cNvGrpSpPr/>
        <p:nvPr/>
      </p:nvGrpSpPr>
      <p:grpSpPr>
        <a:xfrm>
          <a:off x="0" y="0"/>
          <a:ext cx="0" cy="0"/>
          <a:chOff x="0" y="0"/>
          <a:chExt cx="0" cy="0"/>
        </a:xfrm>
      </p:grpSpPr>
      <p:sp>
        <p:nvSpPr>
          <p:cNvPr id="13" name="Rectangle 12"/>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p:nvPr/>
        </p:nvSpPr>
        <p:spPr>
          <a:xfrm>
            <a:off x="5819887" y="544471"/>
            <a:ext cx="6372113"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p:cNvSpPr txBox="1"/>
          <p:nvPr/>
        </p:nvSpPr>
        <p:spPr>
          <a:xfrm>
            <a:off x="1943682" y="301808"/>
            <a:ext cx="4388288" cy="523220"/>
          </a:xfrm>
          <a:prstGeom prst="rect">
            <a:avLst/>
          </a:prstGeom>
          <a:noFill/>
        </p:spPr>
        <p:txBody>
          <a:bodyPr wrap="square" rtlCol="0">
            <a:spAutoFit/>
          </a:bodyPr>
          <a:lstStyle/>
          <a:p>
            <a:r>
              <a:rPr lang="fr-FR" sz="2800" b="1" dirty="0" smtClean="0">
                <a:latin typeface="Times New Roman" panose="02020603050405020304" pitchFamily="18" charset="0"/>
                <a:cs typeface="Times New Roman" panose="02020603050405020304" pitchFamily="18" charset="0"/>
              </a:rPr>
              <a:t>Contraintes d’intégrité </a:t>
            </a:r>
            <a:endParaRPr lang="fr-FR" sz="2800" b="1" dirty="0">
              <a:latin typeface="Times New Roman" panose="02020603050405020304" pitchFamily="18" charset="0"/>
              <a:cs typeface="Times New Roman" panose="02020603050405020304" pitchFamily="18" charset="0"/>
            </a:endParaRPr>
          </a:p>
        </p:txBody>
      </p:sp>
      <p:sp>
        <p:nvSpPr>
          <p:cNvPr id="11" name="ZoneTexte 10"/>
          <p:cNvSpPr txBox="1"/>
          <p:nvPr/>
        </p:nvSpPr>
        <p:spPr>
          <a:xfrm>
            <a:off x="882072" y="1284674"/>
            <a:ext cx="10649621" cy="452431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50000"/>
              </a:lnSpc>
            </a:pPr>
            <a:r>
              <a:rPr lang="fr-FR" sz="2400" b="1" dirty="0">
                <a:latin typeface="Times New Roman" panose="02020603050405020304" pitchFamily="18" charset="0"/>
                <a:cs typeface="Times New Roman" panose="02020603050405020304" pitchFamily="18" charset="0"/>
              </a:rPr>
              <a:t>1. L'Intégrité de Domaine (Le format des cases)</a:t>
            </a:r>
          </a:p>
          <a:p>
            <a:pPr>
              <a:lnSpc>
                <a:spcPct val="150000"/>
              </a:lnSpc>
            </a:pPr>
            <a:r>
              <a:rPr lang="fr-FR" sz="2400" dirty="0">
                <a:latin typeface="Times New Roman" panose="02020603050405020304" pitchFamily="18" charset="0"/>
                <a:cs typeface="Times New Roman" panose="02020603050405020304" pitchFamily="18" charset="0"/>
              </a:rPr>
              <a:t>C'est la règle de base : on vérifie que la donnée "ressemble" à ce qu'on attend.</a:t>
            </a:r>
          </a:p>
          <a:p>
            <a:pPr>
              <a:lnSpc>
                <a:spcPct val="150000"/>
              </a:lnSpc>
            </a:pPr>
            <a:r>
              <a:rPr lang="fr-FR" sz="2400" b="1" dirty="0">
                <a:solidFill>
                  <a:schemeClr val="accent1">
                    <a:lumMod val="75000"/>
                  </a:schemeClr>
                </a:solidFill>
                <a:latin typeface="Times New Roman" panose="02020603050405020304" pitchFamily="18" charset="0"/>
                <a:cs typeface="Times New Roman" panose="02020603050405020304" pitchFamily="18" charset="0"/>
              </a:rPr>
              <a:t>NOT NULL :</a:t>
            </a:r>
            <a:r>
              <a:rPr lang="fr-FR" sz="2400" dirty="0">
                <a:solidFill>
                  <a:schemeClr val="accent1">
                    <a:lumMod val="75000"/>
                  </a:schemeClr>
                </a:solidFill>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Interdit de laisser la case vide. (Ex: Un étudiant doit obligatoirement avoir un nom).</a:t>
            </a:r>
          </a:p>
          <a:p>
            <a:pPr>
              <a:lnSpc>
                <a:spcPct val="150000"/>
              </a:lnSpc>
            </a:pPr>
            <a:r>
              <a:rPr lang="fr-FR" sz="2400" b="1" dirty="0">
                <a:solidFill>
                  <a:schemeClr val="accent1">
                    <a:lumMod val="75000"/>
                  </a:schemeClr>
                </a:solidFill>
                <a:latin typeface="Times New Roman" panose="02020603050405020304" pitchFamily="18" charset="0"/>
                <a:cs typeface="Times New Roman" panose="02020603050405020304" pitchFamily="18" charset="0"/>
              </a:rPr>
              <a:t>CHECK : </a:t>
            </a:r>
            <a:r>
              <a:rPr lang="fr-FR" sz="2400" dirty="0">
                <a:latin typeface="Times New Roman" panose="02020603050405020304" pitchFamily="18" charset="0"/>
                <a:cs typeface="Times New Roman" panose="02020603050405020304" pitchFamily="18" charset="0"/>
              </a:rPr>
              <a:t>Vérifie une condition logique. </a:t>
            </a:r>
            <a:r>
              <a:rPr lang="fr-FR" sz="2400" dirty="0" smtClean="0">
                <a:latin typeface="Times New Roman" panose="02020603050405020304" pitchFamily="18" charset="0"/>
                <a:cs typeface="Times New Roman" panose="02020603050405020304" pitchFamily="18" charset="0"/>
              </a:rPr>
              <a:t>Ex</a:t>
            </a:r>
            <a:r>
              <a:rPr lang="fr-FR" sz="2400" dirty="0">
                <a:latin typeface="Times New Roman" panose="02020603050405020304" pitchFamily="18" charset="0"/>
                <a:cs typeface="Times New Roman" panose="02020603050405020304" pitchFamily="18" charset="0"/>
              </a:rPr>
              <a:t>: </a:t>
            </a:r>
            <a:endParaRPr lang="fr-FR" sz="2400" dirty="0" smtClean="0">
              <a:latin typeface="Times New Roman" panose="02020603050405020304" pitchFamily="18" charset="0"/>
              <a:cs typeface="Times New Roman" panose="02020603050405020304" pitchFamily="18" charset="0"/>
            </a:endParaRPr>
          </a:p>
          <a:p>
            <a:pPr>
              <a:lnSpc>
                <a:spcPct val="150000"/>
              </a:lnSpc>
            </a:pPr>
            <a:r>
              <a:rPr lang="fr-FR" sz="2400" dirty="0" smtClean="0">
                <a:latin typeface="Times New Roman" panose="02020603050405020304" pitchFamily="18" charset="0"/>
                <a:cs typeface="Times New Roman" panose="02020603050405020304" pitchFamily="18" charset="0"/>
              </a:rPr>
              <a:t>CHECK </a:t>
            </a:r>
            <a:r>
              <a:rPr lang="fr-FR" sz="2400" dirty="0">
                <a:latin typeface="Times New Roman" panose="02020603050405020304" pitchFamily="18" charset="0"/>
                <a:cs typeface="Times New Roman" panose="02020603050405020304" pitchFamily="18" charset="0"/>
              </a:rPr>
              <a:t>(</a:t>
            </a:r>
            <a:r>
              <a:rPr lang="fr-FR" sz="2400" dirty="0" err="1">
                <a:latin typeface="Times New Roman" panose="02020603050405020304" pitchFamily="18" charset="0"/>
                <a:cs typeface="Times New Roman" panose="02020603050405020304" pitchFamily="18" charset="0"/>
              </a:rPr>
              <a:t>note_finale</a:t>
            </a:r>
            <a:r>
              <a:rPr lang="fr-FR" sz="2400" dirty="0">
                <a:latin typeface="Times New Roman" panose="02020603050405020304" pitchFamily="18" charset="0"/>
                <a:cs typeface="Times New Roman" panose="02020603050405020304" pitchFamily="18" charset="0"/>
              </a:rPr>
              <a:t> BETWEEN 0 AND 20</a:t>
            </a:r>
            <a:r>
              <a:rPr lang="fr-FR" sz="2400" dirty="0" smtClean="0">
                <a:latin typeface="Times New Roman" panose="02020603050405020304" pitchFamily="18" charset="0"/>
                <a:cs typeface="Times New Roman" panose="02020603050405020304" pitchFamily="18" charset="0"/>
              </a:rPr>
              <a:t>)</a:t>
            </a:r>
          </a:p>
          <a:p>
            <a:pPr>
              <a:lnSpc>
                <a:spcPct val="150000"/>
              </a:lnSpc>
            </a:pPr>
            <a:r>
              <a:rPr lang="fr-FR" sz="2400" dirty="0">
                <a:latin typeface="Times New Roman" panose="02020603050405020304" pitchFamily="18" charset="0"/>
                <a:cs typeface="Times New Roman" panose="02020603050405020304" pitchFamily="18" charset="0"/>
              </a:rPr>
              <a:t>les salaires doivent ê</a:t>
            </a:r>
            <a:r>
              <a:rPr lang="fr-FR" sz="2400" dirty="0">
                <a:latin typeface="Times New Roman" panose="02020603050405020304" pitchFamily="18" charset="0"/>
                <a:cs typeface="Times New Roman" panose="02020603050405020304" pitchFamily="18" charset="0"/>
              </a:rPr>
              <a:t>tre </a:t>
            </a:r>
            <a:r>
              <a:rPr lang="fr-FR" sz="2400" dirty="0">
                <a:latin typeface="Times New Roman" panose="02020603050405020304" pitchFamily="18" charset="0"/>
                <a:cs typeface="Times New Roman" panose="02020603050405020304" pitchFamily="18" charset="0"/>
              </a:rPr>
              <a:t>positif, les primes doivent ê</a:t>
            </a:r>
            <a:r>
              <a:rPr lang="fr-FR" sz="2400" dirty="0">
                <a:latin typeface="Times New Roman" panose="02020603050405020304" pitchFamily="18" charset="0"/>
                <a:cs typeface="Times New Roman" panose="02020603050405020304" pitchFamily="18" charset="0"/>
              </a:rPr>
              <a:t>tre supérieures </a:t>
            </a:r>
            <a:r>
              <a:rPr lang="fr-FR" sz="2400" dirty="0">
                <a:latin typeface="Times New Roman" panose="02020603050405020304" pitchFamily="18" charset="0"/>
                <a:cs typeface="Times New Roman" panose="02020603050405020304" pitchFamily="18" charset="0"/>
              </a:rPr>
              <a:t>ou é</a:t>
            </a:r>
            <a:r>
              <a:rPr lang="fr-FR" sz="2400" dirty="0">
                <a:latin typeface="Times New Roman" panose="02020603050405020304" pitchFamily="18" charset="0"/>
                <a:cs typeface="Times New Roman" panose="02020603050405020304" pitchFamily="18" charset="0"/>
              </a:rPr>
              <a:t>gales à </a:t>
            </a:r>
            <a:r>
              <a:rPr lang="fr-FR" sz="2400" dirty="0" smtClean="0">
                <a:latin typeface="Times New Roman" panose="02020603050405020304" pitchFamily="18" charset="0"/>
                <a:cs typeface="Times New Roman" panose="02020603050405020304" pitchFamily="18" charset="0"/>
              </a:rPr>
              <a:t>zéro</a:t>
            </a:r>
            <a:r>
              <a:rPr lang="fr-FR" sz="2400" dirty="0">
                <a:latin typeface="Times New Roman" panose="02020603050405020304" pitchFamily="18" charset="0"/>
                <a:cs typeface="Times New Roman" panose="02020603050405020304" pitchFamily="18" charset="0"/>
              </a:rPr>
              <a:t>:</a:t>
            </a:r>
            <a:endParaRPr lang="fr-FR" sz="2400"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CHECK (Sal &gt; 0 AND Prime &gt;= 0)</a:t>
            </a:r>
            <a:endParaRPr lang="fr-F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1455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BB82EF0-0CEC-0569-CBE9-0A9DCE31C245}"/>
            </a:ext>
          </a:extLst>
        </p:cNvPr>
        <p:cNvGrpSpPr/>
        <p:nvPr/>
      </p:nvGrpSpPr>
      <p:grpSpPr>
        <a:xfrm>
          <a:off x="0" y="0"/>
          <a:ext cx="0" cy="0"/>
          <a:chOff x="0" y="0"/>
          <a:chExt cx="0" cy="0"/>
        </a:xfrm>
      </p:grpSpPr>
      <p:sp>
        <p:nvSpPr>
          <p:cNvPr id="13" name="Rectangle 12"/>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p:nvPr/>
        </p:nvSpPr>
        <p:spPr>
          <a:xfrm>
            <a:off x="5819887" y="544471"/>
            <a:ext cx="6372113"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p:cNvSpPr txBox="1"/>
          <p:nvPr/>
        </p:nvSpPr>
        <p:spPr>
          <a:xfrm>
            <a:off x="1943682" y="301808"/>
            <a:ext cx="4388288" cy="523220"/>
          </a:xfrm>
          <a:prstGeom prst="rect">
            <a:avLst/>
          </a:prstGeom>
          <a:noFill/>
        </p:spPr>
        <p:txBody>
          <a:bodyPr wrap="square" rtlCol="0">
            <a:spAutoFit/>
          </a:bodyPr>
          <a:lstStyle/>
          <a:p>
            <a:r>
              <a:rPr lang="fr-FR" sz="2800" b="1" dirty="0" smtClean="0">
                <a:latin typeface="Times New Roman" panose="02020603050405020304" pitchFamily="18" charset="0"/>
                <a:cs typeface="Times New Roman" panose="02020603050405020304" pitchFamily="18" charset="0"/>
              </a:rPr>
              <a:t>Contraintes d’intégrité </a:t>
            </a:r>
            <a:endParaRPr lang="fr-FR" sz="2800" b="1" dirty="0">
              <a:latin typeface="Times New Roman" panose="02020603050405020304" pitchFamily="18" charset="0"/>
              <a:cs typeface="Times New Roman" panose="02020603050405020304" pitchFamily="18" charset="0"/>
            </a:endParaRPr>
          </a:p>
        </p:txBody>
      </p:sp>
      <p:pic>
        <p:nvPicPr>
          <p:cNvPr id="3" name="Image 2"/>
          <p:cNvPicPr>
            <a:picLocks noChangeAspect="1"/>
          </p:cNvPicPr>
          <p:nvPr/>
        </p:nvPicPr>
        <p:blipFill>
          <a:blip r:embed="rId3"/>
          <a:stretch>
            <a:fillRect/>
          </a:stretch>
        </p:blipFill>
        <p:spPr>
          <a:xfrm>
            <a:off x="1364281" y="953388"/>
            <a:ext cx="9543638" cy="5684079"/>
          </a:xfrm>
          <a:prstGeom prst="rect">
            <a:avLst/>
          </a:prstGeom>
        </p:spPr>
      </p:pic>
    </p:spTree>
    <p:extLst>
      <p:ext uri="{BB962C8B-B14F-4D97-AF65-F5344CB8AC3E}">
        <p14:creationId xmlns:p14="http://schemas.microsoft.com/office/powerpoint/2010/main" val="396022277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BB82EF0-0CEC-0569-CBE9-0A9DCE31C245}"/>
            </a:ext>
          </a:extLst>
        </p:cNvPr>
        <p:cNvGrpSpPr/>
        <p:nvPr/>
      </p:nvGrpSpPr>
      <p:grpSpPr>
        <a:xfrm>
          <a:off x="0" y="0"/>
          <a:ext cx="0" cy="0"/>
          <a:chOff x="0" y="0"/>
          <a:chExt cx="0" cy="0"/>
        </a:xfrm>
      </p:grpSpPr>
      <p:sp>
        <p:nvSpPr>
          <p:cNvPr id="13" name="Rectangle 12"/>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p:nvPr/>
        </p:nvSpPr>
        <p:spPr>
          <a:xfrm>
            <a:off x="5819887" y="544471"/>
            <a:ext cx="6372113"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p:cNvSpPr txBox="1"/>
          <p:nvPr/>
        </p:nvSpPr>
        <p:spPr>
          <a:xfrm>
            <a:off x="1943682" y="301808"/>
            <a:ext cx="4388288" cy="523220"/>
          </a:xfrm>
          <a:prstGeom prst="rect">
            <a:avLst/>
          </a:prstGeom>
          <a:noFill/>
        </p:spPr>
        <p:txBody>
          <a:bodyPr wrap="square" rtlCol="0">
            <a:spAutoFit/>
          </a:bodyPr>
          <a:lstStyle/>
          <a:p>
            <a:r>
              <a:rPr lang="fr-FR" sz="2800" b="1" dirty="0" smtClean="0">
                <a:latin typeface="Times New Roman" panose="02020603050405020304" pitchFamily="18" charset="0"/>
                <a:cs typeface="Times New Roman" panose="02020603050405020304" pitchFamily="18" charset="0"/>
              </a:rPr>
              <a:t>Contraintes d’intégrité </a:t>
            </a:r>
            <a:endParaRPr lang="fr-FR" sz="2800" b="1" dirty="0">
              <a:latin typeface="Times New Roman" panose="02020603050405020304" pitchFamily="18" charset="0"/>
              <a:cs typeface="Times New Roman" panose="02020603050405020304" pitchFamily="18" charset="0"/>
            </a:endParaRPr>
          </a:p>
        </p:txBody>
      </p:sp>
      <p:pic>
        <p:nvPicPr>
          <p:cNvPr id="2" name="Image 1"/>
          <p:cNvPicPr>
            <a:picLocks noChangeAspect="1"/>
          </p:cNvPicPr>
          <p:nvPr/>
        </p:nvPicPr>
        <p:blipFill>
          <a:blip r:embed="rId3"/>
          <a:stretch>
            <a:fillRect/>
          </a:stretch>
        </p:blipFill>
        <p:spPr>
          <a:xfrm>
            <a:off x="1366837" y="1713150"/>
            <a:ext cx="9561069" cy="2622182"/>
          </a:xfrm>
          <a:prstGeom prst="rect">
            <a:avLst/>
          </a:prstGeom>
        </p:spPr>
      </p:pic>
    </p:spTree>
    <p:extLst>
      <p:ext uri="{BB962C8B-B14F-4D97-AF65-F5344CB8AC3E}">
        <p14:creationId xmlns:p14="http://schemas.microsoft.com/office/powerpoint/2010/main" val="137218173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BB82EF0-0CEC-0569-CBE9-0A9DCE31C245}"/>
            </a:ext>
          </a:extLst>
        </p:cNvPr>
        <p:cNvGrpSpPr/>
        <p:nvPr/>
      </p:nvGrpSpPr>
      <p:grpSpPr>
        <a:xfrm>
          <a:off x="0" y="0"/>
          <a:ext cx="0" cy="0"/>
          <a:chOff x="0" y="0"/>
          <a:chExt cx="0" cy="0"/>
        </a:xfrm>
      </p:grpSpPr>
      <p:sp>
        <p:nvSpPr>
          <p:cNvPr id="13" name="Rectangle 12"/>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p:nvPr/>
        </p:nvSpPr>
        <p:spPr>
          <a:xfrm>
            <a:off x="5819887" y="544471"/>
            <a:ext cx="6372113"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p:cNvSpPr txBox="1"/>
          <p:nvPr/>
        </p:nvSpPr>
        <p:spPr>
          <a:xfrm>
            <a:off x="1943682" y="301808"/>
            <a:ext cx="4388288" cy="523220"/>
          </a:xfrm>
          <a:prstGeom prst="rect">
            <a:avLst/>
          </a:prstGeom>
          <a:noFill/>
        </p:spPr>
        <p:txBody>
          <a:bodyPr wrap="square" rtlCol="0">
            <a:spAutoFit/>
          </a:bodyPr>
          <a:lstStyle/>
          <a:p>
            <a:r>
              <a:rPr lang="fr-FR" sz="2800" b="1" dirty="0" smtClean="0">
                <a:latin typeface="Times New Roman" panose="02020603050405020304" pitchFamily="18" charset="0"/>
                <a:cs typeface="Times New Roman" panose="02020603050405020304" pitchFamily="18" charset="0"/>
              </a:rPr>
              <a:t>Contraintes d’intégrité </a:t>
            </a:r>
            <a:endParaRPr lang="fr-FR" sz="2800" b="1" dirty="0">
              <a:latin typeface="Times New Roman" panose="02020603050405020304" pitchFamily="18" charset="0"/>
              <a:cs typeface="Times New Roman" panose="02020603050405020304" pitchFamily="18" charset="0"/>
            </a:endParaRPr>
          </a:p>
        </p:txBody>
      </p:sp>
      <p:pic>
        <p:nvPicPr>
          <p:cNvPr id="4" name="Image 3"/>
          <p:cNvPicPr>
            <a:picLocks noChangeAspect="1"/>
          </p:cNvPicPr>
          <p:nvPr/>
        </p:nvPicPr>
        <p:blipFill>
          <a:blip r:embed="rId3"/>
          <a:stretch>
            <a:fillRect/>
          </a:stretch>
        </p:blipFill>
        <p:spPr>
          <a:xfrm>
            <a:off x="1861072" y="889951"/>
            <a:ext cx="7771683" cy="5968049"/>
          </a:xfrm>
          <a:prstGeom prst="rect">
            <a:avLst/>
          </a:prstGeom>
        </p:spPr>
      </p:pic>
    </p:spTree>
    <p:extLst>
      <p:ext uri="{BB962C8B-B14F-4D97-AF65-F5344CB8AC3E}">
        <p14:creationId xmlns:p14="http://schemas.microsoft.com/office/powerpoint/2010/main" val="225687294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BB82EF0-0CEC-0569-CBE9-0A9DCE31C245}"/>
            </a:ext>
          </a:extLst>
        </p:cNvPr>
        <p:cNvGrpSpPr/>
        <p:nvPr/>
      </p:nvGrpSpPr>
      <p:grpSpPr>
        <a:xfrm>
          <a:off x="0" y="0"/>
          <a:ext cx="0" cy="0"/>
          <a:chOff x="0" y="0"/>
          <a:chExt cx="0" cy="0"/>
        </a:xfrm>
      </p:grpSpPr>
      <p:sp>
        <p:nvSpPr>
          <p:cNvPr id="13" name="Rectangle 12"/>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p:nvPr/>
        </p:nvSpPr>
        <p:spPr>
          <a:xfrm>
            <a:off x="5819887" y="544471"/>
            <a:ext cx="6372113"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p:cNvSpPr txBox="1"/>
          <p:nvPr/>
        </p:nvSpPr>
        <p:spPr>
          <a:xfrm>
            <a:off x="1943682" y="301808"/>
            <a:ext cx="4388288" cy="523220"/>
          </a:xfrm>
          <a:prstGeom prst="rect">
            <a:avLst/>
          </a:prstGeom>
          <a:noFill/>
        </p:spPr>
        <p:txBody>
          <a:bodyPr wrap="square" rtlCol="0">
            <a:spAutoFit/>
          </a:bodyPr>
          <a:lstStyle/>
          <a:p>
            <a:r>
              <a:rPr lang="fr-FR" sz="2800" b="1" dirty="0" smtClean="0">
                <a:latin typeface="Times New Roman" panose="02020603050405020304" pitchFamily="18" charset="0"/>
                <a:cs typeface="Times New Roman" panose="02020603050405020304" pitchFamily="18" charset="0"/>
              </a:rPr>
              <a:t>Contraintes d’intégrité </a:t>
            </a:r>
            <a:endParaRPr lang="fr-FR" sz="2800" b="1" dirty="0">
              <a:latin typeface="Times New Roman" panose="02020603050405020304" pitchFamily="18" charset="0"/>
              <a:cs typeface="Times New Roman" panose="02020603050405020304" pitchFamily="18" charset="0"/>
            </a:endParaRPr>
          </a:p>
        </p:txBody>
      </p:sp>
      <p:sp>
        <p:nvSpPr>
          <p:cNvPr id="11" name="ZoneTexte 10"/>
          <p:cNvSpPr txBox="1"/>
          <p:nvPr/>
        </p:nvSpPr>
        <p:spPr>
          <a:xfrm>
            <a:off x="796515" y="1349219"/>
            <a:ext cx="10649621" cy="452431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50000"/>
              </a:lnSpc>
            </a:pPr>
            <a:r>
              <a:rPr lang="fr-FR" sz="2400" b="1" dirty="0">
                <a:latin typeface="Times New Roman" panose="02020603050405020304" pitchFamily="18" charset="0"/>
                <a:cs typeface="Times New Roman" panose="02020603050405020304" pitchFamily="18" charset="0"/>
              </a:rPr>
              <a:t>1. L'Intégrité de Domaine (Le format des cases)</a:t>
            </a:r>
          </a:p>
          <a:p>
            <a:pPr>
              <a:lnSpc>
                <a:spcPct val="150000"/>
              </a:lnSpc>
            </a:pPr>
            <a:r>
              <a:rPr lang="fr-FR" sz="2400" b="1" dirty="0" smtClean="0">
                <a:solidFill>
                  <a:schemeClr val="accent1">
                    <a:lumMod val="75000"/>
                  </a:schemeClr>
                </a:solidFill>
                <a:latin typeface="Times New Roman" panose="02020603050405020304" pitchFamily="18" charset="0"/>
                <a:cs typeface="Times New Roman" panose="02020603050405020304" pitchFamily="18" charset="0"/>
              </a:rPr>
              <a:t>DEFAULT </a:t>
            </a:r>
            <a:r>
              <a:rPr lang="fr-FR" sz="2400" b="1" dirty="0">
                <a:solidFill>
                  <a:schemeClr val="accent1">
                    <a:lumMod val="75000"/>
                  </a:schemeClr>
                </a:solidFill>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Donne une valeur si on n'écrit rien. (Ex: La date d'inscription est celle "d'aujourd'hui" par défaut).</a:t>
            </a:r>
          </a:p>
          <a:p>
            <a:pPr>
              <a:lnSpc>
                <a:spcPct val="150000"/>
              </a:lnSpc>
            </a:pPr>
            <a:r>
              <a:rPr lang="fr-FR" sz="2400" dirty="0" smtClean="0">
                <a:latin typeface="Times New Roman" panose="02020603050405020304" pitchFamily="18" charset="0"/>
                <a:cs typeface="Times New Roman" panose="02020603050405020304" pitchFamily="18" charset="0"/>
              </a:rPr>
              <a:t>Exemple :</a:t>
            </a:r>
          </a:p>
          <a:p>
            <a:pPr>
              <a:lnSpc>
                <a:spcPct val="150000"/>
              </a:lnSpc>
            </a:pPr>
            <a:r>
              <a:rPr lang="fr-FR" sz="2400" dirty="0">
                <a:latin typeface="Times New Roman" panose="02020603050405020304" pitchFamily="18" charset="0"/>
                <a:cs typeface="Times New Roman" panose="02020603050405020304" pitchFamily="18" charset="0"/>
              </a:rPr>
              <a:t>CREATE TABLE inscriptions ( </a:t>
            </a:r>
            <a:r>
              <a:rPr lang="fr-FR" sz="2400" dirty="0" err="1">
                <a:latin typeface="Times New Roman" panose="02020603050405020304" pitchFamily="18" charset="0"/>
                <a:cs typeface="Times New Roman" panose="02020603050405020304" pitchFamily="18" charset="0"/>
              </a:rPr>
              <a:t>id_inscription</a:t>
            </a:r>
            <a:r>
              <a:rPr lang="fr-FR" sz="2400" dirty="0">
                <a:latin typeface="Times New Roman" panose="02020603050405020304" pitchFamily="18" charset="0"/>
                <a:cs typeface="Times New Roman" panose="02020603050405020304" pitchFamily="18" charset="0"/>
              </a:rPr>
              <a:t> INT PRIMARY KEY, </a:t>
            </a:r>
            <a:endParaRPr lang="fr-FR" sz="2400" dirty="0" smtClean="0">
              <a:latin typeface="Times New Roman" panose="02020603050405020304" pitchFamily="18" charset="0"/>
              <a:cs typeface="Times New Roman" panose="02020603050405020304" pitchFamily="18" charset="0"/>
            </a:endParaRPr>
          </a:p>
          <a:p>
            <a:pPr>
              <a:lnSpc>
                <a:spcPct val="150000"/>
              </a:lnSpc>
            </a:pPr>
            <a:r>
              <a:rPr lang="fr-FR" sz="2400" dirty="0" smtClean="0">
                <a:latin typeface="Times New Roman" panose="02020603050405020304" pitchFamily="18" charset="0"/>
                <a:cs typeface="Times New Roman" panose="02020603050405020304" pitchFamily="18" charset="0"/>
              </a:rPr>
              <a:t>		</a:t>
            </a:r>
            <a:r>
              <a:rPr lang="fr-FR" sz="2400" dirty="0" err="1" smtClean="0">
                <a:latin typeface="Times New Roman" panose="02020603050405020304" pitchFamily="18" charset="0"/>
                <a:cs typeface="Times New Roman" panose="02020603050405020304" pitchFamily="18" charset="0"/>
              </a:rPr>
              <a:t>id_etudiant</a:t>
            </a: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INT, </a:t>
            </a:r>
            <a:endParaRPr lang="fr-FR" sz="2400" dirty="0" smtClean="0">
              <a:latin typeface="Times New Roman" panose="02020603050405020304" pitchFamily="18" charset="0"/>
              <a:cs typeface="Times New Roman" panose="02020603050405020304" pitchFamily="18" charset="0"/>
            </a:endParaRPr>
          </a:p>
          <a:p>
            <a:pPr>
              <a:lnSpc>
                <a:spcPct val="150000"/>
              </a:lnSpc>
            </a:pPr>
            <a:r>
              <a:rPr lang="fr-FR" sz="2400" dirty="0" smtClean="0">
                <a:latin typeface="Times New Roman" panose="02020603050405020304" pitchFamily="18" charset="0"/>
                <a:cs typeface="Times New Roman" panose="02020603050405020304" pitchFamily="18" charset="0"/>
              </a:rPr>
              <a:t>		</a:t>
            </a:r>
            <a:r>
              <a:rPr lang="fr-FR" sz="2400" dirty="0" err="1" smtClean="0">
                <a:latin typeface="Times New Roman" panose="02020603050405020304" pitchFamily="18" charset="0"/>
                <a:cs typeface="Times New Roman" panose="02020603050405020304" pitchFamily="18" charset="0"/>
              </a:rPr>
              <a:t>date_inscription</a:t>
            </a: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DATETIME DEFAULT CURRENT_TIMESTAMP, </a:t>
            </a:r>
            <a:endParaRPr lang="fr-FR" sz="2400" dirty="0" smtClean="0">
              <a:latin typeface="Times New Roman" panose="02020603050405020304" pitchFamily="18" charset="0"/>
              <a:cs typeface="Times New Roman" panose="02020603050405020304" pitchFamily="18" charset="0"/>
            </a:endParaRPr>
          </a:p>
          <a:p>
            <a:pPr>
              <a:lnSpc>
                <a:spcPct val="150000"/>
              </a:lnSpc>
            </a:pPr>
            <a:r>
              <a:rPr lang="fr-FR" sz="2400" dirty="0" smtClean="0">
                <a:latin typeface="Times New Roman" panose="02020603050405020304" pitchFamily="18" charset="0"/>
                <a:cs typeface="Times New Roman" panose="02020603050405020304" pitchFamily="18" charset="0"/>
              </a:rPr>
              <a:t>		statut </a:t>
            </a:r>
            <a:r>
              <a:rPr lang="fr-FR" sz="2400" dirty="0">
                <a:latin typeface="Times New Roman" panose="02020603050405020304" pitchFamily="18" charset="0"/>
                <a:cs typeface="Times New Roman" panose="02020603050405020304" pitchFamily="18" charset="0"/>
              </a:rPr>
              <a:t>VARCHAR(20) DEFAULT 'Inscrit' );</a:t>
            </a:r>
            <a:endParaRPr lang="fr-F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1842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BB82EF0-0CEC-0569-CBE9-0A9DCE31C245}"/>
            </a:ext>
          </a:extLst>
        </p:cNvPr>
        <p:cNvGrpSpPr/>
        <p:nvPr/>
      </p:nvGrpSpPr>
      <p:grpSpPr>
        <a:xfrm>
          <a:off x="0" y="0"/>
          <a:ext cx="0" cy="0"/>
          <a:chOff x="0" y="0"/>
          <a:chExt cx="0" cy="0"/>
        </a:xfrm>
      </p:grpSpPr>
      <p:sp>
        <p:nvSpPr>
          <p:cNvPr id="13" name="Rectangle 12"/>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p:nvPr/>
        </p:nvSpPr>
        <p:spPr>
          <a:xfrm>
            <a:off x="5819887" y="544471"/>
            <a:ext cx="6372113"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p:cNvSpPr txBox="1"/>
          <p:nvPr/>
        </p:nvSpPr>
        <p:spPr>
          <a:xfrm>
            <a:off x="1943682" y="301808"/>
            <a:ext cx="4388288" cy="523220"/>
          </a:xfrm>
          <a:prstGeom prst="rect">
            <a:avLst/>
          </a:prstGeom>
          <a:noFill/>
        </p:spPr>
        <p:txBody>
          <a:bodyPr wrap="square" rtlCol="0">
            <a:spAutoFit/>
          </a:bodyPr>
          <a:lstStyle/>
          <a:p>
            <a:r>
              <a:rPr lang="fr-FR" sz="2800" b="1" dirty="0" smtClean="0">
                <a:latin typeface="Times New Roman" panose="02020603050405020304" pitchFamily="18" charset="0"/>
                <a:cs typeface="Times New Roman" panose="02020603050405020304" pitchFamily="18" charset="0"/>
              </a:rPr>
              <a:t>Contraintes d’intégrité </a:t>
            </a:r>
            <a:endParaRPr lang="fr-FR" sz="2800" b="1" dirty="0">
              <a:latin typeface="Times New Roman" panose="02020603050405020304" pitchFamily="18" charset="0"/>
              <a:cs typeface="Times New Roman" panose="02020603050405020304" pitchFamily="18" charset="0"/>
            </a:endParaRPr>
          </a:p>
        </p:txBody>
      </p:sp>
      <p:sp>
        <p:nvSpPr>
          <p:cNvPr id="11" name="ZoneTexte 10"/>
          <p:cNvSpPr txBox="1"/>
          <p:nvPr/>
        </p:nvSpPr>
        <p:spPr>
          <a:xfrm>
            <a:off x="882072" y="1130141"/>
            <a:ext cx="10649621" cy="544764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50000"/>
              </a:lnSpc>
            </a:pPr>
            <a:r>
              <a:rPr lang="fr-FR" sz="2400" b="1" dirty="0">
                <a:latin typeface="Times New Roman" panose="02020603050405020304" pitchFamily="18" charset="0"/>
                <a:cs typeface="Times New Roman" panose="02020603050405020304" pitchFamily="18" charset="0"/>
              </a:rPr>
              <a:t>2. L'Intégrité d'Entité (La Clé Primaire)</a:t>
            </a:r>
          </a:p>
          <a:p>
            <a:pPr>
              <a:lnSpc>
                <a:spcPct val="150000"/>
              </a:lnSpc>
            </a:pPr>
            <a:r>
              <a:rPr lang="fr-FR" sz="2400" dirty="0" smtClean="0">
                <a:latin typeface="Times New Roman" panose="02020603050405020304" pitchFamily="18" charset="0"/>
                <a:cs typeface="Times New Roman" panose="02020603050405020304" pitchFamily="18" charset="0"/>
              </a:rPr>
              <a:t>Chaque </a:t>
            </a:r>
            <a:r>
              <a:rPr lang="fr-FR" sz="2400" dirty="0">
                <a:latin typeface="Times New Roman" panose="02020603050405020304" pitchFamily="18" charset="0"/>
                <a:cs typeface="Times New Roman" panose="02020603050405020304" pitchFamily="18" charset="0"/>
              </a:rPr>
              <a:t>ligne d'une table doit être </a:t>
            </a:r>
            <a:r>
              <a:rPr lang="fr-FR" sz="2400" b="1" dirty="0">
                <a:latin typeface="Times New Roman" panose="02020603050405020304" pitchFamily="18" charset="0"/>
                <a:cs typeface="Times New Roman" panose="02020603050405020304" pitchFamily="18" charset="0"/>
              </a:rPr>
              <a:t>unique</a:t>
            </a:r>
            <a:r>
              <a:rPr lang="fr-FR" sz="2400" dirty="0">
                <a:latin typeface="Times New Roman" panose="02020603050405020304" pitchFamily="18" charset="0"/>
                <a:cs typeface="Times New Roman" panose="02020603050405020304" pitchFamily="18" charset="0"/>
              </a:rPr>
              <a:t> et </a:t>
            </a:r>
            <a:r>
              <a:rPr lang="fr-FR" sz="2400" b="1" dirty="0">
                <a:latin typeface="Times New Roman" panose="02020603050405020304" pitchFamily="18" charset="0"/>
                <a:cs typeface="Times New Roman" panose="02020603050405020304" pitchFamily="18" charset="0"/>
              </a:rPr>
              <a:t>identifiable</a:t>
            </a:r>
            <a:r>
              <a:rPr lang="fr-FR" sz="2400" dirty="0">
                <a:latin typeface="Times New Roman" panose="02020603050405020304" pitchFamily="18" charset="0"/>
                <a:cs typeface="Times New Roman" panose="02020603050405020304" pitchFamily="18" charset="0"/>
              </a:rPr>
              <a:t>.</a:t>
            </a:r>
          </a:p>
          <a:p>
            <a:pPr>
              <a:lnSpc>
                <a:spcPct val="150000"/>
              </a:lnSpc>
            </a:pPr>
            <a:r>
              <a:rPr lang="fr-FR" sz="2400" b="1" dirty="0">
                <a:solidFill>
                  <a:schemeClr val="accent1">
                    <a:lumMod val="75000"/>
                  </a:schemeClr>
                </a:solidFill>
                <a:latin typeface="Times New Roman" panose="02020603050405020304" pitchFamily="18" charset="0"/>
                <a:cs typeface="Times New Roman" panose="02020603050405020304" pitchFamily="18" charset="0"/>
              </a:rPr>
              <a:t>PRIMARY KEY : </a:t>
            </a:r>
            <a:r>
              <a:rPr lang="fr-FR" sz="2400" dirty="0">
                <a:latin typeface="Times New Roman" panose="02020603050405020304" pitchFamily="18" charset="0"/>
                <a:cs typeface="Times New Roman" panose="02020603050405020304" pitchFamily="18" charset="0"/>
              </a:rPr>
              <a:t>C'est une colonne qui est forcément NOT NULL et UNIQUE.</a:t>
            </a:r>
          </a:p>
          <a:p>
            <a:endParaRPr lang="fr-FR" sz="2400" dirty="0"/>
          </a:p>
          <a:p>
            <a:pPr>
              <a:lnSpc>
                <a:spcPct val="150000"/>
              </a:lnSpc>
            </a:pPr>
            <a:endParaRPr lang="fr-FR" sz="2400" dirty="0" smtClean="0">
              <a:latin typeface="Times New Roman" panose="02020603050405020304" pitchFamily="18" charset="0"/>
              <a:cs typeface="Times New Roman" panose="02020603050405020304" pitchFamily="18" charset="0"/>
            </a:endParaRPr>
          </a:p>
          <a:p>
            <a:pPr>
              <a:lnSpc>
                <a:spcPct val="150000"/>
              </a:lnSpc>
            </a:pPr>
            <a:endParaRPr lang="fr-FR" sz="2400" dirty="0" smtClean="0">
              <a:latin typeface="Times New Roman" panose="02020603050405020304" pitchFamily="18" charset="0"/>
              <a:cs typeface="Times New Roman" panose="02020603050405020304" pitchFamily="18" charset="0"/>
            </a:endParaRPr>
          </a:p>
          <a:p>
            <a:pPr>
              <a:lnSpc>
                <a:spcPct val="150000"/>
              </a:lnSpc>
            </a:pPr>
            <a:endParaRPr lang="fr-FR" sz="2400" dirty="0">
              <a:latin typeface="Times New Roman" panose="02020603050405020304" pitchFamily="18" charset="0"/>
              <a:cs typeface="Times New Roman" panose="02020603050405020304" pitchFamily="18" charset="0"/>
            </a:endParaRPr>
          </a:p>
          <a:p>
            <a:pPr>
              <a:lnSpc>
                <a:spcPct val="150000"/>
              </a:lnSpc>
            </a:pPr>
            <a:endParaRPr lang="fr-FR" sz="2400" dirty="0">
              <a:latin typeface="Times New Roman" panose="02020603050405020304" pitchFamily="18" charset="0"/>
              <a:cs typeface="Times New Roman" panose="02020603050405020304" pitchFamily="18" charset="0"/>
            </a:endParaRPr>
          </a:p>
          <a:p>
            <a:pPr>
              <a:lnSpc>
                <a:spcPct val="150000"/>
              </a:lnSpc>
            </a:pPr>
            <a:r>
              <a:rPr lang="fr-FR" sz="2400" dirty="0" smtClean="0">
                <a:latin typeface="Times New Roman" panose="02020603050405020304" pitchFamily="18" charset="0"/>
                <a:cs typeface="Times New Roman" panose="02020603050405020304" pitchFamily="18" charset="0"/>
              </a:rPr>
              <a:t>Appropriée </a:t>
            </a:r>
            <a:r>
              <a:rPr lang="fr-FR" sz="2400" dirty="0">
                <a:latin typeface="Times New Roman" panose="02020603050405020304" pitchFamily="18" charset="0"/>
                <a:cs typeface="Times New Roman" panose="02020603050405020304" pitchFamily="18" charset="0"/>
              </a:rPr>
              <a:t>pour les </a:t>
            </a:r>
            <a:r>
              <a:rPr lang="fr-FR" sz="2400" dirty="0" smtClean="0">
                <a:latin typeface="Times New Roman" panose="02020603050405020304" pitchFamily="18" charset="0"/>
                <a:cs typeface="Times New Roman" panose="02020603050405020304" pitchFamily="18" charset="0"/>
              </a:rPr>
              <a:t>clés </a:t>
            </a:r>
            <a:r>
              <a:rPr lang="fr-FR" sz="2400" dirty="0">
                <a:latin typeface="Times New Roman" panose="02020603050405020304" pitchFamily="18" charset="0"/>
                <a:cs typeface="Times New Roman" panose="02020603050405020304" pitchFamily="18" charset="0"/>
              </a:rPr>
              <a:t>primaires </a:t>
            </a:r>
            <a:r>
              <a:rPr lang="fr-FR" sz="2400" dirty="0" smtClean="0">
                <a:latin typeface="Times New Roman" panose="02020603050405020304" pitchFamily="18" charset="0"/>
                <a:cs typeface="Times New Roman" panose="02020603050405020304" pitchFamily="18" charset="0"/>
              </a:rPr>
              <a:t>composée </a:t>
            </a:r>
            <a:r>
              <a:rPr lang="fr-FR" sz="2400" dirty="0">
                <a:latin typeface="Times New Roman" panose="02020603050405020304" pitchFamily="18" charset="0"/>
                <a:cs typeface="Times New Roman" panose="02020603050405020304" pitchFamily="18" charset="0"/>
              </a:rPr>
              <a:t>de </a:t>
            </a:r>
            <a:r>
              <a:rPr lang="fr-FR" sz="2400" dirty="0" smtClean="0">
                <a:latin typeface="Times New Roman" panose="02020603050405020304" pitchFamily="18" charset="0"/>
                <a:cs typeface="Times New Roman" panose="02020603050405020304" pitchFamily="18" charset="0"/>
              </a:rPr>
              <a:t>plusieurs </a:t>
            </a:r>
            <a:r>
              <a:rPr lang="fr-FR" sz="2400" dirty="0">
                <a:latin typeface="Times New Roman" panose="02020603050405020304" pitchFamily="18" charset="0"/>
                <a:cs typeface="Times New Roman" panose="02020603050405020304" pitchFamily="18" charset="0"/>
              </a:rPr>
              <a:t>attributs: on cite les attributs qui compose la </a:t>
            </a:r>
            <a:r>
              <a:rPr lang="fr-FR" sz="2400" dirty="0" smtClean="0">
                <a:latin typeface="Times New Roman" panose="02020603050405020304" pitchFamily="18" charset="0"/>
                <a:cs typeface="Times New Roman" panose="02020603050405020304" pitchFamily="18" charset="0"/>
              </a:rPr>
              <a:t>cl</a:t>
            </a:r>
            <a:r>
              <a:rPr lang="fr-FR" sz="2400" dirty="0">
                <a:latin typeface="Times New Roman" panose="02020603050405020304" pitchFamily="18" charset="0"/>
                <a:cs typeface="Times New Roman" panose="02020603050405020304" pitchFamily="18" charset="0"/>
              </a:rPr>
              <a:t>é</a:t>
            </a: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primaire entre les </a:t>
            </a:r>
            <a:r>
              <a:rPr lang="fr-FR" sz="2400" dirty="0" smtClean="0">
                <a:latin typeface="Times New Roman" panose="02020603050405020304" pitchFamily="18" charset="0"/>
                <a:cs typeface="Times New Roman" panose="02020603050405020304" pitchFamily="18" charset="0"/>
              </a:rPr>
              <a:t>parenthèses</a:t>
            </a:r>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séparés </a:t>
            </a:r>
            <a:r>
              <a:rPr lang="fr-FR" sz="2400" dirty="0">
                <a:latin typeface="Times New Roman" panose="02020603050405020304" pitchFamily="18" charset="0"/>
                <a:cs typeface="Times New Roman" panose="02020603050405020304" pitchFamily="18" charset="0"/>
              </a:rPr>
              <a:t>par les virgules.</a:t>
            </a:r>
          </a:p>
        </p:txBody>
      </p:sp>
      <p:pic>
        <p:nvPicPr>
          <p:cNvPr id="4" name="Image 3"/>
          <p:cNvPicPr>
            <a:picLocks noChangeAspect="1"/>
          </p:cNvPicPr>
          <p:nvPr/>
        </p:nvPicPr>
        <p:blipFill>
          <a:blip r:embed="rId3"/>
          <a:stretch>
            <a:fillRect/>
          </a:stretch>
        </p:blipFill>
        <p:spPr>
          <a:xfrm>
            <a:off x="1507055" y="2984100"/>
            <a:ext cx="3257544" cy="1583667"/>
          </a:xfrm>
          <a:prstGeom prst="rect">
            <a:avLst/>
          </a:prstGeom>
        </p:spPr>
      </p:pic>
      <p:sp>
        <p:nvSpPr>
          <p:cNvPr id="5" name="ZoneTexte 4"/>
          <p:cNvSpPr txBox="1"/>
          <p:nvPr/>
        </p:nvSpPr>
        <p:spPr>
          <a:xfrm>
            <a:off x="5635815" y="3623130"/>
            <a:ext cx="630301" cy="461665"/>
          </a:xfrm>
          <a:prstGeom prst="rect">
            <a:avLst/>
          </a:prstGeom>
          <a:noFill/>
        </p:spPr>
        <p:txBody>
          <a:bodyPr wrap="none" rtlCol="0">
            <a:spAutoFit/>
          </a:bodyPr>
          <a:lstStyle/>
          <a:p>
            <a:r>
              <a:rPr lang="fr-FR" sz="2400" dirty="0">
                <a:solidFill>
                  <a:schemeClr val="dk1"/>
                </a:solidFill>
                <a:latin typeface="Times New Roman" panose="02020603050405020304" pitchFamily="18" charset="0"/>
                <a:cs typeface="Times New Roman" panose="02020603050405020304" pitchFamily="18" charset="0"/>
              </a:rPr>
              <a:t>OU</a:t>
            </a:r>
            <a:endParaRPr lang="fr-FR" sz="2400" dirty="0">
              <a:solidFill>
                <a:schemeClr val="dk1"/>
              </a:solidFill>
              <a:latin typeface="Times New Roman" panose="02020603050405020304" pitchFamily="18" charset="0"/>
              <a:cs typeface="Times New Roman" panose="02020603050405020304" pitchFamily="18" charset="0"/>
            </a:endParaRPr>
          </a:p>
        </p:txBody>
      </p:sp>
      <p:pic>
        <p:nvPicPr>
          <p:cNvPr id="6" name="Image 5"/>
          <p:cNvPicPr>
            <a:picLocks noChangeAspect="1"/>
          </p:cNvPicPr>
          <p:nvPr/>
        </p:nvPicPr>
        <p:blipFill>
          <a:blip r:embed="rId4"/>
          <a:stretch>
            <a:fillRect/>
          </a:stretch>
        </p:blipFill>
        <p:spPr>
          <a:xfrm>
            <a:off x="7767634" y="3027073"/>
            <a:ext cx="2476617" cy="2115444"/>
          </a:xfrm>
          <a:prstGeom prst="rect">
            <a:avLst/>
          </a:prstGeom>
        </p:spPr>
      </p:pic>
    </p:spTree>
    <p:extLst>
      <p:ext uri="{BB962C8B-B14F-4D97-AF65-F5344CB8AC3E}">
        <p14:creationId xmlns:p14="http://schemas.microsoft.com/office/powerpoint/2010/main" val="3147609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BB82EF0-0CEC-0569-CBE9-0A9DCE31C245}"/>
            </a:ext>
          </a:extLst>
        </p:cNvPr>
        <p:cNvGrpSpPr/>
        <p:nvPr/>
      </p:nvGrpSpPr>
      <p:grpSpPr>
        <a:xfrm>
          <a:off x="0" y="0"/>
          <a:ext cx="0" cy="0"/>
          <a:chOff x="0" y="0"/>
          <a:chExt cx="0" cy="0"/>
        </a:xfrm>
      </p:grpSpPr>
      <p:sp>
        <p:nvSpPr>
          <p:cNvPr id="13" name="Rectangle 12"/>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p:nvPr/>
        </p:nvSpPr>
        <p:spPr>
          <a:xfrm>
            <a:off x="5819887" y="544471"/>
            <a:ext cx="6372113"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p:cNvSpPr txBox="1"/>
          <p:nvPr/>
        </p:nvSpPr>
        <p:spPr>
          <a:xfrm>
            <a:off x="1943682" y="301808"/>
            <a:ext cx="4388288" cy="523220"/>
          </a:xfrm>
          <a:prstGeom prst="rect">
            <a:avLst/>
          </a:prstGeom>
          <a:noFill/>
        </p:spPr>
        <p:txBody>
          <a:bodyPr wrap="square" rtlCol="0">
            <a:spAutoFit/>
          </a:bodyPr>
          <a:lstStyle/>
          <a:p>
            <a:r>
              <a:rPr lang="fr-FR" sz="2800" b="1" dirty="0" smtClean="0">
                <a:latin typeface="Times New Roman" panose="02020603050405020304" pitchFamily="18" charset="0"/>
                <a:cs typeface="Times New Roman" panose="02020603050405020304" pitchFamily="18" charset="0"/>
              </a:rPr>
              <a:t>Contraintes d’intégrité </a:t>
            </a:r>
            <a:endParaRPr lang="fr-FR" sz="2800" b="1" dirty="0">
              <a:latin typeface="Times New Roman" panose="02020603050405020304" pitchFamily="18" charset="0"/>
              <a:cs typeface="Times New Roman" panose="02020603050405020304" pitchFamily="18" charset="0"/>
            </a:endParaRPr>
          </a:p>
        </p:txBody>
      </p:sp>
      <p:sp>
        <p:nvSpPr>
          <p:cNvPr id="11" name="ZoneTexte 10"/>
          <p:cNvSpPr txBox="1"/>
          <p:nvPr/>
        </p:nvSpPr>
        <p:spPr>
          <a:xfrm>
            <a:off x="796515" y="1349219"/>
            <a:ext cx="10649621" cy="489364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50000"/>
              </a:lnSpc>
            </a:pPr>
            <a:r>
              <a:rPr lang="fr-FR" sz="2400" b="1" dirty="0">
                <a:latin typeface="Times New Roman" panose="02020603050405020304" pitchFamily="18" charset="0"/>
                <a:cs typeface="Times New Roman" panose="02020603050405020304" pitchFamily="18" charset="0"/>
              </a:rPr>
              <a:t>2. L'Intégrité d'Entité (La Clé Primaire)</a:t>
            </a:r>
          </a:p>
          <a:p>
            <a:pPr>
              <a:lnSpc>
                <a:spcPct val="150000"/>
              </a:lnSpc>
            </a:pPr>
            <a:r>
              <a:rPr lang="fr-FR" sz="2400" dirty="0">
                <a:latin typeface="Times New Roman" panose="02020603050405020304" pitchFamily="18" charset="0"/>
                <a:cs typeface="Times New Roman" panose="02020603050405020304" pitchFamily="18" charset="0"/>
              </a:rPr>
              <a:t>C'est la règle la plus importante. Chaque ligne d'une table doit être </a:t>
            </a:r>
            <a:r>
              <a:rPr lang="fr-FR" sz="2400" b="1" dirty="0">
                <a:latin typeface="Times New Roman" panose="02020603050405020304" pitchFamily="18" charset="0"/>
                <a:cs typeface="Times New Roman" panose="02020603050405020304" pitchFamily="18" charset="0"/>
              </a:rPr>
              <a:t>unique</a:t>
            </a:r>
            <a:r>
              <a:rPr lang="fr-FR" sz="2400" dirty="0">
                <a:latin typeface="Times New Roman" panose="02020603050405020304" pitchFamily="18" charset="0"/>
                <a:cs typeface="Times New Roman" panose="02020603050405020304" pitchFamily="18" charset="0"/>
              </a:rPr>
              <a:t> et </a:t>
            </a:r>
            <a:r>
              <a:rPr lang="fr-FR" sz="2400" b="1" dirty="0">
                <a:latin typeface="Times New Roman" panose="02020603050405020304" pitchFamily="18" charset="0"/>
                <a:cs typeface="Times New Roman" panose="02020603050405020304" pitchFamily="18" charset="0"/>
              </a:rPr>
              <a:t>identifiable</a:t>
            </a:r>
            <a:r>
              <a:rPr lang="fr-FR" sz="2400" dirty="0">
                <a:latin typeface="Times New Roman" panose="02020603050405020304" pitchFamily="18" charset="0"/>
                <a:cs typeface="Times New Roman" panose="02020603050405020304" pitchFamily="18" charset="0"/>
              </a:rPr>
              <a:t>.</a:t>
            </a:r>
          </a:p>
          <a:p>
            <a:pPr>
              <a:lnSpc>
                <a:spcPct val="150000"/>
              </a:lnSpc>
            </a:pPr>
            <a:r>
              <a:rPr lang="fr-FR" sz="2400" b="1" dirty="0">
                <a:solidFill>
                  <a:schemeClr val="accent1">
                    <a:lumMod val="75000"/>
                  </a:schemeClr>
                </a:solidFill>
                <a:latin typeface="Times New Roman" panose="02020603050405020304" pitchFamily="18" charset="0"/>
                <a:cs typeface="Times New Roman" panose="02020603050405020304" pitchFamily="18" charset="0"/>
              </a:rPr>
              <a:t>PRIMARY KEY : </a:t>
            </a:r>
            <a:r>
              <a:rPr lang="fr-FR" sz="2400" dirty="0">
                <a:latin typeface="Times New Roman" panose="02020603050405020304" pitchFamily="18" charset="0"/>
                <a:cs typeface="Times New Roman" panose="02020603050405020304" pitchFamily="18" charset="0"/>
              </a:rPr>
              <a:t>C'est une colonne qui est forcément NOT NULL et UNIQUE.</a:t>
            </a:r>
          </a:p>
          <a:p>
            <a:pPr>
              <a:lnSpc>
                <a:spcPct val="150000"/>
              </a:lnSpc>
            </a:pPr>
            <a:r>
              <a:rPr lang="fr-FR" sz="2400" b="1" dirty="0">
                <a:solidFill>
                  <a:schemeClr val="accent1">
                    <a:lumMod val="75000"/>
                  </a:schemeClr>
                </a:solidFill>
                <a:latin typeface="Times New Roman" panose="02020603050405020304" pitchFamily="18" charset="0"/>
                <a:cs typeface="Times New Roman" panose="02020603050405020304" pitchFamily="18" charset="0"/>
              </a:rPr>
              <a:t>AUTO_INCREMENT : </a:t>
            </a:r>
            <a:r>
              <a:rPr lang="fr-FR" sz="2400" dirty="0">
                <a:latin typeface="Times New Roman" panose="02020603050405020304" pitchFamily="18" charset="0"/>
                <a:cs typeface="Times New Roman" panose="02020603050405020304" pitchFamily="18" charset="0"/>
              </a:rPr>
              <a:t>MySQL donne automatiquement le numéro suivant (1, 2, 3...) pour éviter les erreurs humaines.</a:t>
            </a:r>
          </a:p>
          <a:p>
            <a:endParaRPr lang="fr-FR" sz="2400" dirty="0"/>
          </a:p>
          <a:p>
            <a:pPr>
              <a:lnSpc>
                <a:spcPct val="150000"/>
              </a:lnSpc>
            </a:pPr>
            <a:endParaRPr lang="fr-FR" sz="2400" dirty="0" smtClean="0">
              <a:latin typeface="Times New Roman" panose="02020603050405020304" pitchFamily="18" charset="0"/>
              <a:cs typeface="Times New Roman" panose="02020603050405020304" pitchFamily="18" charset="0"/>
            </a:endParaRPr>
          </a:p>
          <a:p>
            <a:pPr>
              <a:lnSpc>
                <a:spcPct val="150000"/>
              </a:lnSpc>
            </a:pPr>
            <a:endParaRPr lang="fr-FR" sz="2400" dirty="0">
              <a:latin typeface="Times New Roman" panose="02020603050405020304" pitchFamily="18" charset="0"/>
              <a:cs typeface="Times New Roman" panose="02020603050405020304" pitchFamily="18" charset="0"/>
            </a:endParaRPr>
          </a:p>
        </p:txBody>
      </p:sp>
      <p:pic>
        <p:nvPicPr>
          <p:cNvPr id="3" name="Image 2"/>
          <p:cNvPicPr>
            <a:picLocks noChangeAspect="1"/>
          </p:cNvPicPr>
          <p:nvPr/>
        </p:nvPicPr>
        <p:blipFill>
          <a:blip r:embed="rId3"/>
          <a:stretch>
            <a:fillRect/>
          </a:stretch>
        </p:blipFill>
        <p:spPr>
          <a:xfrm>
            <a:off x="6078295" y="4630670"/>
            <a:ext cx="5180000" cy="1436641"/>
          </a:xfrm>
          <a:prstGeom prst="rect">
            <a:avLst/>
          </a:prstGeom>
        </p:spPr>
      </p:pic>
    </p:spTree>
    <p:extLst>
      <p:ext uri="{BB962C8B-B14F-4D97-AF65-F5344CB8AC3E}">
        <p14:creationId xmlns:p14="http://schemas.microsoft.com/office/powerpoint/2010/main" val="3045198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BB82EF0-0CEC-0569-CBE9-0A9DCE31C245}"/>
            </a:ext>
          </a:extLst>
        </p:cNvPr>
        <p:cNvGrpSpPr/>
        <p:nvPr/>
      </p:nvGrpSpPr>
      <p:grpSpPr>
        <a:xfrm>
          <a:off x="0" y="0"/>
          <a:ext cx="0" cy="0"/>
          <a:chOff x="0" y="0"/>
          <a:chExt cx="0" cy="0"/>
        </a:xfrm>
      </p:grpSpPr>
      <p:sp>
        <p:nvSpPr>
          <p:cNvPr id="13" name="Rectangle 12"/>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p:nvPr/>
        </p:nvSpPr>
        <p:spPr>
          <a:xfrm>
            <a:off x="5819887" y="544471"/>
            <a:ext cx="6372113"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p:cNvSpPr txBox="1"/>
          <p:nvPr/>
        </p:nvSpPr>
        <p:spPr>
          <a:xfrm>
            <a:off x="1943682" y="301808"/>
            <a:ext cx="4388288" cy="523220"/>
          </a:xfrm>
          <a:prstGeom prst="rect">
            <a:avLst/>
          </a:prstGeom>
          <a:noFill/>
        </p:spPr>
        <p:txBody>
          <a:bodyPr wrap="square" rtlCol="0">
            <a:spAutoFit/>
          </a:bodyPr>
          <a:lstStyle/>
          <a:p>
            <a:r>
              <a:rPr lang="fr-FR" sz="2800" b="1" dirty="0" smtClean="0">
                <a:latin typeface="Times New Roman" panose="02020603050405020304" pitchFamily="18" charset="0"/>
                <a:cs typeface="Times New Roman" panose="02020603050405020304" pitchFamily="18" charset="0"/>
              </a:rPr>
              <a:t>Contraintes d’intégrité </a:t>
            </a:r>
            <a:endParaRPr lang="fr-FR" sz="2800" b="1" dirty="0">
              <a:latin typeface="Times New Roman" panose="02020603050405020304" pitchFamily="18" charset="0"/>
              <a:cs typeface="Times New Roman" panose="02020603050405020304" pitchFamily="18" charset="0"/>
            </a:endParaRPr>
          </a:p>
        </p:txBody>
      </p:sp>
      <p:sp>
        <p:nvSpPr>
          <p:cNvPr id="11" name="ZoneTexte 10"/>
          <p:cNvSpPr txBox="1"/>
          <p:nvPr/>
        </p:nvSpPr>
        <p:spPr>
          <a:xfrm>
            <a:off x="796515" y="1349219"/>
            <a:ext cx="10649621" cy="305468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lnSpc>
                <a:spcPts val="3300"/>
              </a:lnSpc>
            </a:pPr>
            <a:r>
              <a:rPr lang="fr-FR" sz="2400" b="1" dirty="0">
                <a:latin typeface="Times New Roman" panose="02020603050405020304" pitchFamily="18" charset="0"/>
                <a:cs typeface="Times New Roman" panose="02020603050405020304" pitchFamily="18" charset="0"/>
              </a:rPr>
              <a:t>3. L'Intégrité Référentielle (La Clé Étrangère)</a:t>
            </a:r>
          </a:p>
          <a:p>
            <a:pPr algn="just">
              <a:lnSpc>
                <a:spcPts val="3300"/>
              </a:lnSpc>
            </a:pPr>
            <a:r>
              <a:rPr lang="fr-FR" sz="2400" dirty="0">
                <a:latin typeface="Times New Roman" panose="02020603050405020304" pitchFamily="18" charset="0"/>
                <a:cs typeface="Times New Roman" panose="02020603050405020304" pitchFamily="18" charset="0"/>
              </a:rPr>
              <a:t>C'est ce qui lie les tables entre elles. Elle garantit qu'on ne peut pas inscrire un étudiant qui n'existe pas à un cours qui n'existe pas.</a:t>
            </a:r>
          </a:p>
          <a:p>
            <a:pPr algn="just">
              <a:lnSpc>
                <a:spcPts val="3300"/>
              </a:lnSpc>
            </a:pPr>
            <a:r>
              <a:rPr lang="fr-FR" sz="2400" b="1" dirty="0">
                <a:solidFill>
                  <a:schemeClr val="accent1">
                    <a:lumMod val="75000"/>
                  </a:schemeClr>
                </a:solidFill>
                <a:latin typeface="Times New Roman" panose="02020603050405020304" pitchFamily="18" charset="0"/>
                <a:cs typeface="Times New Roman" panose="02020603050405020304" pitchFamily="18" charset="0"/>
              </a:rPr>
              <a:t>FOREIGN KEY : </a:t>
            </a:r>
            <a:r>
              <a:rPr lang="fr-FR" sz="2400" dirty="0">
                <a:latin typeface="Times New Roman" panose="02020603050405020304" pitchFamily="18" charset="0"/>
                <a:cs typeface="Times New Roman" panose="02020603050405020304" pitchFamily="18" charset="0"/>
              </a:rPr>
              <a:t>Une colonne dans une table (ex: </a:t>
            </a:r>
            <a:r>
              <a:rPr lang="fr-FR" sz="2400" dirty="0" err="1">
                <a:latin typeface="Times New Roman" panose="02020603050405020304" pitchFamily="18" charset="0"/>
                <a:cs typeface="Times New Roman" panose="02020603050405020304" pitchFamily="18" charset="0"/>
              </a:rPr>
              <a:t>id_etudiant</a:t>
            </a:r>
            <a:r>
              <a:rPr lang="fr-FR" sz="2400" dirty="0">
                <a:latin typeface="Times New Roman" panose="02020603050405020304" pitchFamily="18" charset="0"/>
                <a:cs typeface="Times New Roman" panose="02020603050405020304" pitchFamily="18" charset="0"/>
              </a:rPr>
              <a:t> dans inscriptions) qui doit correspondre à une valeur existante dans une autre table (</a:t>
            </a:r>
            <a:r>
              <a:rPr lang="fr-FR" sz="2400" dirty="0" err="1">
                <a:latin typeface="Times New Roman" panose="02020603050405020304" pitchFamily="18" charset="0"/>
                <a:cs typeface="Times New Roman" panose="02020603050405020304" pitchFamily="18" charset="0"/>
              </a:rPr>
              <a:t>id_etudiant</a:t>
            </a:r>
            <a:r>
              <a:rPr lang="fr-FR" sz="2400" dirty="0">
                <a:latin typeface="Times New Roman" panose="02020603050405020304" pitchFamily="18" charset="0"/>
                <a:cs typeface="Times New Roman" panose="02020603050405020304" pitchFamily="18" charset="0"/>
              </a:rPr>
              <a:t> dans </a:t>
            </a:r>
            <a:r>
              <a:rPr lang="fr-FR" sz="2400" dirty="0" err="1">
                <a:latin typeface="Times New Roman" panose="02020603050405020304" pitchFamily="18" charset="0"/>
                <a:cs typeface="Times New Roman" panose="02020603050405020304" pitchFamily="18" charset="0"/>
              </a:rPr>
              <a:t>etudiants</a:t>
            </a:r>
            <a:r>
              <a:rPr lang="fr-FR" sz="2400" dirty="0" smtClean="0">
                <a:latin typeface="Times New Roman" panose="02020603050405020304" pitchFamily="18" charset="0"/>
                <a:cs typeface="Times New Roman" panose="02020603050405020304" pitchFamily="18" charset="0"/>
              </a:rPr>
              <a:t>).</a:t>
            </a:r>
            <a:endParaRPr lang="fr-FR" sz="2400" dirty="0"/>
          </a:p>
          <a:p>
            <a:pPr algn="just">
              <a:lnSpc>
                <a:spcPts val="3300"/>
              </a:lnSpc>
            </a:pPr>
            <a:endParaRPr lang="fr-F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8845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BB82EF0-0CEC-0569-CBE9-0A9DCE31C245}"/>
            </a:ext>
          </a:extLst>
        </p:cNvPr>
        <p:cNvGrpSpPr/>
        <p:nvPr/>
      </p:nvGrpSpPr>
      <p:grpSpPr>
        <a:xfrm>
          <a:off x="0" y="0"/>
          <a:ext cx="0" cy="0"/>
          <a:chOff x="0" y="0"/>
          <a:chExt cx="0" cy="0"/>
        </a:xfrm>
      </p:grpSpPr>
      <p:sp>
        <p:nvSpPr>
          <p:cNvPr id="13" name="Rectangle 12"/>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p:nvPr/>
        </p:nvSpPr>
        <p:spPr>
          <a:xfrm>
            <a:off x="5819887" y="544471"/>
            <a:ext cx="6372113"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p:cNvSpPr txBox="1"/>
          <p:nvPr/>
        </p:nvSpPr>
        <p:spPr>
          <a:xfrm>
            <a:off x="1943682" y="301808"/>
            <a:ext cx="4388288" cy="523220"/>
          </a:xfrm>
          <a:prstGeom prst="rect">
            <a:avLst/>
          </a:prstGeom>
          <a:noFill/>
        </p:spPr>
        <p:txBody>
          <a:bodyPr wrap="square" rtlCol="0">
            <a:spAutoFit/>
          </a:bodyPr>
          <a:lstStyle/>
          <a:p>
            <a:r>
              <a:rPr lang="fr-FR" sz="2800" b="1" dirty="0" smtClean="0">
                <a:latin typeface="Times New Roman" panose="02020603050405020304" pitchFamily="18" charset="0"/>
                <a:cs typeface="Times New Roman" panose="02020603050405020304" pitchFamily="18" charset="0"/>
              </a:rPr>
              <a:t>Contraintes d’intégrité </a:t>
            </a:r>
            <a:endParaRPr lang="fr-FR" sz="2800" b="1" dirty="0">
              <a:latin typeface="Times New Roman" panose="02020603050405020304" pitchFamily="18" charset="0"/>
              <a:cs typeface="Times New Roman" panose="02020603050405020304" pitchFamily="18" charset="0"/>
            </a:endParaRPr>
          </a:p>
        </p:txBody>
      </p:sp>
      <p:sp>
        <p:nvSpPr>
          <p:cNvPr id="11" name="ZoneTexte 10"/>
          <p:cNvSpPr txBox="1"/>
          <p:nvPr/>
        </p:nvSpPr>
        <p:spPr>
          <a:xfrm>
            <a:off x="796515" y="1349219"/>
            <a:ext cx="10649621" cy="484748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sz="2400" b="1" dirty="0" smtClean="0">
                <a:latin typeface="Times New Roman" panose="02020603050405020304" pitchFamily="18" charset="0"/>
                <a:cs typeface="Times New Roman" panose="02020603050405020304" pitchFamily="18" charset="0"/>
              </a:rPr>
              <a:t>ETUDIANTS</a:t>
            </a:r>
            <a:r>
              <a:rPr lang="fr-FR" sz="2400" dirty="0" smtClean="0">
                <a:latin typeface="Times New Roman" panose="02020603050405020304" pitchFamily="18" charset="0"/>
                <a:cs typeface="Times New Roman" panose="02020603050405020304" pitchFamily="18" charset="0"/>
              </a:rPr>
              <a:t> (</a:t>
            </a:r>
            <a:r>
              <a:rPr lang="fr-FR" sz="2400" u="sng" dirty="0" err="1" smtClean="0">
                <a:latin typeface="Times New Roman" panose="02020603050405020304" pitchFamily="18" charset="0"/>
                <a:cs typeface="Times New Roman" panose="02020603050405020304" pitchFamily="18" charset="0"/>
              </a:rPr>
              <a:t>id_etudiant</a:t>
            </a: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nom, </a:t>
            </a:r>
            <a:r>
              <a:rPr lang="fr-FR" sz="2400" dirty="0" err="1">
                <a:latin typeface="Times New Roman" panose="02020603050405020304" pitchFamily="18" charset="0"/>
                <a:cs typeface="Times New Roman" panose="02020603050405020304" pitchFamily="18" charset="0"/>
              </a:rPr>
              <a:t>prenom</a:t>
            </a: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date_naissance</a:t>
            </a:r>
            <a:r>
              <a:rPr lang="fr-FR" sz="2400" dirty="0">
                <a:latin typeface="Times New Roman" panose="02020603050405020304" pitchFamily="18" charset="0"/>
                <a:cs typeface="Times New Roman" panose="02020603050405020304" pitchFamily="18" charset="0"/>
              </a:rPr>
              <a:t>, email, biographie)</a:t>
            </a:r>
          </a:p>
          <a:p>
            <a:r>
              <a:rPr lang="fr-FR" sz="2400" b="1" dirty="0">
                <a:latin typeface="Times New Roman" panose="02020603050405020304" pitchFamily="18" charset="0"/>
                <a:cs typeface="Times New Roman" panose="02020603050405020304" pitchFamily="18" charset="0"/>
              </a:rPr>
              <a:t>COURS</a:t>
            </a:r>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a:t>
            </a:r>
            <a:r>
              <a:rPr lang="fr-FR" sz="2400" u="sng" dirty="0" err="1" smtClean="0">
                <a:latin typeface="Times New Roman" panose="02020603050405020304" pitchFamily="18" charset="0"/>
                <a:cs typeface="Times New Roman" panose="02020603050405020304" pitchFamily="18" charset="0"/>
              </a:rPr>
              <a:t>id_cours</a:t>
            </a: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titre, </a:t>
            </a:r>
            <a:r>
              <a:rPr lang="fr-FR" sz="2400" dirty="0" err="1">
                <a:latin typeface="Times New Roman" panose="02020603050405020304" pitchFamily="18" charset="0"/>
                <a:cs typeface="Times New Roman" panose="02020603050405020304" pitchFamily="18" charset="0"/>
              </a:rPr>
              <a:t>credits</a:t>
            </a:r>
            <a:r>
              <a:rPr lang="fr-FR" sz="2400" dirty="0">
                <a:latin typeface="Times New Roman" panose="02020603050405020304" pitchFamily="18" charset="0"/>
                <a:cs typeface="Times New Roman" panose="02020603050405020304" pitchFamily="18" charset="0"/>
              </a:rPr>
              <a:t>)</a:t>
            </a:r>
          </a:p>
          <a:p>
            <a:r>
              <a:rPr lang="fr-FR" sz="2400" b="1" dirty="0">
                <a:latin typeface="Times New Roman" panose="02020603050405020304" pitchFamily="18" charset="0"/>
                <a:cs typeface="Times New Roman" panose="02020603050405020304" pitchFamily="18" charset="0"/>
              </a:rPr>
              <a:t>INSCRIPTIONS</a:t>
            </a:r>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a:t>
            </a:r>
            <a:r>
              <a:rPr lang="fr-FR" sz="2400" u="sng" dirty="0" err="1" smtClean="0">
                <a:latin typeface="Times New Roman" panose="02020603050405020304" pitchFamily="18" charset="0"/>
                <a:cs typeface="Times New Roman" panose="02020603050405020304" pitchFamily="18" charset="0"/>
              </a:rPr>
              <a:t>id_inscription</a:t>
            </a: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a:t>
            </a:r>
            <a:r>
              <a:rPr lang="fr-FR" sz="2400" dirty="0" err="1">
                <a:latin typeface="Times New Roman" panose="02020603050405020304" pitchFamily="18" charset="0"/>
                <a:cs typeface="Times New Roman" panose="02020603050405020304" pitchFamily="18" charset="0"/>
              </a:rPr>
              <a:t>id_etudiant</a:t>
            </a: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id_cours</a:t>
            </a: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date_inscription</a:t>
            </a: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note_finale</a:t>
            </a:r>
            <a:r>
              <a:rPr lang="fr-FR" sz="2400" dirty="0">
                <a:latin typeface="Times New Roman" panose="02020603050405020304" pitchFamily="18" charset="0"/>
                <a:cs typeface="Times New Roman" panose="02020603050405020304" pitchFamily="18" charset="0"/>
              </a:rPr>
              <a:t>)</a:t>
            </a:r>
          </a:p>
          <a:p>
            <a:endParaRPr lang="fr-FR" sz="2400" dirty="0" smtClean="0"/>
          </a:p>
          <a:p>
            <a:endParaRPr lang="fr-FR" sz="2400" dirty="0"/>
          </a:p>
          <a:p>
            <a:pPr algn="just">
              <a:lnSpc>
                <a:spcPts val="3300"/>
              </a:lnSpc>
            </a:pPr>
            <a:endParaRPr lang="fr-FR" sz="2400" dirty="0" smtClean="0">
              <a:latin typeface="Times New Roman" panose="02020603050405020304" pitchFamily="18" charset="0"/>
              <a:cs typeface="Times New Roman" panose="02020603050405020304" pitchFamily="18" charset="0"/>
            </a:endParaRPr>
          </a:p>
          <a:p>
            <a:pPr algn="just">
              <a:lnSpc>
                <a:spcPts val="3300"/>
              </a:lnSpc>
            </a:pPr>
            <a:endParaRPr lang="fr-FR" sz="2400" dirty="0">
              <a:latin typeface="Times New Roman" panose="02020603050405020304" pitchFamily="18" charset="0"/>
              <a:cs typeface="Times New Roman" panose="02020603050405020304" pitchFamily="18" charset="0"/>
            </a:endParaRPr>
          </a:p>
          <a:p>
            <a:pPr algn="just">
              <a:lnSpc>
                <a:spcPts val="3300"/>
              </a:lnSpc>
            </a:pPr>
            <a:endParaRPr lang="fr-FR" sz="2400" dirty="0" smtClean="0">
              <a:latin typeface="Times New Roman" panose="02020603050405020304" pitchFamily="18" charset="0"/>
              <a:cs typeface="Times New Roman" panose="02020603050405020304" pitchFamily="18" charset="0"/>
            </a:endParaRPr>
          </a:p>
          <a:p>
            <a:pPr algn="just">
              <a:lnSpc>
                <a:spcPts val="3300"/>
              </a:lnSpc>
            </a:pPr>
            <a:endParaRPr lang="fr-FR" sz="2400" dirty="0">
              <a:latin typeface="Times New Roman" panose="02020603050405020304" pitchFamily="18" charset="0"/>
              <a:cs typeface="Times New Roman" panose="02020603050405020304" pitchFamily="18" charset="0"/>
            </a:endParaRPr>
          </a:p>
          <a:p>
            <a:pPr algn="just">
              <a:lnSpc>
                <a:spcPts val="3300"/>
              </a:lnSpc>
            </a:pPr>
            <a:endParaRPr lang="fr-FR" sz="2400" dirty="0" smtClean="0">
              <a:latin typeface="Times New Roman" panose="02020603050405020304" pitchFamily="18" charset="0"/>
              <a:cs typeface="Times New Roman" panose="02020603050405020304" pitchFamily="18" charset="0"/>
            </a:endParaRPr>
          </a:p>
          <a:p>
            <a:pPr algn="just">
              <a:lnSpc>
                <a:spcPts val="3300"/>
              </a:lnSpc>
            </a:pPr>
            <a:endParaRPr lang="fr-FR" sz="2400" dirty="0">
              <a:latin typeface="Times New Roman" panose="02020603050405020304" pitchFamily="18" charset="0"/>
              <a:cs typeface="Times New Roman" panose="02020603050405020304" pitchFamily="18" charset="0"/>
            </a:endParaRPr>
          </a:p>
        </p:txBody>
      </p:sp>
      <p:pic>
        <p:nvPicPr>
          <p:cNvPr id="2" name="Image 1"/>
          <p:cNvPicPr>
            <a:picLocks noChangeAspect="1"/>
          </p:cNvPicPr>
          <p:nvPr/>
        </p:nvPicPr>
        <p:blipFill>
          <a:blip r:embed="rId3"/>
          <a:stretch>
            <a:fillRect/>
          </a:stretch>
        </p:blipFill>
        <p:spPr>
          <a:xfrm>
            <a:off x="1829874" y="2982700"/>
            <a:ext cx="8582901" cy="2998552"/>
          </a:xfrm>
          <a:prstGeom prst="rect">
            <a:avLst/>
          </a:prstGeom>
        </p:spPr>
      </p:pic>
    </p:spTree>
    <p:extLst>
      <p:ext uri="{BB962C8B-B14F-4D97-AF65-F5344CB8AC3E}">
        <p14:creationId xmlns:p14="http://schemas.microsoft.com/office/powerpoint/2010/main" val="3444299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BB82EF0-0CEC-0569-CBE9-0A9DCE31C245}"/>
            </a:ext>
          </a:extLst>
        </p:cNvPr>
        <p:cNvGrpSpPr/>
        <p:nvPr/>
      </p:nvGrpSpPr>
      <p:grpSpPr>
        <a:xfrm>
          <a:off x="0" y="0"/>
          <a:ext cx="0" cy="0"/>
          <a:chOff x="0" y="0"/>
          <a:chExt cx="0" cy="0"/>
        </a:xfrm>
      </p:grpSpPr>
      <p:sp>
        <p:nvSpPr>
          <p:cNvPr id="13" name="Rectangle 12"/>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p:nvPr/>
        </p:nvSpPr>
        <p:spPr>
          <a:xfrm>
            <a:off x="5819887" y="544471"/>
            <a:ext cx="6372113"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p:cNvSpPr txBox="1"/>
          <p:nvPr/>
        </p:nvSpPr>
        <p:spPr>
          <a:xfrm>
            <a:off x="1943682" y="301808"/>
            <a:ext cx="4388288" cy="523220"/>
          </a:xfrm>
          <a:prstGeom prst="rect">
            <a:avLst/>
          </a:prstGeom>
          <a:noFill/>
        </p:spPr>
        <p:txBody>
          <a:bodyPr wrap="square" rtlCol="0">
            <a:spAutoFit/>
          </a:bodyPr>
          <a:lstStyle/>
          <a:p>
            <a:r>
              <a:rPr lang="fr-FR" sz="2800" b="1" dirty="0" smtClean="0">
                <a:latin typeface="Times New Roman" panose="02020603050405020304" pitchFamily="18" charset="0"/>
                <a:cs typeface="Times New Roman" panose="02020603050405020304" pitchFamily="18" charset="0"/>
              </a:rPr>
              <a:t>Contraintes d’intégrité </a:t>
            </a:r>
            <a:endParaRPr lang="fr-FR" sz="2800" b="1" dirty="0">
              <a:latin typeface="Times New Roman" panose="02020603050405020304" pitchFamily="18" charset="0"/>
              <a:cs typeface="Times New Roman" panose="02020603050405020304" pitchFamily="18" charset="0"/>
            </a:endParaRPr>
          </a:p>
        </p:txBody>
      </p:sp>
      <p:sp>
        <p:nvSpPr>
          <p:cNvPr id="11" name="ZoneTexte 10"/>
          <p:cNvSpPr txBox="1"/>
          <p:nvPr/>
        </p:nvSpPr>
        <p:spPr>
          <a:xfrm>
            <a:off x="796515" y="1349219"/>
            <a:ext cx="10649621" cy="432426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nSpc>
                <a:spcPts val="3300"/>
              </a:lnSpc>
            </a:pPr>
            <a:r>
              <a:rPr lang="fr-FR" sz="2400" b="1" dirty="0" smtClean="0">
                <a:latin typeface="Times New Roman" panose="02020603050405020304" pitchFamily="18" charset="0"/>
                <a:cs typeface="Times New Roman" panose="02020603050405020304" pitchFamily="18" charset="0"/>
              </a:rPr>
              <a:t>4</a:t>
            </a:r>
            <a:r>
              <a:rPr lang="fr-FR" sz="2400" b="1" dirty="0">
                <a:latin typeface="Times New Roman" panose="02020603050405020304" pitchFamily="18" charset="0"/>
                <a:cs typeface="Times New Roman" panose="02020603050405020304" pitchFamily="18" charset="0"/>
              </a:rPr>
              <a:t>. L'Intégrité d'Unicité (UNIQUE</a:t>
            </a:r>
            <a:r>
              <a:rPr lang="fr-FR" sz="2400" b="1" dirty="0" smtClean="0">
                <a:latin typeface="Times New Roman" panose="02020603050405020304" pitchFamily="18" charset="0"/>
                <a:cs typeface="Times New Roman" panose="02020603050405020304" pitchFamily="18" charset="0"/>
              </a:rPr>
              <a:t>)</a:t>
            </a:r>
          </a:p>
          <a:p>
            <a:pPr>
              <a:lnSpc>
                <a:spcPts val="3300"/>
              </a:lnSpc>
            </a:pPr>
            <a:endParaRPr lang="fr-FR" sz="2400" b="1" dirty="0">
              <a:latin typeface="Times New Roman" panose="02020603050405020304" pitchFamily="18" charset="0"/>
              <a:cs typeface="Times New Roman" panose="02020603050405020304" pitchFamily="18" charset="0"/>
            </a:endParaRPr>
          </a:p>
          <a:p>
            <a:pPr>
              <a:lnSpc>
                <a:spcPts val="3300"/>
              </a:lnSpc>
            </a:pPr>
            <a:r>
              <a:rPr lang="fr-FR" sz="2400" dirty="0">
                <a:latin typeface="Times New Roman" panose="02020603050405020304" pitchFamily="18" charset="0"/>
                <a:cs typeface="Times New Roman" panose="02020603050405020304" pitchFamily="18" charset="0"/>
              </a:rPr>
              <a:t>L'unicité (UNIQUE) est une contrainte qui garantit qu'aucune valeur ne se répète dans une colonne spécifique, tout en autorisant généralement plusieurs colonnes uniques dans une même table.</a:t>
            </a:r>
          </a:p>
          <a:p>
            <a:pPr>
              <a:lnSpc>
                <a:spcPts val="3300"/>
              </a:lnSpc>
            </a:pPr>
            <a:endParaRPr lang="fr-FR" sz="2400" dirty="0" smtClean="0">
              <a:latin typeface="Times New Roman" panose="02020603050405020304" pitchFamily="18" charset="0"/>
              <a:cs typeface="Times New Roman" panose="02020603050405020304" pitchFamily="18" charset="0"/>
            </a:endParaRPr>
          </a:p>
          <a:p>
            <a:pPr>
              <a:lnSpc>
                <a:spcPts val="3300"/>
              </a:lnSpc>
            </a:pPr>
            <a:r>
              <a:rPr lang="fr-FR" sz="2400" dirty="0" smtClean="0">
                <a:latin typeface="Times New Roman" panose="02020603050405020304" pitchFamily="18" charset="0"/>
                <a:cs typeface="Times New Roman" panose="02020603050405020304" pitchFamily="18" charset="0"/>
              </a:rPr>
              <a:t>À </a:t>
            </a:r>
            <a:r>
              <a:rPr lang="fr-FR" sz="2400" dirty="0">
                <a:latin typeface="Times New Roman" panose="02020603050405020304" pitchFamily="18" charset="0"/>
                <a:cs typeface="Times New Roman" panose="02020603050405020304" pitchFamily="18" charset="0"/>
              </a:rPr>
              <a:t>ne pas confondre avec la clé primaire. Une table n'a qu'une seule clé primaire, mais peut avoir plusieurs colonnes uniques.</a:t>
            </a:r>
          </a:p>
          <a:p>
            <a:pPr>
              <a:lnSpc>
                <a:spcPts val="3300"/>
              </a:lnSpc>
            </a:pPr>
            <a:r>
              <a:rPr lang="fr-FR" sz="2400" b="1" dirty="0">
                <a:latin typeface="Times New Roman" panose="02020603050405020304" pitchFamily="18" charset="0"/>
                <a:cs typeface="Times New Roman" panose="02020603050405020304" pitchFamily="18" charset="0"/>
              </a:rPr>
              <a:t>Exemple :</a:t>
            </a:r>
            <a:r>
              <a:rPr lang="fr-FR" sz="2400" dirty="0">
                <a:latin typeface="Times New Roman" panose="02020603050405020304" pitchFamily="18" charset="0"/>
                <a:cs typeface="Times New Roman" panose="02020603050405020304" pitchFamily="18" charset="0"/>
              </a:rPr>
              <a:t> L'adresse email doit être </a:t>
            </a:r>
            <a:r>
              <a:rPr lang="fr-FR" sz="2400" b="1" dirty="0">
                <a:solidFill>
                  <a:schemeClr val="accent1">
                    <a:lumMod val="75000"/>
                  </a:schemeClr>
                </a:solidFill>
                <a:latin typeface="Times New Roman" panose="02020603050405020304" pitchFamily="18" charset="0"/>
                <a:cs typeface="Times New Roman" panose="02020603050405020304" pitchFamily="18" charset="0"/>
              </a:rPr>
              <a:t>UNIQUE</a:t>
            </a:r>
            <a:r>
              <a:rPr lang="fr-FR" sz="2400" dirty="0">
                <a:latin typeface="Times New Roman" panose="02020603050405020304" pitchFamily="18" charset="0"/>
                <a:cs typeface="Times New Roman" panose="02020603050405020304" pitchFamily="18" charset="0"/>
              </a:rPr>
              <a:t>. Deux étudiants différents ne peuvent pas avoir le même email</a:t>
            </a:r>
            <a:r>
              <a:rPr lang="fr-FR" sz="2400" dirty="0" smtClean="0">
                <a:latin typeface="Times New Roman" panose="02020603050405020304" pitchFamily="18" charset="0"/>
                <a:cs typeface="Times New Roman" panose="02020603050405020304" pitchFamily="18" charset="0"/>
              </a:rPr>
              <a:t>.</a:t>
            </a:r>
            <a:endParaRPr lang="fr-F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7629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BB82EF0-0CEC-0569-CBE9-0A9DCE31C245}"/>
            </a:ext>
          </a:extLst>
        </p:cNvPr>
        <p:cNvGrpSpPr/>
        <p:nvPr/>
      </p:nvGrpSpPr>
      <p:grpSpPr>
        <a:xfrm>
          <a:off x="0" y="0"/>
          <a:ext cx="0" cy="0"/>
          <a:chOff x="0" y="0"/>
          <a:chExt cx="0" cy="0"/>
        </a:xfrm>
      </p:grpSpPr>
      <p:sp>
        <p:nvSpPr>
          <p:cNvPr id="13" name="Rectangle 12"/>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p:nvPr/>
        </p:nvSpPr>
        <p:spPr>
          <a:xfrm>
            <a:off x="5819887" y="544471"/>
            <a:ext cx="6372113"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p:cNvSpPr txBox="1"/>
          <p:nvPr/>
        </p:nvSpPr>
        <p:spPr>
          <a:xfrm>
            <a:off x="1943682" y="301808"/>
            <a:ext cx="4388288" cy="523220"/>
          </a:xfrm>
          <a:prstGeom prst="rect">
            <a:avLst/>
          </a:prstGeom>
          <a:noFill/>
        </p:spPr>
        <p:txBody>
          <a:bodyPr wrap="square" rtlCol="0">
            <a:spAutoFit/>
          </a:bodyPr>
          <a:lstStyle/>
          <a:p>
            <a:r>
              <a:rPr lang="fr-FR" sz="2800" b="1" dirty="0" smtClean="0">
                <a:latin typeface="Times New Roman" panose="02020603050405020304" pitchFamily="18" charset="0"/>
                <a:cs typeface="Times New Roman" panose="02020603050405020304" pitchFamily="18" charset="0"/>
              </a:rPr>
              <a:t>Contraintes d’intégrité </a:t>
            </a:r>
            <a:endParaRPr lang="fr-FR" sz="2800" b="1" dirty="0">
              <a:latin typeface="Times New Roman" panose="02020603050405020304" pitchFamily="18" charset="0"/>
              <a:cs typeface="Times New Roman" panose="02020603050405020304" pitchFamily="18" charset="0"/>
            </a:endParaRPr>
          </a:p>
        </p:txBody>
      </p:sp>
      <p:sp>
        <p:nvSpPr>
          <p:cNvPr id="11" name="ZoneTexte 10"/>
          <p:cNvSpPr txBox="1"/>
          <p:nvPr/>
        </p:nvSpPr>
        <p:spPr>
          <a:xfrm>
            <a:off x="796515" y="1349219"/>
            <a:ext cx="10649621" cy="432426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nSpc>
                <a:spcPts val="3300"/>
              </a:lnSpc>
            </a:pPr>
            <a:r>
              <a:rPr lang="fr-FR" sz="2400" b="1" dirty="0" smtClean="0">
                <a:latin typeface="Times New Roman" panose="02020603050405020304" pitchFamily="18" charset="0"/>
                <a:cs typeface="Times New Roman" panose="02020603050405020304" pitchFamily="18" charset="0"/>
              </a:rPr>
              <a:t>4</a:t>
            </a:r>
            <a:r>
              <a:rPr lang="fr-FR" sz="2400" b="1" dirty="0">
                <a:latin typeface="Times New Roman" panose="02020603050405020304" pitchFamily="18" charset="0"/>
                <a:cs typeface="Times New Roman" panose="02020603050405020304" pitchFamily="18" charset="0"/>
              </a:rPr>
              <a:t>. L'Intégrité d'Unicité (UNIQUE</a:t>
            </a:r>
            <a:r>
              <a:rPr lang="fr-FR" sz="2400" b="1" dirty="0" smtClean="0">
                <a:latin typeface="Times New Roman" panose="02020603050405020304" pitchFamily="18" charset="0"/>
                <a:cs typeface="Times New Roman" panose="02020603050405020304" pitchFamily="18" charset="0"/>
              </a:rPr>
              <a:t>)</a:t>
            </a:r>
          </a:p>
          <a:p>
            <a:pPr>
              <a:lnSpc>
                <a:spcPts val="3300"/>
              </a:lnSpc>
            </a:pPr>
            <a:endParaRPr lang="fr-FR" sz="2400" b="1" dirty="0" smtClean="0">
              <a:latin typeface="Times New Roman" panose="02020603050405020304" pitchFamily="18" charset="0"/>
              <a:cs typeface="Times New Roman" panose="02020603050405020304" pitchFamily="18" charset="0"/>
            </a:endParaRPr>
          </a:p>
          <a:p>
            <a:pPr>
              <a:lnSpc>
                <a:spcPts val="3300"/>
              </a:lnSpc>
            </a:pPr>
            <a:endParaRPr lang="fr-FR" sz="2400" b="1" dirty="0">
              <a:latin typeface="Times New Roman" panose="02020603050405020304" pitchFamily="18" charset="0"/>
              <a:cs typeface="Times New Roman" panose="02020603050405020304" pitchFamily="18" charset="0"/>
            </a:endParaRPr>
          </a:p>
          <a:p>
            <a:pPr>
              <a:lnSpc>
                <a:spcPts val="3300"/>
              </a:lnSpc>
            </a:pPr>
            <a:endParaRPr lang="fr-FR" sz="2400" b="1" dirty="0" smtClean="0">
              <a:latin typeface="Times New Roman" panose="02020603050405020304" pitchFamily="18" charset="0"/>
              <a:cs typeface="Times New Roman" panose="02020603050405020304" pitchFamily="18" charset="0"/>
            </a:endParaRPr>
          </a:p>
          <a:p>
            <a:pPr>
              <a:lnSpc>
                <a:spcPts val="3300"/>
              </a:lnSpc>
            </a:pPr>
            <a:endParaRPr lang="fr-FR" sz="2400" b="1" dirty="0">
              <a:latin typeface="Times New Roman" panose="02020603050405020304" pitchFamily="18" charset="0"/>
              <a:cs typeface="Times New Roman" panose="02020603050405020304" pitchFamily="18" charset="0"/>
            </a:endParaRPr>
          </a:p>
          <a:p>
            <a:pPr>
              <a:lnSpc>
                <a:spcPts val="3300"/>
              </a:lnSpc>
            </a:pPr>
            <a:endParaRPr lang="fr-FR" sz="2400" b="1" dirty="0" smtClean="0">
              <a:latin typeface="Times New Roman" panose="02020603050405020304" pitchFamily="18" charset="0"/>
              <a:cs typeface="Times New Roman" panose="02020603050405020304" pitchFamily="18" charset="0"/>
            </a:endParaRPr>
          </a:p>
          <a:p>
            <a:pPr>
              <a:lnSpc>
                <a:spcPts val="3300"/>
              </a:lnSpc>
            </a:pPr>
            <a:endParaRPr lang="fr-FR" sz="2400" b="1" dirty="0">
              <a:latin typeface="Times New Roman" panose="02020603050405020304" pitchFamily="18" charset="0"/>
              <a:cs typeface="Times New Roman" panose="02020603050405020304" pitchFamily="18" charset="0"/>
            </a:endParaRPr>
          </a:p>
          <a:p>
            <a:pPr>
              <a:lnSpc>
                <a:spcPts val="3300"/>
              </a:lnSpc>
            </a:pPr>
            <a:endParaRPr lang="fr-FR" sz="2400" b="1" dirty="0" smtClean="0">
              <a:latin typeface="Times New Roman" panose="02020603050405020304" pitchFamily="18" charset="0"/>
              <a:cs typeface="Times New Roman" panose="02020603050405020304" pitchFamily="18" charset="0"/>
            </a:endParaRPr>
          </a:p>
          <a:p>
            <a:pPr>
              <a:lnSpc>
                <a:spcPts val="3300"/>
              </a:lnSpc>
            </a:pPr>
            <a:endParaRPr lang="fr-FR" sz="2400" b="1" dirty="0">
              <a:latin typeface="Times New Roman" panose="02020603050405020304" pitchFamily="18" charset="0"/>
              <a:cs typeface="Times New Roman" panose="02020603050405020304" pitchFamily="18" charset="0"/>
            </a:endParaRPr>
          </a:p>
          <a:p>
            <a:pPr>
              <a:lnSpc>
                <a:spcPts val="3300"/>
              </a:lnSpc>
            </a:pPr>
            <a:endParaRPr lang="fr-FR" sz="2400" b="1" dirty="0">
              <a:latin typeface="Times New Roman" panose="02020603050405020304" pitchFamily="18" charset="0"/>
              <a:cs typeface="Times New Roman" panose="02020603050405020304" pitchFamily="18" charset="0"/>
            </a:endParaRPr>
          </a:p>
        </p:txBody>
      </p:sp>
      <p:pic>
        <p:nvPicPr>
          <p:cNvPr id="2" name="Image 1"/>
          <p:cNvPicPr>
            <a:picLocks noChangeAspect="1"/>
          </p:cNvPicPr>
          <p:nvPr/>
        </p:nvPicPr>
        <p:blipFill>
          <a:blip r:embed="rId3"/>
          <a:stretch>
            <a:fillRect/>
          </a:stretch>
        </p:blipFill>
        <p:spPr>
          <a:xfrm>
            <a:off x="2410880" y="2112234"/>
            <a:ext cx="7155551" cy="3019164"/>
          </a:xfrm>
          <a:prstGeom prst="rect">
            <a:avLst/>
          </a:prstGeom>
        </p:spPr>
      </p:pic>
    </p:spTree>
    <p:extLst>
      <p:ext uri="{BB962C8B-B14F-4D97-AF65-F5344CB8AC3E}">
        <p14:creationId xmlns:p14="http://schemas.microsoft.com/office/powerpoint/2010/main" val="3289445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BB82EF0-0CEC-0569-CBE9-0A9DCE31C245}"/>
            </a:ext>
          </a:extLst>
        </p:cNvPr>
        <p:cNvGrpSpPr/>
        <p:nvPr/>
      </p:nvGrpSpPr>
      <p:grpSpPr>
        <a:xfrm>
          <a:off x="0" y="0"/>
          <a:ext cx="0" cy="0"/>
          <a:chOff x="0" y="0"/>
          <a:chExt cx="0" cy="0"/>
        </a:xfrm>
      </p:grpSpPr>
      <p:sp>
        <p:nvSpPr>
          <p:cNvPr id="13" name="Rectangle 12"/>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p:nvPr/>
        </p:nvSpPr>
        <p:spPr>
          <a:xfrm>
            <a:off x="3603813" y="544471"/>
            <a:ext cx="8588188" cy="1852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p:cNvSpPr txBox="1"/>
          <p:nvPr/>
        </p:nvSpPr>
        <p:spPr>
          <a:xfrm>
            <a:off x="1932925" y="387869"/>
            <a:ext cx="4388288" cy="523220"/>
          </a:xfrm>
          <a:prstGeom prst="rect">
            <a:avLst/>
          </a:prstGeom>
          <a:noFill/>
        </p:spPr>
        <p:txBody>
          <a:bodyPr wrap="square" rtlCol="0">
            <a:spAutoFit/>
          </a:bodyPr>
          <a:lstStyle/>
          <a:p>
            <a:r>
              <a:rPr lang="fr-FR" sz="2800" b="1" dirty="0" smtClean="0">
                <a:latin typeface="Times New Roman" panose="02020603050405020304" pitchFamily="18" charset="0"/>
                <a:cs typeface="Times New Roman" panose="02020603050405020304" pitchFamily="18" charset="0"/>
              </a:rPr>
              <a:t>Exercice  </a:t>
            </a:r>
            <a:endParaRPr lang="fr-FR" sz="2800" b="1" dirty="0">
              <a:latin typeface="Times New Roman" panose="02020603050405020304" pitchFamily="18" charset="0"/>
              <a:cs typeface="Times New Roman" panose="02020603050405020304" pitchFamily="18" charset="0"/>
            </a:endParaRPr>
          </a:p>
        </p:txBody>
      </p:sp>
      <p:sp>
        <p:nvSpPr>
          <p:cNvPr id="11" name="ZoneTexte 10"/>
          <p:cNvSpPr txBox="1"/>
          <p:nvPr/>
        </p:nvSpPr>
        <p:spPr>
          <a:xfrm>
            <a:off x="796515" y="1349219"/>
            <a:ext cx="10649621" cy="500136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sz="2400" b="1" dirty="0">
                <a:latin typeface="Times New Roman" panose="02020603050405020304" pitchFamily="18" charset="0"/>
                <a:cs typeface="Times New Roman" panose="02020603050405020304" pitchFamily="18" charset="0"/>
              </a:rPr>
              <a:t>Objectif :</a:t>
            </a:r>
            <a:r>
              <a:rPr lang="fr-FR" sz="2400" dirty="0">
                <a:latin typeface="Times New Roman" panose="02020603050405020304" pitchFamily="18" charset="0"/>
                <a:cs typeface="Times New Roman" panose="02020603050405020304" pitchFamily="18" charset="0"/>
              </a:rPr>
              <a:t> Maîtriser les types de données simples, l'auto-incrémentation et l'unicité</a:t>
            </a:r>
            <a:r>
              <a:rPr lang="fr-FR" sz="2400" dirty="0" smtClean="0">
                <a:latin typeface="Times New Roman" panose="02020603050405020304" pitchFamily="18" charset="0"/>
                <a:cs typeface="Times New Roman" panose="02020603050405020304" pitchFamily="18" charset="0"/>
              </a:rPr>
              <a:t>.</a:t>
            </a:r>
          </a:p>
          <a:p>
            <a:endParaRPr lang="fr-FR" sz="2400" dirty="0">
              <a:latin typeface="Times New Roman" panose="02020603050405020304" pitchFamily="18" charset="0"/>
              <a:cs typeface="Times New Roman" panose="02020603050405020304" pitchFamily="18" charset="0"/>
            </a:endParaRPr>
          </a:p>
          <a:p>
            <a:r>
              <a:rPr lang="fr-FR" sz="2400" b="1" dirty="0" smtClean="0">
                <a:latin typeface="Times New Roman" panose="02020603050405020304" pitchFamily="18" charset="0"/>
                <a:cs typeface="Times New Roman" panose="02020603050405020304" pitchFamily="18" charset="0"/>
              </a:rPr>
              <a:t>UTILISATEUR</a:t>
            </a:r>
            <a:r>
              <a:rPr lang="fr-FR" sz="2400" dirty="0" smtClean="0">
                <a:latin typeface="Times New Roman" panose="02020603050405020304" pitchFamily="18" charset="0"/>
                <a:cs typeface="Times New Roman" panose="02020603050405020304" pitchFamily="18" charset="0"/>
              </a:rPr>
              <a:t> (</a:t>
            </a:r>
            <a:r>
              <a:rPr lang="fr-FR" sz="2400" u="sng" dirty="0" err="1" smtClean="0">
                <a:latin typeface="Times New Roman" panose="02020603050405020304" pitchFamily="18" charset="0"/>
                <a:cs typeface="Times New Roman" panose="02020603050405020304" pitchFamily="18" charset="0"/>
              </a:rPr>
              <a:t>id_utilisateur</a:t>
            </a: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pseudo, email, </a:t>
            </a:r>
            <a:r>
              <a:rPr lang="fr-FR" sz="2400" dirty="0" err="1">
                <a:latin typeface="Times New Roman" panose="02020603050405020304" pitchFamily="18" charset="0"/>
                <a:cs typeface="Times New Roman" panose="02020603050405020304" pitchFamily="18" charset="0"/>
              </a:rPr>
              <a:t>mot_de_passe</a:t>
            </a: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date_inscription</a:t>
            </a:r>
            <a:r>
              <a:rPr lang="fr-FR" sz="2400" dirty="0">
                <a:latin typeface="Times New Roman" panose="02020603050405020304" pitchFamily="18" charset="0"/>
                <a:cs typeface="Times New Roman" panose="02020603050405020304" pitchFamily="18" charset="0"/>
              </a:rPr>
              <a:t>)</a:t>
            </a:r>
          </a:p>
          <a:p>
            <a:r>
              <a:rPr lang="fr-FR" sz="2400" b="1" dirty="0">
                <a:latin typeface="Times New Roman" panose="02020603050405020304" pitchFamily="18" charset="0"/>
                <a:cs typeface="Times New Roman" panose="02020603050405020304" pitchFamily="18" charset="0"/>
              </a:rPr>
              <a:t>ARTICLE</a:t>
            </a:r>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a:t>
            </a:r>
            <a:r>
              <a:rPr lang="fr-FR" sz="2400" u="sng" dirty="0" err="1" smtClean="0">
                <a:latin typeface="Times New Roman" panose="02020603050405020304" pitchFamily="18" charset="0"/>
                <a:cs typeface="Times New Roman" panose="02020603050405020304" pitchFamily="18" charset="0"/>
              </a:rPr>
              <a:t>id_article</a:t>
            </a: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titre, contenu, </a:t>
            </a:r>
            <a:r>
              <a:rPr lang="fr-FR" sz="2400" dirty="0" err="1">
                <a:latin typeface="Times New Roman" panose="02020603050405020304" pitchFamily="18" charset="0"/>
                <a:cs typeface="Times New Roman" panose="02020603050405020304" pitchFamily="18" charset="0"/>
              </a:rPr>
              <a:t>date_publication</a:t>
            </a: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id_auteur</a:t>
            </a:r>
            <a:r>
              <a:rPr lang="fr-FR" sz="2400" dirty="0" smtClean="0">
                <a:latin typeface="Times New Roman" panose="02020603050405020304" pitchFamily="18" charset="0"/>
                <a:cs typeface="Times New Roman" panose="02020603050405020304" pitchFamily="18" charset="0"/>
              </a:rPr>
              <a:t>)</a:t>
            </a:r>
          </a:p>
          <a:p>
            <a:endParaRPr lang="fr-FR" sz="2400" dirty="0">
              <a:latin typeface="Times New Roman" panose="02020603050405020304" pitchFamily="18" charset="0"/>
              <a:cs typeface="Times New Roman" panose="02020603050405020304" pitchFamily="18" charset="0"/>
            </a:endParaRPr>
          </a:p>
          <a:p>
            <a:pPr marL="342900" indent="-342900">
              <a:lnSpc>
                <a:spcPts val="3500"/>
              </a:lnSpc>
              <a:buFont typeface="Arial" panose="020B0604020202020204" pitchFamily="34" charset="0"/>
              <a:buChar char="•"/>
            </a:pPr>
            <a:r>
              <a:rPr lang="fr-FR" sz="2400" dirty="0" smtClean="0">
                <a:latin typeface="Times New Roman" panose="02020603050405020304" pitchFamily="18" charset="0"/>
                <a:cs typeface="Times New Roman" panose="02020603050405020304" pitchFamily="18" charset="0"/>
              </a:rPr>
              <a:t>Créer </a:t>
            </a:r>
            <a:r>
              <a:rPr lang="fr-FR" sz="2400" dirty="0">
                <a:latin typeface="Times New Roman" panose="02020603050405020304" pitchFamily="18" charset="0"/>
                <a:cs typeface="Times New Roman" panose="02020603050405020304" pitchFamily="18" charset="0"/>
              </a:rPr>
              <a:t>la base de données </a:t>
            </a:r>
            <a:r>
              <a:rPr lang="fr-FR" sz="2400" dirty="0" err="1">
                <a:latin typeface="Times New Roman" panose="02020603050405020304" pitchFamily="18" charset="0"/>
                <a:cs typeface="Times New Roman" panose="02020603050405020304" pitchFamily="18" charset="0"/>
              </a:rPr>
              <a:t>mon_blog</a:t>
            </a:r>
            <a:r>
              <a:rPr lang="fr-FR" sz="2400" dirty="0">
                <a:latin typeface="Times New Roman" panose="02020603050405020304" pitchFamily="18" charset="0"/>
                <a:cs typeface="Times New Roman" panose="02020603050405020304" pitchFamily="18" charset="0"/>
              </a:rPr>
              <a:t>.</a:t>
            </a:r>
          </a:p>
          <a:p>
            <a:pPr marL="342900" indent="-342900">
              <a:lnSpc>
                <a:spcPts val="3500"/>
              </a:lnSpc>
              <a:buFont typeface="Arial" panose="020B0604020202020204" pitchFamily="34" charset="0"/>
              <a:buChar char="•"/>
            </a:pPr>
            <a:r>
              <a:rPr lang="fr-FR" sz="2400" dirty="0">
                <a:latin typeface="Times New Roman" panose="02020603050405020304" pitchFamily="18" charset="0"/>
                <a:cs typeface="Times New Roman" panose="02020603050405020304" pitchFamily="18" charset="0"/>
              </a:rPr>
              <a:t>Appliquer la contrainte UNIQUE sur le pseudo et l'email de l'utilisateur.</a:t>
            </a:r>
          </a:p>
          <a:p>
            <a:pPr marL="342900" indent="-342900">
              <a:lnSpc>
                <a:spcPts val="3500"/>
              </a:lnSpc>
              <a:buFont typeface="Arial" panose="020B0604020202020204" pitchFamily="34" charset="0"/>
              <a:buChar char="•"/>
            </a:pPr>
            <a:r>
              <a:rPr lang="fr-FR" sz="2400" dirty="0">
                <a:latin typeface="Times New Roman" panose="02020603050405020304" pitchFamily="18" charset="0"/>
                <a:cs typeface="Times New Roman" panose="02020603050405020304" pitchFamily="18" charset="0"/>
              </a:rPr>
              <a:t>Utiliser le type de données le plus approprié pour le contenu de </a:t>
            </a:r>
            <a:r>
              <a:rPr lang="fr-FR" sz="2400" dirty="0" smtClean="0">
                <a:latin typeface="Times New Roman" panose="02020603050405020304" pitchFamily="18" charset="0"/>
                <a:cs typeface="Times New Roman" panose="02020603050405020304" pitchFamily="18" charset="0"/>
              </a:rPr>
              <a:t>l'article.</a:t>
            </a:r>
          </a:p>
          <a:p>
            <a:pPr marL="342900" indent="-342900">
              <a:lnSpc>
                <a:spcPts val="3500"/>
              </a:lnSpc>
              <a:buFont typeface="Arial" panose="020B0604020202020204" pitchFamily="34" charset="0"/>
              <a:buChar char="•"/>
            </a:pPr>
            <a:r>
              <a:rPr lang="fr-FR" sz="2400" dirty="0" smtClean="0">
                <a:latin typeface="Times New Roman" panose="02020603050405020304" pitchFamily="18" charset="0"/>
                <a:cs typeface="Times New Roman" panose="02020603050405020304" pitchFamily="18" charset="0"/>
              </a:rPr>
              <a:t>Faire </a:t>
            </a:r>
            <a:r>
              <a:rPr lang="fr-FR" sz="2400" dirty="0">
                <a:latin typeface="Times New Roman" panose="02020603050405020304" pitchFamily="18" charset="0"/>
                <a:cs typeface="Times New Roman" panose="02020603050405020304" pitchFamily="18" charset="0"/>
              </a:rPr>
              <a:t>en sorte que la </a:t>
            </a:r>
            <a:r>
              <a:rPr lang="fr-FR" sz="2400" dirty="0" err="1">
                <a:latin typeface="Times New Roman" panose="02020603050405020304" pitchFamily="18" charset="0"/>
                <a:cs typeface="Times New Roman" panose="02020603050405020304" pitchFamily="18" charset="0"/>
              </a:rPr>
              <a:t>date_inscription</a:t>
            </a:r>
            <a:r>
              <a:rPr lang="fr-FR" sz="2400" dirty="0">
                <a:latin typeface="Times New Roman" panose="02020603050405020304" pitchFamily="18" charset="0"/>
                <a:cs typeface="Times New Roman" panose="02020603050405020304" pitchFamily="18" charset="0"/>
              </a:rPr>
              <a:t> et la </a:t>
            </a:r>
            <a:r>
              <a:rPr lang="fr-FR" sz="2400" dirty="0" err="1">
                <a:latin typeface="Times New Roman" panose="02020603050405020304" pitchFamily="18" charset="0"/>
                <a:cs typeface="Times New Roman" panose="02020603050405020304" pitchFamily="18" charset="0"/>
              </a:rPr>
              <a:t>date_publication</a:t>
            </a:r>
            <a:r>
              <a:rPr lang="fr-FR" sz="2400" dirty="0">
                <a:latin typeface="Times New Roman" panose="02020603050405020304" pitchFamily="18" charset="0"/>
                <a:cs typeface="Times New Roman" panose="02020603050405020304" pitchFamily="18" charset="0"/>
              </a:rPr>
              <a:t> se remplissent </a:t>
            </a:r>
            <a:r>
              <a:rPr lang="fr-FR" sz="2400" dirty="0" smtClean="0">
                <a:latin typeface="Times New Roman" panose="02020603050405020304" pitchFamily="18" charset="0"/>
                <a:cs typeface="Times New Roman" panose="02020603050405020304" pitchFamily="18" charset="0"/>
              </a:rPr>
              <a:t>automatiquement.</a:t>
            </a:r>
          </a:p>
          <a:p>
            <a:pPr marL="342900" indent="-342900">
              <a:lnSpc>
                <a:spcPts val="3500"/>
              </a:lnSpc>
              <a:buFont typeface="Arial" panose="020B0604020202020204" pitchFamily="34" charset="0"/>
              <a:buChar char="•"/>
            </a:pPr>
            <a:r>
              <a:rPr lang="fr-FR" sz="2400" dirty="0" smtClean="0">
                <a:latin typeface="Times New Roman" panose="02020603050405020304" pitchFamily="18" charset="0"/>
                <a:cs typeface="Times New Roman" panose="02020603050405020304" pitchFamily="18" charset="0"/>
              </a:rPr>
              <a:t>Définir </a:t>
            </a:r>
            <a:r>
              <a:rPr lang="fr-FR" sz="2400" dirty="0">
                <a:latin typeface="Times New Roman" panose="02020603050405020304" pitchFamily="18" charset="0"/>
                <a:cs typeface="Times New Roman" panose="02020603050405020304" pitchFamily="18" charset="0"/>
              </a:rPr>
              <a:t>la clé étrangère reliant l'article à son auteur.</a:t>
            </a:r>
          </a:p>
          <a:p>
            <a:endParaRPr lang="fr-FR" sz="2400" dirty="0"/>
          </a:p>
        </p:txBody>
      </p:sp>
    </p:spTree>
    <p:extLst>
      <p:ext uri="{BB962C8B-B14F-4D97-AF65-F5344CB8AC3E}">
        <p14:creationId xmlns:p14="http://schemas.microsoft.com/office/powerpoint/2010/main" val="969728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BB82EF0-0CEC-0569-CBE9-0A9DCE31C245}"/>
            </a:ext>
          </a:extLst>
        </p:cNvPr>
        <p:cNvGrpSpPr/>
        <p:nvPr/>
      </p:nvGrpSpPr>
      <p:grpSpPr>
        <a:xfrm>
          <a:off x="0" y="0"/>
          <a:ext cx="0" cy="0"/>
          <a:chOff x="0" y="0"/>
          <a:chExt cx="0" cy="0"/>
        </a:xfrm>
      </p:grpSpPr>
      <p:sp>
        <p:nvSpPr>
          <p:cNvPr id="13" name="Rectangle 12"/>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p:nvPr/>
        </p:nvSpPr>
        <p:spPr>
          <a:xfrm>
            <a:off x="3636085" y="544471"/>
            <a:ext cx="8555915" cy="1852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p:cNvSpPr txBox="1"/>
          <p:nvPr/>
        </p:nvSpPr>
        <p:spPr>
          <a:xfrm>
            <a:off x="1943682" y="375462"/>
            <a:ext cx="4388288" cy="523220"/>
          </a:xfrm>
          <a:prstGeom prst="rect">
            <a:avLst/>
          </a:prstGeom>
          <a:noFill/>
        </p:spPr>
        <p:txBody>
          <a:bodyPr wrap="square" rtlCol="0">
            <a:spAutoFit/>
          </a:bodyPr>
          <a:lstStyle/>
          <a:p>
            <a:r>
              <a:rPr lang="fr-FR" sz="2800" b="1" dirty="0" smtClean="0">
                <a:latin typeface="Times New Roman" panose="02020603050405020304" pitchFamily="18" charset="0"/>
                <a:cs typeface="Times New Roman" panose="02020603050405020304" pitchFamily="18" charset="0"/>
              </a:rPr>
              <a:t>Solution </a:t>
            </a:r>
            <a:endParaRPr lang="fr-FR" sz="2800" b="1" dirty="0">
              <a:latin typeface="Times New Roman" panose="02020603050405020304" pitchFamily="18" charset="0"/>
              <a:cs typeface="Times New Roman" panose="02020603050405020304" pitchFamily="18" charset="0"/>
            </a:endParaRPr>
          </a:p>
        </p:txBody>
      </p:sp>
      <p:pic>
        <p:nvPicPr>
          <p:cNvPr id="3" name="Image 2"/>
          <p:cNvPicPr>
            <a:picLocks noChangeAspect="1"/>
          </p:cNvPicPr>
          <p:nvPr/>
        </p:nvPicPr>
        <p:blipFill>
          <a:blip r:embed="rId3"/>
          <a:stretch>
            <a:fillRect/>
          </a:stretch>
        </p:blipFill>
        <p:spPr>
          <a:xfrm>
            <a:off x="2329699" y="1067691"/>
            <a:ext cx="8004542" cy="5544376"/>
          </a:xfrm>
          <a:prstGeom prst="rect">
            <a:avLst/>
          </a:prstGeom>
        </p:spPr>
      </p:pic>
    </p:spTree>
    <p:extLst>
      <p:ext uri="{BB962C8B-B14F-4D97-AF65-F5344CB8AC3E}">
        <p14:creationId xmlns:p14="http://schemas.microsoft.com/office/powerpoint/2010/main" val="298417632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BB82EF0-0CEC-0569-CBE9-0A9DCE31C245}"/>
            </a:ext>
          </a:extLst>
        </p:cNvPr>
        <p:cNvGrpSpPr/>
        <p:nvPr/>
      </p:nvGrpSpPr>
      <p:grpSpPr>
        <a:xfrm>
          <a:off x="0" y="0"/>
          <a:ext cx="0" cy="0"/>
          <a:chOff x="0" y="0"/>
          <a:chExt cx="0" cy="0"/>
        </a:xfrm>
      </p:grpSpPr>
      <p:sp>
        <p:nvSpPr>
          <p:cNvPr id="13" name="Rectangle 12"/>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p:nvPr/>
        </p:nvSpPr>
        <p:spPr>
          <a:xfrm>
            <a:off x="3603813" y="544471"/>
            <a:ext cx="8588188" cy="1852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p:cNvSpPr txBox="1"/>
          <p:nvPr/>
        </p:nvSpPr>
        <p:spPr>
          <a:xfrm>
            <a:off x="1932925" y="387869"/>
            <a:ext cx="4388288" cy="523220"/>
          </a:xfrm>
          <a:prstGeom prst="rect">
            <a:avLst/>
          </a:prstGeom>
          <a:noFill/>
        </p:spPr>
        <p:txBody>
          <a:bodyPr wrap="square" rtlCol="0">
            <a:spAutoFit/>
          </a:bodyPr>
          <a:lstStyle/>
          <a:p>
            <a:r>
              <a:rPr lang="fr-FR" sz="2800" b="1" dirty="0" smtClean="0">
                <a:latin typeface="Times New Roman" panose="02020603050405020304" pitchFamily="18" charset="0"/>
                <a:cs typeface="Times New Roman" panose="02020603050405020304" pitchFamily="18" charset="0"/>
              </a:rPr>
              <a:t>Exercice  </a:t>
            </a:r>
            <a:endParaRPr lang="fr-FR" sz="2800" b="1" dirty="0">
              <a:latin typeface="Times New Roman" panose="02020603050405020304" pitchFamily="18" charset="0"/>
              <a:cs typeface="Times New Roman" panose="02020603050405020304" pitchFamily="18" charset="0"/>
            </a:endParaRPr>
          </a:p>
        </p:txBody>
      </p:sp>
      <p:sp>
        <p:nvSpPr>
          <p:cNvPr id="11" name="ZoneTexte 10"/>
          <p:cNvSpPr txBox="1"/>
          <p:nvPr/>
        </p:nvSpPr>
        <p:spPr>
          <a:xfrm>
            <a:off x="796515" y="1349219"/>
            <a:ext cx="10649621" cy="493981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50000"/>
              </a:lnSpc>
            </a:pPr>
            <a:r>
              <a:rPr lang="fr-FR" b="1" dirty="0">
                <a:latin typeface="Times New Roman" panose="02020603050405020304" pitchFamily="18" charset="0"/>
                <a:cs typeface="Times New Roman" panose="02020603050405020304" pitchFamily="18" charset="0"/>
              </a:rPr>
              <a:t>Objectif :</a:t>
            </a:r>
            <a:r>
              <a:rPr lang="fr-FR" dirty="0">
                <a:latin typeface="Times New Roman" panose="02020603050405020304" pitchFamily="18" charset="0"/>
                <a:cs typeface="Times New Roman" panose="02020603050405020304" pitchFamily="18" charset="0"/>
              </a:rPr>
              <a:t> Manipuler les nombres décimaux, les valeurs par défaut et les relations complexes.</a:t>
            </a:r>
          </a:p>
          <a:p>
            <a:pPr>
              <a:lnSpc>
                <a:spcPct val="150000"/>
              </a:lnSpc>
            </a:pPr>
            <a:r>
              <a:rPr lang="fr-FR" b="1" dirty="0" smtClean="0">
                <a:latin typeface="Times New Roman" panose="02020603050405020304" pitchFamily="18" charset="0"/>
                <a:cs typeface="Times New Roman" panose="02020603050405020304" pitchFamily="18" charset="0"/>
              </a:rPr>
              <a:t>	CATEGORIE</a:t>
            </a:r>
            <a:r>
              <a:rPr lang="fr-FR" dirty="0" smtClean="0">
                <a:latin typeface="Times New Roman" panose="02020603050405020304" pitchFamily="18" charset="0"/>
                <a:cs typeface="Times New Roman" panose="02020603050405020304" pitchFamily="18" charset="0"/>
              </a:rPr>
              <a:t> (</a:t>
            </a:r>
            <a:r>
              <a:rPr lang="fr-FR" u="sng" dirty="0" err="1" smtClean="0">
                <a:latin typeface="Times New Roman" panose="02020603050405020304" pitchFamily="18" charset="0"/>
                <a:cs typeface="Times New Roman" panose="02020603050405020304" pitchFamily="18" charset="0"/>
              </a:rPr>
              <a:t>id_categorie</a:t>
            </a:r>
            <a:r>
              <a:rPr lang="fr-FR" dirty="0" smtClean="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nom_categorie</a:t>
            </a:r>
            <a:r>
              <a:rPr lang="fr-FR" dirty="0">
                <a:latin typeface="Times New Roman" panose="02020603050405020304" pitchFamily="18" charset="0"/>
                <a:cs typeface="Times New Roman" panose="02020603050405020304" pitchFamily="18" charset="0"/>
              </a:rPr>
              <a:t>)</a:t>
            </a:r>
          </a:p>
          <a:p>
            <a:pPr>
              <a:lnSpc>
                <a:spcPct val="150000"/>
              </a:lnSpc>
            </a:pPr>
            <a:r>
              <a:rPr lang="fr-FR" b="1" dirty="0" smtClean="0">
                <a:latin typeface="Times New Roman" panose="02020603050405020304" pitchFamily="18" charset="0"/>
                <a:cs typeface="Times New Roman" panose="02020603050405020304" pitchFamily="18" charset="0"/>
              </a:rPr>
              <a:t>	PRODUIT</a:t>
            </a:r>
            <a:r>
              <a:rPr lang="fr-FR" dirty="0" smtClean="0">
                <a:latin typeface="Times New Roman" panose="02020603050405020304" pitchFamily="18" charset="0"/>
                <a:cs typeface="Times New Roman" panose="02020603050405020304" pitchFamily="18" charset="0"/>
              </a:rPr>
              <a:t> (</a:t>
            </a:r>
            <a:r>
              <a:rPr lang="fr-FR" u="sng" dirty="0" err="1" smtClean="0">
                <a:latin typeface="Times New Roman" panose="02020603050405020304" pitchFamily="18" charset="0"/>
                <a:cs typeface="Times New Roman" panose="02020603050405020304" pitchFamily="18" charset="0"/>
              </a:rPr>
              <a:t>id_produit</a:t>
            </a:r>
            <a:r>
              <a:rPr lang="fr-FR" dirty="0" smtClean="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designation</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prix_unitaire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quantite_stock</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id_categorie</a:t>
            </a:r>
            <a:r>
              <a:rPr lang="fr-FR" dirty="0">
                <a:latin typeface="Times New Roman" panose="02020603050405020304" pitchFamily="18" charset="0"/>
                <a:cs typeface="Times New Roman" panose="02020603050405020304" pitchFamily="18" charset="0"/>
              </a:rPr>
              <a:t>)</a:t>
            </a:r>
          </a:p>
          <a:p>
            <a:pPr>
              <a:lnSpc>
                <a:spcPct val="150000"/>
              </a:lnSpc>
            </a:pPr>
            <a:r>
              <a:rPr lang="fr-FR" b="1" dirty="0" smtClean="0">
                <a:latin typeface="Times New Roman" panose="02020603050405020304" pitchFamily="18" charset="0"/>
                <a:cs typeface="Times New Roman" panose="02020603050405020304" pitchFamily="18" charset="0"/>
              </a:rPr>
              <a:t>	VENTE</a:t>
            </a:r>
            <a:r>
              <a:rPr lang="fr-FR" dirty="0" smtClean="0">
                <a:latin typeface="Times New Roman" panose="02020603050405020304" pitchFamily="18" charset="0"/>
                <a:cs typeface="Times New Roman" panose="02020603050405020304" pitchFamily="18" charset="0"/>
              </a:rPr>
              <a:t> (</a:t>
            </a:r>
            <a:r>
              <a:rPr lang="fr-FR" u="sng" dirty="0" err="1" smtClean="0">
                <a:latin typeface="Times New Roman" panose="02020603050405020304" pitchFamily="18" charset="0"/>
                <a:cs typeface="Times New Roman" panose="02020603050405020304" pitchFamily="18" charset="0"/>
              </a:rPr>
              <a:t>id_vente</a:t>
            </a:r>
            <a:r>
              <a:rPr lang="fr-FR" dirty="0" smtClean="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date_vente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id_produit</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quantite_vendue</a:t>
            </a:r>
            <a:r>
              <a:rPr lang="fr-FR" dirty="0">
                <a:latin typeface="Times New Roman" panose="02020603050405020304" pitchFamily="18" charset="0"/>
                <a:cs typeface="Times New Roman" panose="02020603050405020304" pitchFamily="18" charset="0"/>
              </a:rPr>
              <a:t>)</a:t>
            </a:r>
          </a:p>
          <a:p>
            <a:pPr>
              <a:lnSpc>
                <a:spcPct val="150000"/>
              </a:lnSpc>
            </a:pPr>
            <a:r>
              <a:rPr lang="fr-FR" dirty="0" smtClean="0">
                <a:latin typeface="Times New Roman" panose="02020603050405020304" pitchFamily="18" charset="0"/>
                <a:cs typeface="Times New Roman" panose="02020603050405020304" pitchFamily="18" charset="0"/>
              </a:rPr>
              <a:t>Créer </a:t>
            </a:r>
            <a:r>
              <a:rPr lang="fr-FR" dirty="0">
                <a:latin typeface="Times New Roman" panose="02020603050405020304" pitchFamily="18" charset="0"/>
                <a:cs typeface="Times New Roman" panose="02020603050405020304" pitchFamily="18" charset="0"/>
              </a:rPr>
              <a:t>la base de données </a:t>
            </a:r>
            <a:r>
              <a:rPr lang="fr-FR" dirty="0" err="1">
                <a:latin typeface="Times New Roman" panose="02020603050405020304" pitchFamily="18" charset="0"/>
                <a:cs typeface="Times New Roman" panose="02020603050405020304" pitchFamily="18" charset="0"/>
              </a:rPr>
              <a:t>gestion_stock</a:t>
            </a:r>
            <a:r>
              <a:rPr lang="fr-FR" dirty="0">
                <a:latin typeface="Times New Roman" panose="02020603050405020304" pitchFamily="18" charset="0"/>
                <a:cs typeface="Times New Roman" panose="02020603050405020304" pitchFamily="18" charset="0"/>
              </a:rPr>
              <a:t>.</a:t>
            </a:r>
          </a:p>
          <a:p>
            <a:pPr>
              <a:lnSpc>
                <a:spcPct val="150000"/>
              </a:lnSpc>
            </a:pPr>
            <a:r>
              <a:rPr lang="fr-FR" dirty="0">
                <a:latin typeface="Times New Roman" panose="02020603050405020304" pitchFamily="18" charset="0"/>
                <a:cs typeface="Times New Roman" panose="02020603050405020304" pitchFamily="18" charset="0"/>
              </a:rPr>
              <a:t>Dans la table </a:t>
            </a:r>
            <a:r>
              <a:rPr lang="fr-FR" b="1" dirty="0">
                <a:latin typeface="Times New Roman" panose="02020603050405020304" pitchFamily="18" charset="0"/>
                <a:cs typeface="Times New Roman" panose="02020603050405020304" pitchFamily="18" charset="0"/>
              </a:rPr>
              <a:t>PRODUIT</a:t>
            </a:r>
            <a:r>
              <a:rPr lang="fr-FR" dirty="0">
                <a:latin typeface="Times New Roman" panose="02020603050405020304" pitchFamily="18" charset="0"/>
                <a:cs typeface="Times New Roman" panose="02020603050405020304" pitchFamily="18" charset="0"/>
              </a:rPr>
              <a:t> :</a:t>
            </a:r>
          </a:p>
          <a:p>
            <a:pPr lvl="1">
              <a:lnSpc>
                <a:spcPct val="150000"/>
              </a:lnSpc>
            </a:pPr>
            <a:r>
              <a:rPr lang="fr-FR" dirty="0">
                <a:latin typeface="Times New Roman" panose="02020603050405020304" pitchFamily="18" charset="0"/>
                <a:cs typeface="Times New Roman" panose="02020603050405020304" pitchFamily="18" charset="0"/>
              </a:rPr>
              <a:t>Le prix doit pouvoir contenir des centimes (ex: 19.99).</a:t>
            </a:r>
          </a:p>
          <a:p>
            <a:pPr lvl="1">
              <a:lnSpc>
                <a:spcPct val="150000"/>
              </a:lnSpc>
            </a:pPr>
            <a:r>
              <a:rPr lang="fr-FR" dirty="0">
                <a:latin typeface="Times New Roman" panose="02020603050405020304" pitchFamily="18" charset="0"/>
                <a:cs typeface="Times New Roman" panose="02020603050405020304" pitchFamily="18" charset="0"/>
              </a:rPr>
              <a:t>La quantité en stock doit être de 0 par défaut.</a:t>
            </a:r>
          </a:p>
          <a:p>
            <a:pPr>
              <a:lnSpc>
                <a:spcPct val="150000"/>
              </a:lnSpc>
            </a:pPr>
            <a:r>
              <a:rPr lang="fr-FR" dirty="0">
                <a:latin typeface="Times New Roman" panose="02020603050405020304" pitchFamily="18" charset="0"/>
                <a:cs typeface="Times New Roman" panose="02020603050405020304" pitchFamily="18" charset="0"/>
              </a:rPr>
              <a:t>Dans la table </a:t>
            </a:r>
            <a:r>
              <a:rPr lang="fr-FR" b="1" dirty="0">
                <a:latin typeface="Times New Roman" panose="02020603050405020304" pitchFamily="18" charset="0"/>
                <a:cs typeface="Times New Roman" panose="02020603050405020304" pitchFamily="18" charset="0"/>
              </a:rPr>
              <a:t>VENTE</a:t>
            </a:r>
            <a:r>
              <a:rPr lang="fr-FR" dirty="0">
                <a:latin typeface="Times New Roman" panose="02020603050405020304" pitchFamily="18" charset="0"/>
                <a:cs typeface="Times New Roman" panose="02020603050405020304" pitchFamily="18" charset="0"/>
              </a:rPr>
              <a:t> :</a:t>
            </a:r>
          </a:p>
          <a:p>
            <a:pPr lvl="1">
              <a:lnSpc>
                <a:spcPct val="150000"/>
              </a:lnSpc>
            </a:pPr>
            <a:r>
              <a:rPr lang="fr-FR" dirty="0">
                <a:latin typeface="Times New Roman" panose="02020603050405020304" pitchFamily="18" charset="0"/>
                <a:cs typeface="Times New Roman" panose="02020603050405020304" pitchFamily="18" charset="0"/>
              </a:rPr>
              <a:t>La quantité vendue ne doit jamais être nulle (NOT NULL).</a:t>
            </a:r>
          </a:p>
          <a:p>
            <a:pPr>
              <a:lnSpc>
                <a:spcPct val="150000"/>
              </a:lnSpc>
            </a:pPr>
            <a:r>
              <a:rPr lang="fr-FR" dirty="0">
                <a:latin typeface="Times New Roman" panose="02020603050405020304" pitchFamily="18" charset="0"/>
                <a:cs typeface="Times New Roman" panose="02020603050405020304" pitchFamily="18" charset="0"/>
              </a:rPr>
              <a:t>Respecter l'ordre de création des tables pour ne pas avoir d'erreurs de clés étrangères.</a:t>
            </a:r>
          </a:p>
          <a:p>
            <a:endParaRPr 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6175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BB82EF0-0CEC-0569-CBE9-0A9DCE31C245}"/>
            </a:ext>
          </a:extLst>
        </p:cNvPr>
        <p:cNvGrpSpPr/>
        <p:nvPr/>
      </p:nvGrpSpPr>
      <p:grpSpPr>
        <a:xfrm>
          <a:off x="0" y="0"/>
          <a:ext cx="0" cy="0"/>
          <a:chOff x="0" y="0"/>
          <a:chExt cx="0" cy="0"/>
        </a:xfrm>
      </p:grpSpPr>
      <p:sp>
        <p:nvSpPr>
          <p:cNvPr id="13" name="Rectangle 12"/>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p:nvPr/>
        </p:nvSpPr>
        <p:spPr>
          <a:xfrm>
            <a:off x="3636085" y="544471"/>
            <a:ext cx="8555915" cy="1852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p:cNvSpPr txBox="1"/>
          <p:nvPr/>
        </p:nvSpPr>
        <p:spPr>
          <a:xfrm>
            <a:off x="1943682" y="375462"/>
            <a:ext cx="4388288" cy="523220"/>
          </a:xfrm>
          <a:prstGeom prst="rect">
            <a:avLst/>
          </a:prstGeom>
          <a:noFill/>
        </p:spPr>
        <p:txBody>
          <a:bodyPr wrap="square" rtlCol="0">
            <a:spAutoFit/>
          </a:bodyPr>
          <a:lstStyle/>
          <a:p>
            <a:r>
              <a:rPr lang="fr-FR" sz="2800" b="1" dirty="0" smtClean="0">
                <a:latin typeface="Times New Roman" panose="02020603050405020304" pitchFamily="18" charset="0"/>
                <a:cs typeface="Times New Roman" panose="02020603050405020304" pitchFamily="18" charset="0"/>
              </a:rPr>
              <a:t>Solution </a:t>
            </a:r>
            <a:endParaRPr lang="fr-FR" sz="2800" b="1" dirty="0">
              <a:latin typeface="Times New Roman" panose="02020603050405020304" pitchFamily="18" charset="0"/>
              <a:cs typeface="Times New Roman" panose="02020603050405020304" pitchFamily="18" charset="0"/>
            </a:endParaRPr>
          </a:p>
        </p:txBody>
      </p:sp>
      <p:pic>
        <p:nvPicPr>
          <p:cNvPr id="2" name="Image 1"/>
          <p:cNvPicPr>
            <a:picLocks noChangeAspect="1"/>
          </p:cNvPicPr>
          <p:nvPr/>
        </p:nvPicPr>
        <p:blipFill>
          <a:blip r:embed="rId3"/>
          <a:stretch>
            <a:fillRect/>
          </a:stretch>
        </p:blipFill>
        <p:spPr>
          <a:xfrm>
            <a:off x="2374994" y="898682"/>
            <a:ext cx="7080977" cy="5877899"/>
          </a:xfrm>
          <a:prstGeom prst="rect">
            <a:avLst/>
          </a:prstGeom>
        </p:spPr>
      </p:pic>
    </p:spTree>
    <p:extLst>
      <p:ext uri="{BB962C8B-B14F-4D97-AF65-F5344CB8AC3E}">
        <p14:creationId xmlns:p14="http://schemas.microsoft.com/office/powerpoint/2010/main" val="3148544980"/>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19183</TotalTime>
  <Words>1603</Words>
  <Application>Microsoft Office PowerPoint</Application>
  <PresentationFormat>Grand écran</PresentationFormat>
  <Paragraphs>206</Paragraphs>
  <Slides>32</Slides>
  <Notes>22</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32</vt:i4>
      </vt:variant>
    </vt:vector>
  </HeadingPairs>
  <TitlesOfParts>
    <vt:vector size="37" baseType="lpstr">
      <vt:lpstr>Arial</vt:lpstr>
      <vt:lpstr>Calibri</vt:lpstr>
      <vt:lpstr>Calibri Light</vt:lpstr>
      <vt:lpstr>Times New Roman</vt:lpstr>
      <vt:lpstr>Thème Office</vt:lpstr>
      <vt:lpstr>Langage de définition de données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Rappel</dc:title>
  <dc:creator>ps</dc:creator>
  <cp:lastModifiedBy>ps</cp:lastModifiedBy>
  <cp:revision>66</cp:revision>
  <dcterms:created xsi:type="dcterms:W3CDTF">2026-01-26T13:25:36Z</dcterms:created>
  <dcterms:modified xsi:type="dcterms:W3CDTF">2026-02-08T21:51:31Z</dcterms:modified>
</cp:coreProperties>
</file>