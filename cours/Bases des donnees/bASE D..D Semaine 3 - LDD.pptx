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9" r:id="rId4"/>
    <p:sldId id="305" r:id="rId5"/>
    <p:sldId id="307" r:id="rId6"/>
    <p:sldId id="308" r:id="rId7"/>
    <p:sldId id="306" r:id="rId8"/>
    <p:sldId id="309" r:id="rId9"/>
    <p:sldId id="310" r:id="rId10"/>
    <p:sldId id="311" r:id="rId11"/>
    <p:sldId id="285" r:id="rId12"/>
    <p:sldId id="312" r:id="rId13"/>
    <p:sldId id="313"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60" autoAdjust="0"/>
  </p:normalViewPr>
  <p:slideViewPr>
    <p:cSldViewPr snapToGrid="0">
      <p:cViewPr varScale="1">
        <p:scale>
          <a:sx n="71" d="100"/>
          <a:sy n="71" d="100"/>
        </p:scale>
        <p:origin x="110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560461-D2B8-48AB-8956-1322F2EF7130}" type="datetimeFigureOut">
              <a:rPr lang="fr-FR" smtClean="0"/>
              <a:t>10/02/2026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C5D363-A32F-4A5F-B889-D368C8CD44A2}" type="slidenum">
              <a:rPr lang="fr-FR" smtClean="0"/>
              <a:t>‹N°›</a:t>
            </a:fld>
            <a:endParaRPr lang="fr-FR"/>
          </a:p>
        </p:txBody>
      </p:sp>
    </p:spTree>
    <p:extLst>
      <p:ext uri="{BB962C8B-B14F-4D97-AF65-F5344CB8AC3E}">
        <p14:creationId xmlns:p14="http://schemas.microsoft.com/office/powerpoint/2010/main" val="3078889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4</a:t>
            </a:fld>
            <a:endParaRPr lang="fr-FR"/>
          </a:p>
        </p:txBody>
      </p:sp>
    </p:spTree>
    <p:extLst>
      <p:ext uri="{BB962C8B-B14F-4D97-AF65-F5344CB8AC3E}">
        <p14:creationId xmlns:p14="http://schemas.microsoft.com/office/powerpoint/2010/main" val="3590321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5</a:t>
            </a:fld>
            <a:endParaRPr lang="fr-FR"/>
          </a:p>
        </p:txBody>
      </p:sp>
    </p:spTree>
    <p:extLst>
      <p:ext uri="{BB962C8B-B14F-4D97-AF65-F5344CB8AC3E}">
        <p14:creationId xmlns:p14="http://schemas.microsoft.com/office/powerpoint/2010/main" val="408415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6</a:t>
            </a:fld>
            <a:endParaRPr lang="fr-FR"/>
          </a:p>
        </p:txBody>
      </p:sp>
    </p:spTree>
    <p:extLst>
      <p:ext uri="{BB962C8B-B14F-4D97-AF65-F5344CB8AC3E}">
        <p14:creationId xmlns:p14="http://schemas.microsoft.com/office/powerpoint/2010/main" val="1122251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7</a:t>
            </a:fld>
            <a:endParaRPr lang="fr-FR"/>
          </a:p>
        </p:txBody>
      </p:sp>
    </p:spTree>
    <p:extLst>
      <p:ext uri="{BB962C8B-B14F-4D97-AF65-F5344CB8AC3E}">
        <p14:creationId xmlns:p14="http://schemas.microsoft.com/office/powerpoint/2010/main" val="3197615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8</a:t>
            </a:fld>
            <a:endParaRPr lang="fr-FR"/>
          </a:p>
        </p:txBody>
      </p:sp>
    </p:spTree>
    <p:extLst>
      <p:ext uri="{BB962C8B-B14F-4D97-AF65-F5344CB8AC3E}">
        <p14:creationId xmlns:p14="http://schemas.microsoft.com/office/powerpoint/2010/main" val="986043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9</a:t>
            </a:fld>
            <a:endParaRPr lang="fr-FR"/>
          </a:p>
        </p:txBody>
      </p:sp>
    </p:spTree>
    <p:extLst>
      <p:ext uri="{BB962C8B-B14F-4D97-AF65-F5344CB8AC3E}">
        <p14:creationId xmlns:p14="http://schemas.microsoft.com/office/powerpoint/2010/main" val="4251188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10</a:t>
            </a:fld>
            <a:endParaRPr lang="fr-FR"/>
          </a:p>
        </p:txBody>
      </p:sp>
    </p:spTree>
    <p:extLst>
      <p:ext uri="{BB962C8B-B14F-4D97-AF65-F5344CB8AC3E}">
        <p14:creationId xmlns:p14="http://schemas.microsoft.com/office/powerpoint/2010/main" val="2818034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11</a:t>
            </a:fld>
            <a:endParaRPr lang="fr-FR"/>
          </a:p>
        </p:txBody>
      </p:sp>
    </p:spTree>
    <p:extLst>
      <p:ext uri="{BB962C8B-B14F-4D97-AF65-F5344CB8AC3E}">
        <p14:creationId xmlns:p14="http://schemas.microsoft.com/office/powerpoint/2010/main" val="1896013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12</a:t>
            </a:fld>
            <a:endParaRPr lang="fr-FR"/>
          </a:p>
        </p:txBody>
      </p:sp>
    </p:spTree>
    <p:extLst>
      <p:ext uri="{BB962C8B-B14F-4D97-AF65-F5344CB8AC3E}">
        <p14:creationId xmlns:p14="http://schemas.microsoft.com/office/powerpoint/2010/main" val="1526588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0C5D363-A32F-4A5F-B889-D368C8CD44A2}" type="slidenum">
              <a:rPr lang="fr-FR" smtClean="0"/>
              <a:t>13</a:t>
            </a:fld>
            <a:endParaRPr lang="fr-FR"/>
          </a:p>
        </p:txBody>
      </p:sp>
    </p:spTree>
    <p:extLst>
      <p:ext uri="{BB962C8B-B14F-4D97-AF65-F5344CB8AC3E}">
        <p14:creationId xmlns:p14="http://schemas.microsoft.com/office/powerpoint/2010/main" val="93523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999836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76148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1232511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9F1E6F8-5363-4348-B67E-29989DBBBF45}" type="datetimeFigureOut">
              <a:rPr lang="fr-FR" smtClean="0"/>
              <a:t>10/02/2026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18114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9F1E6F8-5363-4348-B67E-29989DBBBF45}" type="datetimeFigureOut">
              <a:rPr lang="fr-FR" smtClean="0"/>
              <a:t>10/02/2026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18679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69F1E6F8-5363-4348-B67E-29989DBBBF45}" type="datetimeFigureOut">
              <a:rPr lang="fr-FR" smtClean="0"/>
              <a:t>10/02/2026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64316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9F1E6F8-5363-4348-B67E-29989DBBBF45}" type="datetimeFigureOut">
              <a:rPr lang="fr-FR" smtClean="0"/>
              <a:t>10/02/2026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94853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9F1E6F8-5363-4348-B67E-29989DBBBF45}" type="datetimeFigureOut">
              <a:rPr lang="fr-FR" smtClean="0"/>
              <a:t>10/02/2026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627496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9F1E6F8-5363-4348-B67E-29989DBBBF45}" type="datetimeFigureOut">
              <a:rPr lang="fr-FR" smtClean="0"/>
              <a:t>10/02/2026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3089036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227255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8DE1BC-5C81-4EAC-A74B-731F54523ED2}" type="slidenum">
              <a:rPr lang="fr-FR" smtClean="0"/>
              <a:t>‹N°›</a:t>
            </a:fld>
            <a:endParaRPr lang="fr-FR"/>
          </a:p>
        </p:txBody>
      </p:sp>
    </p:spTree>
    <p:extLst>
      <p:ext uri="{BB962C8B-B14F-4D97-AF65-F5344CB8AC3E}">
        <p14:creationId xmlns:p14="http://schemas.microsoft.com/office/powerpoint/2010/main" val="1539149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F1E6F8-5363-4348-B67E-29989DBBBF45}" type="datetimeFigureOut">
              <a:rPr lang="fr-FR" smtClean="0"/>
              <a:t>10/02/2026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8DE1BC-5C81-4EAC-A74B-731F54523ED2}" type="slidenum">
              <a:rPr lang="fr-FR" smtClean="0"/>
              <a:t>‹N°›</a:t>
            </a:fld>
            <a:endParaRPr lang="fr-FR"/>
          </a:p>
        </p:txBody>
      </p:sp>
    </p:spTree>
    <p:extLst>
      <p:ext uri="{BB962C8B-B14F-4D97-AF65-F5344CB8AC3E}">
        <p14:creationId xmlns:p14="http://schemas.microsoft.com/office/powerpoint/2010/main" val="1858916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727199"/>
            <a:ext cx="9144000" cy="1163927"/>
          </a:xfrm>
        </p:spPr>
        <p:txBody>
          <a:bodyPr>
            <a:normAutofit/>
          </a:bodyPr>
          <a:lstStyle/>
          <a:p>
            <a:r>
              <a:rPr lang="fr-FR" sz="4800" dirty="0" smtClean="0">
                <a:latin typeface="Times New Roman" panose="02020603050405020304" pitchFamily="18" charset="0"/>
                <a:cs typeface="Times New Roman" panose="02020603050405020304" pitchFamily="18" charset="0"/>
              </a:rPr>
              <a:t>Langage de définition de données</a:t>
            </a:r>
            <a:endParaRPr lang="fr-FR" sz="4800" dirty="0">
              <a:latin typeface="Times New Roman" panose="02020603050405020304" pitchFamily="18" charset="0"/>
              <a:cs typeface="Times New Roman" panose="02020603050405020304" pitchFamily="18" charset="0"/>
            </a:endParaRPr>
          </a:p>
        </p:txBody>
      </p:sp>
      <p:sp>
        <p:nvSpPr>
          <p:cNvPr id="3" name="Sous-titre 2"/>
          <p:cNvSpPr>
            <a:spLocks noGrp="1"/>
          </p:cNvSpPr>
          <p:nvPr>
            <p:ph type="subTitle" idx="1"/>
          </p:nvPr>
        </p:nvSpPr>
        <p:spPr>
          <a:xfrm>
            <a:off x="3519054" y="3214111"/>
            <a:ext cx="5153891" cy="655926"/>
          </a:xfrm>
          <a:ln w="28575">
            <a:solidFill>
              <a:schemeClr val="tx1"/>
            </a:solidFill>
          </a:ln>
        </p:spPr>
        <p:txBody>
          <a:bodyPr/>
          <a:lstStyle/>
          <a:p>
            <a:r>
              <a:rPr lang="fr-FR" dirty="0" smtClean="0">
                <a:latin typeface="Times New Roman" panose="02020603050405020304" pitchFamily="18" charset="0"/>
                <a:cs typeface="Times New Roman" panose="02020603050405020304" pitchFamily="18" charset="0"/>
              </a:rPr>
              <a:t>Evolution d’un schéma</a:t>
            </a:r>
            <a:endParaRPr lang="fr-FR" dirty="0">
              <a:latin typeface="Times New Roman" panose="02020603050405020304" pitchFamily="18" charset="0"/>
              <a:cs typeface="Times New Roman" panose="02020603050405020304" pitchFamily="18" charset="0"/>
            </a:endParaRPr>
          </a:p>
        </p:txBody>
      </p:sp>
      <p:pic>
        <p:nvPicPr>
          <p:cNvPr id="4" name="Image 3" descr="logo-1.png"/>
          <p:cNvPicPr>
            <a:picLocks noChangeAspect="1"/>
          </p:cNvPicPr>
          <p:nvPr/>
        </p:nvPicPr>
        <p:blipFill>
          <a:blip r:embed="rId2" cstate="print"/>
          <a:stretch>
            <a:fillRect/>
          </a:stretch>
        </p:blipFill>
        <p:spPr>
          <a:xfrm>
            <a:off x="8275781" y="146608"/>
            <a:ext cx="3619897" cy="791852"/>
          </a:xfrm>
          <a:prstGeom prst="rect">
            <a:avLst/>
          </a:prstGeom>
        </p:spPr>
      </p:pic>
      <p:sp>
        <p:nvSpPr>
          <p:cNvPr id="5" name="ZoneTexte 4"/>
          <p:cNvSpPr txBox="1"/>
          <p:nvPr/>
        </p:nvSpPr>
        <p:spPr>
          <a:xfrm>
            <a:off x="8331755" y="5837382"/>
            <a:ext cx="3507948" cy="400110"/>
          </a:xfrm>
          <a:prstGeom prst="rect">
            <a:avLst/>
          </a:prstGeom>
          <a:noFill/>
        </p:spPr>
        <p:txBody>
          <a:bodyPr wrap="none" rtlCol="0">
            <a:spAutoFit/>
          </a:bodyPr>
          <a:lstStyle/>
          <a:p>
            <a:r>
              <a:rPr lang="fr-FR" sz="2000" dirty="0" smtClean="0">
                <a:latin typeface="Times New Roman" panose="02020603050405020304" pitchFamily="18" charset="0"/>
                <a:cs typeface="Times New Roman" panose="02020603050405020304" pitchFamily="18" charset="0"/>
              </a:rPr>
              <a:t>Professeur : AMALOU </a:t>
            </a:r>
            <a:r>
              <a:rPr lang="fr-FR" sz="2000" dirty="0" err="1" smtClean="0">
                <a:latin typeface="Times New Roman" panose="02020603050405020304" pitchFamily="18" charset="0"/>
                <a:cs typeface="Times New Roman" panose="02020603050405020304" pitchFamily="18" charset="0"/>
              </a:rPr>
              <a:t>Ibtissam</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698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95406" y="1806717"/>
            <a:ext cx="10515600" cy="3378469"/>
          </a:xfrm>
        </p:spPr>
        <p:txBody>
          <a:bodyPr>
            <a:normAutofit fontScale="92500" lnSpcReduction="10000"/>
          </a:bodyPr>
          <a:lstStyle/>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Modification d’une table</a:t>
            </a:r>
            <a:endParaRPr lang="fr-FR"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Modification des colonnes d’une table (Ajout, suppression, modification du type)</a:t>
            </a:r>
            <a:endParaRPr lang="fr-FR" dirty="0" smtClean="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Modification des contraintes d’une table</a:t>
            </a:r>
          </a:p>
          <a:p>
            <a:pPr marL="514350" indent="-514350">
              <a:lnSpc>
                <a:spcPct val="150000"/>
              </a:lnSpc>
              <a:buAutoNum type="arabicPeriod"/>
            </a:pPr>
            <a:r>
              <a:rPr lang="fr-FR" dirty="0" smtClean="0">
                <a:latin typeface="Times New Roman" panose="02020603050405020304" pitchFamily="18" charset="0"/>
                <a:cs typeface="Times New Roman" panose="02020603050405020304" pitchFamily="18" charset="0"/>
              </a:rPr>
              <a:t>Suppression d’une table</a:t>
            </a:r>
            <a:endParaRPr lang="fr-FR"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4334163" y="563418"/>
            <a:ext cx="7857837"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90" y="354157"/>
            <a:ext cx="2618510"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Plan du cour</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0071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819887" y="563418"/>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448436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Renommer une table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1382136" y="1474981"/>
            <a:ext cx="9181873" cy="390395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Renommer une table en SQL est une opération </a:t>
            </a:r>
            <a:r>
              <a:rPr lang="fr-FR" sz="2400" dirty="0" smtClean="0">
                <a:latin typeface="Times New Roman" panose="02020603050405020304" pitchFamily="18" charset="0"/>
                <a:cs typeface="Times New Roman" panose="02020603050405020304" pitchFamily="18" charset="0"/>
              </a:rPr>
              <a:t>courante, pour laquelle on utilise la commande : </a:t>
            </a: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r>
              <a:rPr lang="fr-FR" sz="2400" b="1" dirty="0" smtClean="0">
                <a:solidFill>
                  <a:srgbClr val="FF0000"/>
                </a:solidFill>
                <a:latin typeface="Times New Roman" panose="02020603050405020304" pitchFamily="18" charset="0"/>
                <a:cs typeface="Times New Roman" panose="02020603050405020304" pitchFamily="18" charset="0"/>
              </a:rPr>
              <a:t>!!!</a:t>
            </a:r>
            <a:r>
              <a:rPr lang="fr-FR" sz="2400" b="1" dirty="0" smtClean="0">
                <a:latin typeface="Times New Roman" panose="02020603050405020304" pitchFamily="18" charset="0"/>
                <a:cs typeface="Times New Roman" panose="02020603050405020304" pitchFamily="18" charset="0"/>
              </a:rPr>
              <a:t> Dépendances </a:t>
            </a:r>
            <a:r>
              <a:rPr lang="fr-FR" sz="2400" b="1" dirty="0">
                <a:latin typeface="Times New Roman" panose="02020603050405020304" pitchFamily="18" charset="0"/>
                <a:cs typeface="Times New Roman" panose="02020603050405020304" pitchFamily="18" charset="0"/>
              </a:rPr>
              <a:t>:</a:t>
            </a:r>
            <a:r>
              <a:rPr lang="fr-FR" sz="2400" dirty="0">
                <a:latin typeface="Times New Roman" panose="02020603050405020304" pitchFamily="18" charset="0"/>
                <a:cs typeface="Times New Roman" panose="02020603050405020304" pitchFamily="18" charset="0"/>
              </a:rPr>
              <a:t> Les vues (</a:t>
            </a:r>
            <a:r>
              <a:rPr lang="fr-FR" sz="2400" dirty="0" err="1">
                <a:latin typeface="Times New Roman" panose="02020603050405020304" pitchFamily="18" charset="0"/>
                <a:cs typeface="Times New Roman" panose="02020603050405020304" pitchFamily="18" charset="0"/>
              </a:rPr>
              <a:t>Views</a:t>
            </a:r>
            <a:r>
              <a:rPr lang="fr-FR" sz="2400" dirty="0">
                <a:latin typeface="Times New Roman" panose="02020603050405020304" pitchFamily="18" charset="0"/>
                <a:cs typeface="Times New Roman" panose="02020603050405020304" pitchFamily="18" charset="0"/>
              </a:rPr>
              <a:t>), les procédures stockées et les fonctions qui appellent l'ancien nom de la table ne seront plus fonctionnelles. Vous devrez les mettre à jour manuellement.</a:t>
            </a:r>
            <a:endParaRPr lang="fr-FR" sz="2400" dirty="0" smtClean="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2"/>
          <a:stretch>
            <a:fillRect/>
          </a:stretch>
        </p:blipFill>
        <p:spPr>
          <a:xfrm>
            <a:off x="2431104" y="2869586"/>
            <a:ext cx="7251285" cy="486800"/>
          </a:xfrm>
          <a:prstGeom prst="rect">
            <a:avLst/>
          </a:prstGeom>
        </p:spPr>
      </p:pic>
    </p:spTree>
    <p:extLst>
      <p:ext uri="{BB962C8B-B14F-4D97-AF65-F5344CB8AC3E}">
        <p14:creationId xmlns:p14="http://schemas.microsoft.com/office/powerpoint/2010/main" val="95647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819887" y="563418"/>
            <a:ext cx="6372113"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448436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Ajouter une colonne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968133" y="1431950"/>
            <a:ext cx="10424215"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smtClean="0">
                <a:latin typeface="Times New Roman" panose="02020603050405020304" pitchFamily="18" charset="0"/>
                <a:cs typeface="Times New Roman" panose="02020603050405020304" pitchFamily="18" charset="0"/>
              </a:rPr>
              <a:t>L’ajout d’une colonne à une table déjà existante en SQL se fait par la commande : </a:t>
            </a: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r>
              <a:rPr lang="fr-FR" sz="2400" b="1" dirty="0" smtClean="0">
                <a:latin typeface="Times New Roman" panose="02020603050405020304" pitchFamily="18" charset="0"/>
                <a:cs typeface="Times New Roman" panose="02020603050405020304" pitchFamily="18" charset="0"/>
              </a:rPr>
              <a:t>Exemple :</a:t>
            </a:r>
          </a:p>
          <a:p>
            <a:pPr algn="just">
              <a:lnSpc>
                <a:spcPct val="150000"/>
              </a:lnSpc>
            </a:pPr>
            <a:r>
              <a:rPr lang="fr-FR" sz="2400" dirty="0" smtClean="0">
                <a:latin typeface="Times New Roman" panose="02020603050405020304" pitchFamily="18" charset="0"/>
                <a:cs typeface="Times New Roman" panose="02020603050405020304" pitchFamily="18" charset="0"/>
              </a:rPr>
              <a:t>L’ajout d’une colonne à une </a:t>
            </a:r>
            <a:r>
              <a:rPr lang="fr-FR" sz="2400" dirty="0">
                <a:latin typeface="Times New Roman" panose="02020603050405020304" pitchFamily="18" charset="0"/>
                <a:cs typeface="Times New Roman" panose="02020603050405020304" pitchFamily="18" charset="0"/>
              </a:rPr>
              <a:t>table qui contient déjà beaucoup de données. En ajoutant une valeur par défaut, SQL remplit automatiquement toutes les lignes existantes avec cette valeur au lieu de laisser des cases vides (NULL).</a:t>
            </a: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p:txBody>
      </p:sp>
      <p:pic>
        <p:nvPicPr>
          <p:cNvPr id="8" name="Image 7"/>
          <p:cNvPicPr>
            <a:picLocks noChangeAspect="1"/>
          </p:cNvPicPr>
          <p:nvPr/>
        </p:nvPicPr>
        <p:blipFill>
          <a:blip r:embed="rId3"/>
          <a:stretch>
            <a:fillRect/>
          </a:stretch>
        </p:blipFill>
        <p:spPr>
          <a:xfrm>
            <a:off x="1943152" y="4942253"/>
            <a:ext cx="8474174" cy="853514"/>
          </a:xfrm>
          <a:prstGeom prst="rect">
            <a:avLst/>
          </a:prstGeom>
        </p:spPr>
      </p:pic>
      <p:pic>
        <p:nvPicPr>
          <p:cNvPr id="9" name="Image 8"/>
          <p:cNvPicPr>
            <a:picLocks noChangeAspect="1"/>
          </p:cNvPicPr>
          <p:nvPr/>
        </p:nvPicPr>
        <p:blipFill>
          <a:blip r:embed="rId4"/>
          <a:stretch>
            <a:fillRect/>
          </a:stretch>
        </p:blipFill>
        <p:spPr>
          <a:xfrm>
            <a:off x="1204800" y="2144363"/>
            <a:ext cx="9950879" cy="476420"/>
          </a:xfrm>
          <a:prstGeom prst="rect">
            <a:avLst/>
          </a:prstGeom>
        </p:spPr>
      </p:pic>
    </p:spTree>
    <p:extLst>
      <p:ext uri="{BB962C8B-B14F-4D97-AF65-F5344CB8AC3E}">
        <p14:creationId xmlns:p14="http://schemas.microsoft.com/office/powerpoint/2010/main" val="384884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336254" y="563418"/>
            <a:ext cx="585574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448436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Supprimer une colonne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968133" y="1431950"/>
            <a:ext cx="10424215" cy="39703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dirty="0">
                <a:latin typeface="Times New Roman" panose="02020603050405020304" pitchFamily="18" charset="0"/>
                <a:cs typeface="Times New Roman" panose="02020603050405020304" pitchFamily="18" charset="0"/>
              </a:rPr>
              <a:t>Supprimer une colonne </a:t>
            </a:r>
            <a:r>
              <a:rPr lang="fr-FR" sz="2400" dirty="0" smtClean="0">
                <a:latin typeface="Times New Roman" panose="02020603050405020304" pitchFamily="18" charset="0"/>
                <a:cs typeface="Times New Roman" panose="02020603050405020304" pitchFamily="18" charset="0"/>
              </a:rPr>
              <a:t>dans </a:t>
            </a:r>
            <a:r>
              <a:rPr lang="fr-FR" sz="2400" b="1" dirty="0" smtClean="0">
                <a:latin typeface="Times New Roman" panose="02020603050405020304" pitchFamily="18" charset="0"/>
                <a:cs typeface="Times New Roman" panose="02020603050405020304" pitchFamily="18" charset="0"/>
              </a:rPr>
              <a:t>SQL </a:t>
            </a:r>
            <a:r>
              <a:rPr lang="fr-FR" sz="2400" dirty="0" smtClean="0">
                <a:latin typeface="Times New Roman" panose="02020603050405020304" pitchFamily="18" charset="0"/>
                <a:cs typeface="Times New Roman" panose="02020603050405020304" pitchFamily="18" charset="0"/>
              </a:rPr>
              <a:t>est </a:t>
            </a:r>
            <a:r>
              <a:rPr lang="fr-FR" sz="2400" dirty="0">
                <a:latin typeface="Times New Roman" panose="02020603050405020304" pitchFamily="18" charset="0"/>
                <a:cs typeface="Times New Roman" panose="02020603050405020304" pitchFamily="18" charset="0"/>
              </a:rPr>
              <a:t>une opération irréversible : une fois la colonne supprimée, toutes les données qu'elle contenait sont définitivement perdues</a:t>
            </a:r>
            <a:r>
              <a:rPr lang="fr-FR" sz="2400" dirty="0" smtClean="0">
                <a:latin typeface="Times New Roman" panose="02020603050405020304" pitchFamily="18" charset="0"/>
                <a:cs typeface="Times New Roman" panose="02020603050405020304" pitchFamily="18" charset="0"/>
              </a:rPr>
              <a:t>.</a:t>
            </a: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r>
              <a:rPr lang="fr-FR" sz="2400" dirty="0" smtClean="0">
                <a:latin typeface="Times New Roman" panose="02020603050405020304" pitchFamily="18" charset="0"/>
                <a:cs typeface="Times New Roman" panose="02020603050405020304" pitchFamily="18" charset="0"/>
              </a:rPr>
              <a:t>Exemple :</a:t>
            </a: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460918" y="3274337"/>
            <a:ext cx="9438644" cy="598416"/>
          </a:xfrm>
          <a:prstGeom prst="rect">
            <a:avLst/>
          </a:prstGeom>
        </p:spPr>
      </p:pic>
      <p:pic>
        <p:nvPicPr>
          <p:cNvPr id="3" name="Image 2"/>
          <p:cNvPicPr>
            <a:picLocks noChangeAspect="1"/>
          </p:cNvPicPr>
          <p:nvPr/>
        </p:nvPicPr>
        <p:blipFill>
          <a:blip r:embed="rId4"/>
          <a:stretch>
            <a:fillRect/>
          </a:stretch>
        </p:blipFill>
        <p:spPr>
          <a:xfrm>
            <a:off x="2890854" y="4656079"/>
            <a:ext cx="6583419" cy="604410"/>
          </a:xfrm>
          <a:prstGeom prst="rect">
            <a:avLst/>
          </a:prstGeom>
        </p:spPr>
      </p:pic>
    </p:spTree>
    <p:extLst>
      <p:ext uri="{BB962C8B-B14F-4D97-AF65-F5344CB8AC3E}">
        <p14:creationId xmlns:p14="http://schemas.microsoft.com/office/powerpoint/2010/main" val="90605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884433" y="563418"/>
            <a:ext cx="6307567"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968133" y="1431950"/>
            <a:ext cx="10424215"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b="1" dirty="0" smtClean="0">
                <a:latin typeface="Times New Roman" panose="02020603050405020304" pitchFamily="18" charset="0"/>
                <a:cs typeface="Times New Roman" panose="02020603050405020304" pitchFamily="18" charset="0"/>
              </a:rPr>
              <a:t>La modification du type d’une colonne </a:t>
            </a:r>
            <a:r>
              <a:rPr lang="fr-FR" sz="2400" dirty="0" smtClean="0">
                <a:latin typeface="Times New Roman" panose="02020603050405020304" pitchFamily="18" charset="0"/>
                <a:cs typeface="Times New Roman" panose="02020603050405020304" pitchFamily="18" charset="0"/>
              </a:rPr>
              <a:t>se fait par la commande:</a:t>
            </a: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r>
              <a:rPr lang="fr-FR" sz="2400" dirty="0" smtClean="0">
                <a:latin typeface="Times New Roman" panose="02020603050405020304" pitchFamily="18" charset="0"/>
                <a:cs typeface="Times New Roman" panose="02020603050405020304" pitchFamily="18" charset="0"/>
              </a:rPr>
              <a:t>Exemple :</a:t>
            </a: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sz="2400" dirty="0" smtClean="0">
              <a:latin typeface="Times New Roman" panose="02020603050405020304" pitchFamily="18" charset="0"/>
              <a:cs typeface="Times New Roman" panose="02020603050405020304" pitchFamily="18" charset="0"/>
            </a:endParaRP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r>
              <a:rPr lang="fr-FR" sz="2400" dirty="0" smtClean="0">
                <a:latin typeface="Times New Roman" panose="02020603050405020304" pitchFamily="18" charset="0"/>
                <a:cs typeface="Times New Roman" panose="02020603050405020304" pitchFamily="18" charset="0"/>
              </a:rPr>
              <a:t> </a:t>
            </a: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688162" y="3202560"/>
            <a:ext cx="8984154" cy="603234"/>
          </a:xfrm>
          <a:prstGeom prst="rect">
            <a:avLst/>
          </a:prstGeom>
        </p:spPr>
      </p:pic>
      <p:pic>
        <p:nvPicPr>
          <p:cNvPr id="3" name="Image 2"/>
          <p:cNvPicPr>
            <a:picLocks noChangeAspect="1"/>
          </p:cNvPicPr>
          <p:nvPr/>
        </p:nvPicPr>
        <p:blipFill>
          <a:blip r:embed="rId4"/>
          <a:stretch>
            <a:fillRect/>
          </a:stretch>
        </p:blipFill>
        <p:spPr>
          <a:xfrm>
            <a:off x="2205284" y="3917815"/>
            <a:ext cx="7949909" cy="1926429"/>
          </a:xfrm>
          <a:prstGeom prst="rect">
            <a:avLst/>
          </a:prstGeom>
        </p:spPr>
      </p:pic>
      <p:pic>
        <p:nvPicPr>
          <p:cNvPr id="7" name="Image 6"/>
          <p:cNvPicPr>
            <a:picLocks noChangeAspect="1"/>
          </p:cNvPicPr>
          <p:nvPr/>
        </p:nvPicPr>
        <p:blipFill>
          <a:blip r:embed="rId5"/>
          <a:stretch>
            <a:fillRect/>
          </a:stretch>
        </p:blipFill>
        <p:spPr>
          <a:xfrm>
            <a:off x="2194634" y="2137284"/>
            <a:ext cx="7971211" cy="533446"/>
          </a:xfrm>
          <a:prstGeom prst="rect">
            <a:avLst/>
          </a:prstGeom>
        </p:spPr>
      </p:pic>
      <p:sp>
        <p:nvSpPr>
          <p:cNvPr id="9" name="ZoneTexte 8"/>
          <p:cNvSpPr txBox="1"/>
          <p:nvPr/>
        </p:nvSpPr>
        <p:spPr>
          <a:xfrm>
            <a:off x="1851889" y="354157"/>
            <a:ext cx="5689222"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Modifier </a:t>
            </a:r>
            <a:r>
              <a:rPr lang="fr-FR" sz="3200" b="1" dirty="0" smtClean="0">
                <a:latin typeface="Times New Roman" panose="02020603050405020304" pitchFamily="18" charset="0"/>
                <a:cs typeface="Times New Roman" panose="02020603050405020304" pitchFamily="18" charset="0"/>
              </a:rPr>
              <a:t>une colonne</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05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938221" y="563418"/>
            <a:ext cx="6253780"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5689222"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Modifier </a:t>
            </a:r>
            <a:r>
              <a:rPr lang="fr-FR" sz="3200" b="1" dirty="0" smtClean="0">
                <a:latin typeface="Times New Roman" panose="02020603050405020304" pitchFamily="18" charset="0"/>
                <a:cs typeface="Times New Roman" panose="02020603050405020304" pitchFamily="18" charset="0"/>
              </a:rPr>
              <a:t>une colonne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968133" y="1431950"/>
            <a:ext cx="10424215"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b="1" dirty="0" smtClean="0">
                <a:latin typeface="Times New Roman" panose="02020603050405020304" pitchFamily="18" charset="0"/>
                <a:cs typeface="Times New Roman" panose="02020603050405020304" pitchFamily="18" charset="0"/>
              </a:rPr>
              <a:t>La modification du nom </a:t>
            </a:r>
            <a:r>
              <a:rPr lang="fr-FR" sz="2400" dirty="0" smtClean="0">
                <a:latin typeface="Times New Roman" panose="02020603050405020304" pitchFamily="18" charset="0"/>
                <a:cs typeface="Times New Roman" panose="02020603050405020304" pitchFamily="18" charset="0"/>
              </a:rPr>
              <a:t>d’une colonne se fait par la commande:</a:t>
            </a: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r>
              <a:rPr lang="fr-FR" sz="2400" dirty="0" smtClean="0">
                <a:latin typeface="Times New Roman" panose="02020603050405020304" pitchFamily="18" charset="0"/>
                <a:cs typeface="Times New Roman" panose="02020603050405020304" pitchFamily="18" charset="0"/>
              </a:rPr>
              <a:t>Exemple :</a:t>
            </a: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10" name="Image 9"/>
          <p:cNvPicPr>
            <a:picLocks noChangeAspect="1"/>
          </p:cNvPicPr>
          <p:nvPr/>
        </p:nvPicPr>
        <p:blipFill>
          <a:blip r:embed="rId3"/>
          <a:stretch>
            <a:fillRect/>
          </a:stretch>
        </p:blipFill>
        <p:spPr>
          <a:xfrm>
            <a:off x="1265527" y="3151400"/>
            <a:ext cx="9829425" cy="566412"/>
          </a:xfrm>
          <a:prstGeom prst="rect">
            <a:avLst/>
          </a:prstGeom>
        </p:spPr>
      </p:pic>
      <p:pic>
        <p:nvPicPr>
          <p:cNvPr id="11" name="Image 10"/>
          <p:cNvPicPr>
            <a:picLocks noChangeAspect="1"/>
          </p:cNvPicPr>
          <p:nvPr/>
        </p:nvPicPr>
        <p:blipFill>
          <a:blip r:embed="rId4"/>
          <a:stretch>
            <a:fillRect/>
          </a:stretch>
        </p:blipFill>
        <p:spPr>
          <a:xfrm>
            <a:off x="1764145" y="2070635"/>
            <a:ext cx="8599189" cy="587747"/>
          </a:xfrm>
          <a:prstGeom prst="rect">
            <a:avLst/>
          </a:prstGeom>
        </p:spPr>
      </p:pic>
      <p:sp>
        <p:nvSpPr>
          <p:cNvPr id="14" name="ZoneTexte 13"/>
          <p:cNvSpPr txBox="1"/>
          <p:nvPr/>
        </p:nvSpPr>
        <p:spPr>
          <a:xfrm>
            <a:off x="968133" y="4101640"/>
            <a:ext cx="10424215"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lnSpc>
                <a:spcPct val="150000"/>
              </a:lnSpc>
            </a:pPr>
            <a:r>
              <a:rPr lang="fr-FR" sz="2400" b="1" dirty="0" smtClean="0">
                <a:latin typeface="Times New Roman" panose="02020603050405020304" pitchFamily="18" charset="0"/>
                <a:cs typeface="Times New Roman" panose="02020603050405020304" pitchFamily="18" charset="0"/>
              </a:rPr>
              <a:t>La modification de valeur par défaut </a:t>
            </a:r>
            <a:r>
              <a:rPr lang="fr-FR" sz="2400" dirty="0" smtClean="0">
                <a:latin typeface="Times New Roman" panose="02020603050405020304" pitchFamily="18" charset="0"/>
                <a:cs typeface="Times New Roman" panose="02020603050405020304" pitchFamily="18" charset="0"/>
              </a:rPr>
              <a:t>se fait par la commande:</a:t>
            </a:r>
          </a:p>
          <a:p>
            <a:pPr algn="just">
              <a:lnSpc>
                <a:spcPct val="150000"/>
              </a:lnSpc>
            </a:pPr>
            <a:endParaRPr lang="fr-FR" sz="2400" dirty="0">
              <a:latin typeface="Times New Roman" panose="02020603050405020304" pitchFamily="18" charset="0"/>
              <a:cs typeface="Times New Roman" panose="02020603050405020304" pitchFamily="18" charset="0"/>
            </a:endParaRPr>
          </a:p>
          <a:p>
            <a:pPr algn="just">
              <a:lnSpc>
                <a:spcPct val="150000"/>
              </a:lnSpc>
            </a:pPr>
            <a:r>
              <a:rPr lang="fr-FR" sz="2400" dirty="0" smtClean="0">
                <a:latin typeface="Times New Roman" panose="02020603050405020304" pitchFamily="18" charset="0"/>
                <a:cs typeface="Times New Roman" panose="02020603050405020304" pitchFamily="18" charset="0"/>
              </a:rPr>
              <a:t>Exemple :</a:t>
            </a: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pic>
        <p:nvPicPr>
          <p:cNvPr id="12" name="Image 11"/>
          <p:cNvPicPr>
            <a:picLocks noChangeAspect="1"/>
          </p:cNvPicPr>
          <p:nvPr/>
        </p:nvPicPr>
        <p:blipFill>
          <a:blip r:embed="rId5"/>
          <a:stretch>
            <a:fillRect/>
          </a:stretch>
        </p:blipFill>
        <p:spPr>
          <a:xfrm>
            <a:off x="1957758" y="4803047"/>
            <a:ext cx="8405576" cy="543504"/>
          </a:xfrm>
          <a:prstGeom prst="rect">
            <a:avLst/>
          </a:prstGeom>
        </p:spPr>
      </p:pic>
      <p:pic>
        <p:nvPicPr>
          <p:cNvPr id="16" name="Image 15"/>
          <p:cNvPicPr>
            <a:picLocks noChangeAspect="1"/>
          </p:cNvPicPr>
          <p:nvPr/>
        </p:nvPicPr>
        <p:blipFill>
          <a:blip r:embed="rId6"/>
          <a:stretch>
            <a:fillRect/>
          </a:stretch>
        </p:blipFill>
        <p:spPr>
          <a:xfrm>
            <a:off x="1957758" y="5822528"/>
            <a:ext cx="8530272" cy="450860"/>
          </a:xfrm>
          <a:prstGeom prst="rect">
            <a:avLst/>
          </a:prstGeom>
        </p:spPr>
      </p:pic>
    </p:spTree>
    <p:extLst>
      <p:ext uri="{BB962C8B-B14F-4D97-AF65-F5344CB8AC3E}">
        <p14:creationId xmlns:p14="http://schemas.microsoft.com/office/powerpoint/2010/main" val="6549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060514" y="563418"/>
            <a:ext cx="613148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664230" y="1388919"/>
            <a:ext cx="10951283" cy="415498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2400" dirty="0">
                <a:latin typeface="Times New Roman" panose="02020603050405020304" pitchFamily="18" charset="0"/>
                <a:cs typeface="Times New Roman" panose="02020603050405020304" pitchFamily="18" charset="0"/>
              </a:rPr>
              <a:t>Pour ajouter une contrainte à une table existante, on utilise ADD CONSTRAINT. </a:t>
            </a:r>
            <a:r>
              <a:rPr lang="fr-FR" sz="2400" dirty="0">
                <a:latin typeface="Times New Roman" panose="02020603050405020304" pitchFamily="18" charset="0"/>
                <a:cs typeface="Times New Roman" panose="02020603050405020304" pitchFamily="18" charset="0"/>
              </a:rPr>
              <a:t>Il est </a:t>
            </a:r>
            <a:r>
              <a:rPr lang="fr-FR" sz="2400" b="1" dirty="0">
                <a:latin typeface="Times New Roman" panose="02020603050405020304" pitchFamily="18" charset="0"/>
                <a:cs typeface="Times New Roman" panose="02020603050405020304" pitchFamily="18" charset="0"/>
              </a:rPr>
              <a:t>fortement recommandé </a:t>
            </a:r>
            <a:r>
              <a:rPr lang="fr-FR" sz="2400" dirty="0">
                <a:latin typeface="Times New Roman" panose="02020603050405020304" pitchFamily="18" charset="0"/>
                <a:cs typeface="Times New Roman" panose="02020603050405020304" pitchFamily="18" charset="0"/>
              </a:rPr>
              <a:t>de donner un nom à votre contrainte pour pouvoir la manipuler plus facilement plus tard</a:t>
            </a:r>
            <a:r>
              <a:rPr lang="fr-FR" sz="24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Clé étrangère :</a:t>
            </a:r>
          </a:p>
          <a:p>
            <a:pPr marL="342900" indent="-342900">
              <a:buFont typeface="Arial" panose="020B0604020202020204" pitchFamily="34" charset="0"/>
              <a:buChar char="•"/>
            </a:pPr>
            <a:endParaRPr lang="fr-FR"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fr-FR" sz="2400" dirty="0" smtClean="0">
              <a:latin typeface="Times New Roman" panose="02020603050405020304" pitchFamily="18" charset="0"/>
              <a:cs typeface="Times New Roman" panose="02020603050405020304" pitchFamily="18" charset="0"/>
            </a:endParaRPr>
          </a:p>
          <a:p>
            <a:endParaRPr lang="fr-FR"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Contrainte de vérification (Check):</a:t>
            </a:r>
          </a:p>
          <a:p>
            <a:endParaRPr lang="fr-FR" sz="2400" dirty="0">
              <a:latin typeface="Times New Roman" panose="02020603050405020304" pitchFamily="18" charset="0"/>
              <a:cs typeface="Times New Roman" panose="02020603050405020304" pitchFamily="18" charset="0"/>
            </a:endParaRPr>
          </a:p>
          <a:p>
            <a:endParaRPr lang="fr-FR" sz="2400" dirty="0" smtClean="0">
              <a:latin typeface="Times New Roman" panose="02020603050405020304" pitchFamily="18" charset="0"/>
              <a:cs typeface="Times New Roman" panose="02020603050405020304" pitchFamily="18" charset="0"/>
            </a:endParaRPr>
          </a:p>
          <a:p>
            <a:endParaRPr lang="fr-FR" sz="2400" dirty="0">
              <a:latin typeface="Times New Roman" panose="02020603050405020304" pitchFamily="18" charset="0"/>
              <a:cs typeface="Times New Roman" panose="02020603050405020304" pitchFamily="18" charset="0"/>
            </a:endParaRPr>
          </a:p>
        </p:txBody>
      </p:sp>
      <p:sp>
        <p:nvSpPr>
          <p:cNvPr id="2" name="ZoneTexte 1"/>
          <p:cNvSpPr txBox="1"/>
          <p:nvPr/>
        </p:nvSpPr>
        <p:spPr>
          <a:xfrm>
            <a:off x="1764145" y="271030"/>
            <a:ext cx="4296369" cy="584775"/>
          </a:xfrm>
          <a:prstGeom prst="rect">
            <a:avLst/>
          </a:prstGeom>
          <a:noFill/>
        </p:spPr>
        <p:txBody>
          <a:bodyPr wrap="none" rtlCol="0">
            <a:spAutoFit/>
          </a:bodyPr>
          <a:lstStyle/>
          <a:p>
            <a:r>
              <a:rPr lang="fr-FR" sz="3200" b="1" dirty="0">
                <a:latin typeface="Times New Roman" panose="02020603050405020304" pitchFamily="18" charset="0"/>
                <a:cs typeface="Times New Roman" panose="02020603050405020304" pitchFamily="18" charset="0"/>
              </a:rPr>
              <a:t>Ajout d’une contrainte </a:t>
            </a:r>
            <a:endParaRPr lang="fr-FR" sz="3200" b="1" dirty="0">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3"/>
          <a:stretch>
            <a:fillRect/>
          </a:stretch>
        </p:blipFill>
        <p:spPr>
          <a:xfrm>
            <a:off x="1845629" y="2991929"/>
            <a:ext cx="8588484" cy="960203"/>
          </a:xfrm>
          <a:prstGeom prst="rect">
            <a:avLst/>
          </a:prstGeom>
        </p:spPr>
      </p:pic>
      <p:pic>
        <p:nvPicPr>
          <p:cNvPr id="9" name="Image 8"/>
          <p:cNvPicPr>
            <a:picLocks noChangeAspect="1"/>
          </p:cNvPicPr>
          <p:nvPr/>
        </p:nvPicPr>
        <p:blipFill>
          <a:blip r:embed="rId4"/>
          <a:stretch>
            <a:fillRect/>
          </a:stretch>
        </p:blipFill>
        <p:spPr>
          <a:xfrm>
            <a:off x="1994232" y="4611378"/>
            <a:ext cx="8291278" cy="777307"/>
          </a:xfrm>
          <a:prstGeom prst="rect">
            <a:avLst/>
          </a:prstGeom>
        </p:spPr>
      </p:pic>
    </p:spTree>
    <p:extLst>
      <p:ext uri="{BB962C8B-B14F-4D97-AF65-F5344CB8AC3E}">
        <p14:creationId xmlns:p14="http://schemas.microsoft.com/office/powerpoint/2010/main" val="88106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601303" y="563418"/>
            <a:ext cx="5590697"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739534" y="1388919"/>
            <a:ext cx="10951283"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Arial" panose="020B0604020202020204" pitchFamily="34" charset="0"/>
              <a:buChar char="•"/>
            </a:pPr>
            <a:r>
              <a:rPr lang="fr-FR" sz="2400" b="1" dirty="0">
                <a:latin typeface="Times New Roman" panose="02020603050405020304" pitchFamily="18" charset="0"/>
                <a:cs typeface="Times New Roman" panose="02020603050405020304" pitchFamily="18" charset="0"/>
              </a:rPr>
              <a:t>Supprimer une clé étrangère:</a:t>
            </a:r>
          </a:p>
          <a:p>
            <a:endParaRPr lang="fr-FR" sz="2400" dirty="0" smtClean="0"/>
          </a:p>
          <a:p>
            <a:endParaRPr lang="fr-FR" sz="2400" dirty="0"/>
          </a:p>
          <a:p>
            <a:r>
              <a:rPr lang="fr-FR" sz="2400" dirty="0">
                <a:latin typeface="Times New Roman" panose="02020603050405020304" pitchFamily="18" charset="0"/>
                <a:cs typeface="Times New Roman" panose="02020603050405020304" pitchFamily="18" charset="0"/>
              </a:rPr>
              <a:t>On peut voir le nom de la contrainte par la requête </a:t>
            </a:r>
            <a:r>
              <a:rPr lang="fr-FR" sz="2400" dirty="0" smtClean="0">
                <a:latin typeface="Times New Roman" panose="02020603050405020304" pitchFamily="18" charset="0"/>
                <a:cs typeface="Times New Roman" panose="02020603050405020304" pitchFamily="18" charset="0"/>
              </a:rPr>
              <a:t>suivante:</a:t>
            </a:r>
          </a:p>
          <a:p>
            <a:r>
              <a:rPr lang="fr-FR" sz="2400" dirty="0" smtClean="0">
                <a:latin typeface="Times New Roman" panose="02020603050405020304" pitchFamily="18" charset="0"/>
                <a:cs typeface="Times New Roman" panose="02020603050405020304" pitchFamily="18" charset="0"/>
              </a:rPr>
              <a:t> </a:t>
            </a:r>
            <a:endParaRPr lang="fr-FR" sz="2400" dirty="0">
              <a:latin typeface="Times New Roman" panose="02020603050405020304" pitchFamily="18" charset="0"/>
              <a:cs typeface="Times New Roman" panose="02020603050405020304" pitchFamily="18" charset="0"/>
            </a:endParaRPr>
          </a:p>
          <a:p>
            <a:endParaRPr lang="fr-FR" sz="2400" dirty="0" smtClean="0"/>
          </a:p>
          <a:p>
            <a:pPr marL="342900" indent="-342900">
              <a:buFont typeface="Arial" panose="020B0604020202020204" pitchFamily="34" charset="0"/>
              <a:buChar char="•"/>
            </a:pPr>
            <a:r>
              <a:rPr lang="fr-FR" sz="2400" b="1" dirty="0">
                <a:latin typeface="Times New Roman" panose="02020603050405020304" pitchFamily="18" charset="0"/>
                <a:cs typeface="Times New Roman" panose="02020603050405020304" pitchFamily="18" charset="0"/>
              </a:rPr>
              <a:t>Supprimer une contrainte check</a:t>
            </a:r>
            <a:r>
              <a:rPr lang="fr-FR" sz="2400" b="1" dirty="0" smtClean="0">
                <a:latin typeface="Times New Roman" panose="02020603050405020304" pitchFamily="18" charset="0"/>
                <a:cs typeface="Times New Roman" panose="02020603050405020304" pitchFamily="18" charset="0"/>
              </a:rPr>
              <a:t>:</a:t>
            </a:r>
          </a:p>
          <a:p>
            <a:endParaRPr lang="fr-FR"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fr-FR"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fr-FR" sz="2400" b="1" dirty="0" smtClean="0">
                <a:latin typeface="Times New Roman" panose="02020603050405020304" pitchFamily="18" charset="0"/>
                <a:cs typeface="Times New Roman" panose="02020603050405020304" pitchFamily="18" charset="0"/>
              </a:rPr>
              <a:t>Supprimer une clé primaire:</a:t>
            </a:r>
          </a:p>
          <a:p>
            <a:endParaRPr lang="fr-FR" sz="2400" dirty="0" smtClean="0">
              <a:latin typeface="Times New Roman" panose="02020603050405020304" pitchFamily="18" charset="0"/>
              <a:cs typeface="Times New Roman" panose="02020603050405020304" pitchFamily="18" charset="0"/>
            </a:endParaRPr>
          </a:p>
          <a:p>
            <a:endParaRPr lang="fr-FR" sz="2400" dirty="0" smtClean="0">
              <a:latin typeface="Times New Roman" panose="02020603050405020304" pitchFamily="18" charset="0"/>
              <a:cs typeface="Times New Roman" panose="02020603050405020304" pitchFamily="18" charset="0"/>
            </a:endParaRPr>
          </a:p>
        </p:txBody>
      </p:sp>
      <p:sp>
        <p:nvSpPr>
          <p:cNvPr id="6" name="ZoneTexte 5"/>
          <p:cNvSpPr txBox="1"/>
          <p:nvPr/>
        </p:nvSpPr>
        <p:spPr>
          <a:xfrm>
            <a:off x="1764145" y="271030"/>
            <a:ext cx="4837158" cy="584775"/>
          </a:xfrm>
          <a:prstGeom prst="rect">
            <a:avLst/>
          </a:prstGeom>
          <a:noFill/>
        </p:spPr>
        <p:txBody>
          <a:bodyPr wrap="none" rtlCol="0">
            <a:spAutoFit/>
          </a:bodyPr>
          <a:lstStyle/>
          <a:p>
            <a:r>
              <a:rPr lang="fr-FR" sz="3200" b="1" dirty="0" smtClean="0">
                <a:latin typeface="Times New Roman" panose="02020603050405020304" pitchFamily="18" charset="0"/>
                <a:cs typeface="Times New Roman" panose="02020603050405020304" pitchFamily="18" charset="0"/>
              </a:rPr>
              <a:t>Supprimer une </a:t>
            </a:r>
            <a:r>
              <a:rPr lang="fr-FR" sz="3200" b="1" dirty="0">
                <a:latin typeface="Times New Roman" panose="02020603050405020304" pitchFamily="18" charset="0"/>
                <a:cs typeface="Times New Roman" panose="02020603050405020304" pitchFamily="18" charset="0"/>
              </a:rPr>
              <a:t>contrainte </a:t>
            </a:r>
            <a:endParaRPr lang="fr-FR" sz="3200"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764145" y="2002014"/>
            <a:ext cx="8397968" cy="541067"/>
          </a:xfrm>
          <a:prstGeom prst="rect">
            <a:avLst/>
          </a:prstGeom>
        </p:spPr>
      </p:pic>
      <p:pic>
        <p:nvPicPr>
          <p:cNvPr id="3" name="Image 2"/>
          <p:cNvPicPr>
            <a:picLocks noChangeAspect="1"/>
          </p:cNvPicPr>
          <p:nvPr/>
        </p:nvPicPr>
        <p:blipFill>
          <a:blip r:embed="rId4"/>
          <a:stretch>
            <a:fillRect/>
          </a:stretch>
        </p:blipFill>
        <p:spPr>
          <a:xfrm>
            <a:off x="2233230" y="4137827"/>
            <a:ext cx="7163421" cy="480102"/>
          </a:xfrm>
          <a:prstGeom prst="rect">
            <a:avLst/>
          </a:prstGeom>
        </p:spPr>
      </p:pic>
      <p:pic>
        <p:nvPicPr>
          <p:cNvPr id="7" name="Image 6"/>
          <p:cNvPicPr>
            <a:picLocks noChangeAspect="1"/>
          </p:cNvPicPr>
          <p:nvPr/>
        </p:nvPicPr>
        <p:blipFill>
          <a:blip r:embed="rId5"/>
          <a:stretch>
            <a:fillRect/>
          </a:stretch>
        </p:blipFill>
        <p:spPr>
          <a:xfrm>
            <a:off x="3162951" y="5231365"/>
            <a:ext cx="6233700" cy="457240"/>
          </a:xfrm>
          <a:prstGeom prst="rect">
            <a:avLst/>
          </a:prstGeom>
        </p:spPr>
      </p:pic>
      <p:pic>
        <p:nvPicPr>
          <p:cNvPr id="8" name="Image 7"/>
          <p:cNvPicPr>
            <a:picLocks noChangeAspect="1"/>
          </p:cNvPicPr>
          <p:nvPr/>
        </p:nvPicPr>
        <p:blipFill>
          <a:blip r:embed="rId6"/>
          <a:stretch>
            <a:fillRect/>
          </a:stretch>
        </p:blipFill>
        <p:spPr>
          <a:xfrm>
            <a:off x="3315363" y="2983238"/>
            <a:ext cx="4999153" cy="495343"/>
          </a:xfrm>
          <a:prstGeom prst="rect">
            <a:avLst/>
          </a:prstGeom>
        </p:spPr>
      </p:pic>
    </p:spTree>
    <p:extLst>
      <p:ext uri="{BB962C8B-B14F-4D97-AF65-F5344CB8AC3E}">
        <p14:creationId xmlns:p14="http://schemas.microsoft.com/office/powerpoint/2010/main" val="516606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153373" y="563418"/>
            <a:ext cx="6038627"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926529" y="1335131"/>
            <a:ext cx="10453687" cy="489364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fr-FR" sz="2400" dirty="0">
                <a:latin typeface="Times New Roman" panose="02020603050405020304" pitchFamily="18" charset="0"/>
                <a:cs typeface="Times New Roman" panose="02020603050405020304" pitchFamily="18" charset="0"/>
              </a:rPr>
              <a:t>En SQL (et particulièrement dans MySQL), on ne "modifie" pas directement une contrainte existante. </a:t>
            </a:r>
            <a:r>
              <a:rPr lang="fr-FR" sz="2400" dirty="0">
                <a:latin typeface="Times New Roman" panose="02020603050405020304" pitchFamily="18" charset="0"/>
                <a:cs typeface="Times New Roman" panose="02020603050405020304" pitchFamily="18" charset="0"/>
              </a:rPr>
              <a:t>Si vous voulez changer la règle, vous devez procéder en deux étapes </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r>
              <a:rPr lang="fr-FR" sz="2400" dirty="0" smtClean="0">
                <a:latin typeface="Times New Roman" panose="02020603050405020304" pitchFamily="18" charset="0"/>
                <a:cs typeface="Times New Roman" panose="02020603050405020304" pitchFamily="18" charset="0"/>
              </a:rPr>
              <a:t>1. Supprimer </a:t>
            </a:r>
            <a:r>
              <a:rPr lang="fr-FR" sz="2400" dirty="0">
                <a:latin typeface="Times New Roman" panose="02020603050405020304" pitchFamily="18" charset="0"/>
                <a:cs typeface="Times New Roman" panose="02020603050405020304" pitchFamily="18" charset="0"/>
              </a:rPr>
              <a:t>l'ancienne contrainte.</a:t>
            </a:r>
          </a:p>
          <a:p>
            <a:pPr algn="just"/>
            <a:r>
              <a:rPr lang="fr-FR" sz="2400" dirty="0" smtClean="0">
                <a:latin typeface="Times New Roman" panose="02020603050405020304" pitchFamily="18" charset="0"/>
                <a:cs typeface="Times New Roman" panose="02020603050405020304" pitchFamily="18" charset="0"/>
              </a:rPr>
              <a:t>2. Ajouter </a:t>
            </a:r>
            <a:r>
              <a:rPr lang="fr-FR" sz="2400" dirty="0">
                <a:latin typeface="Times New Roman" panose="02020603050405020304" pitchFamily="18" charset="0"/>
                <a:cs typeface="Times New Roman" panose="02020603050405020304" pitchFamily="18" charset="0"/>
              </a:rPr>
              <a:t>la nouvelle version</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r>
              <a:rPr lang="fr-FR" sz="2400" b="1" dirty="0">
                <a:latin typeface="Times New Roman" panose="02020603050405020304" pitchFamily="18" charset="0"/>
                <a:cs typeface="Times New Roman" panose="02020603050405020304" pitchFamily="18" charset="0"/>
              </a:rPr>
              <a:t>Exemple : </a:t>
            </a:r>
            <a:r>
              <a:rPr lang="fr-FR" sz="2400" dirty="0">
                <a:latin typeface="Times New Roman" panose="02020603050405020304" pitchFamily="18" charset="0"/>
                <a:cs typeface="Times New Roman" panose="02020603050405020304" pitchFamily="18" charset="0"/>
              </a:rPr>
              <a:t>Modifier la contrainte sur l'année pour qu'elle accepte les livres après 1800 au lieu de 1900</a:t>
            </a:r>
            <a:r>
              <a:rPr lang="fr-FR" sz="2400" dirty="0" smtClean="0">
                <a:latin typeface="Times New Roman" panose="02020603050405020304" pitchFamily="18" charset="0"/>
                <a:cs typeface="Times New Roman" panose="02020603050405020304" pitchFamily="18" charset="0"/>
              </a:rPr>
              <a:t>.</a:t>
            </a:r>
          </a:p>
          <a:p>
            <a:pPr algn="just"/>
            <a:endParaRPr lang="fr-FR" sz="2400" dirty="0">
              <a:latin typeface="Times New Roman" panose="02020603050405020304" pitchFamily="18" charset="0"/>
              <a:cs typeface="Times New Roman" panose="02020603050405020304" pitchFamily="18" charset="0"/>
            </a:endParaRPr>
          </a:p>
          <a:p>
            <a:pPr algn="just"/>
            <a:endParaRPr lang="fr-FR" sz="2400" dirty="0" smtClean="0">
              <a:latin typeface="Times New Roman" panose="02020603050405020304" pitchFamily="18" charset="0"/>
              <a:cs typeface="Times New Roman" panose="02020603050405020304" pitchFamily="18" charset="0"/>
            </a:endParaRPr>
          </a:p>
          <a:p>
            <a:pPr algn="just"/>
            <a:endParaRPr lang="fr-FR" sz="2400" dirty="0">
              <a:latin typeface="Times New Roman" panose="02020603050405020304" pitchFamily="18" charset="0"/>
              <a:cs typeface="Times New Roman" panose="02020603050405020304" pitchFamily="18" charset="0"/>
            </a:endParaRPr>
          </a:p>
          <a:p>
            <a:pPr algn="just"/>
            <a:endParaRPr lang="fr-FR" sz="2400" dirty="0"/>
          </a:p>
        </p:txBody>
      </p:sp>
      <p:sp>
        <p:nvSpPr>
          <p:cNvPr id="6" name="ZoneTexte 5"/>
          <p:cNvSpPr txBox="1"/>
          <p:nvPr/>
        </p:nvSpPr>
        <p:spPr>
          <a:xfrm>
            <a:off x="1764145" y="271030"/>
            <a:ext cx="4473276" cy="584775"/>
          </a:xfrm>
          <a:prstGeom prst="rect">
            <a:avLst/>
          </a:prstGeom>
          <a:noFill/>
        </p:spPr>
        <p:txBody>
          <a:bodyPr wrap="none" rtlCol="0">
            <a:spAutoFit/>
          </a:bodyPr>
          <a:lstStyle/>
          <a:p>
            <a:r>
              <a:rPr lang="fr-FR" sz="3200" b="1" dirty="0" smtClean="0">
                <a:latin typeface="Times New Roman" panose="02020603050405020304" pitchFamily="18" charset="0"/>
                <a:cs typeface="Times New Roman" panose="02020603050405020304" pitchFamily="18" charset="0"/>
              </a:rPr>
              <a:t>Modifier une </a:t>
            </a:r>
            <a:r>
              <a:rPr lang="fr-FR" sz="3200" b="1" dirty="0">
                <a:latin typeface="Times New Roman" panose="02020603050405020304" pitchFamily="18" charset="0"/>
                <a:cs typeface="Times New Roman" panose="02020603050405020304" pitchFamily="18" charset="0"/>
              </a:rPr>
              <a:t>contrainte </a:t>
            </a:r>
            <a:endParaRPr lang="fr-FR" sz="3200" b="1"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2034405" y="4810185"/>
            <a:ext cx="8237934" cy="1196444"/>
          </a:xfrm>
          <a:prstGeom prst="rect">
            <a:avLst/>
          </a:prstGeom>
        </p:spPr>
      </p:pic>
    </p:spTree>
    <p:extLst>
      <p:ext uri="{BB962C8B-B14F-4D97-AF65-F5344CB8AC3E}">
        <p14:creationId xmlns:p14="http://schemas.microsoft.com/office/powerpoint/2010/main" val="386025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3496235" y="563418"/>
            <a:ext cx="8695766"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851889" y="354157"/>
            <a:ext cx="3163455"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ALTER</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664230" y="1388919"/>
            <a:ext cx="10951283"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lgn="just">
              <a:defRPr/>
            </a:pPr>
            <a:r>
              <a:rPr lang="fr-FR" sz="2400" dirty="0" smtClean="0">
                <a:latin typeface="Times New Roman" panose="02020603050405020304" pitchFamily="18" charset="0"/>
                <a:cs typeface="Times New Roman" panose="02020603050405020304" pitchFamily="18" charset="0"/>
              </a:rPr>
              <a:t>La commande ALTER </a:t>
            </a:r>
            <a:r>
              <a:rPr lang="fr-FR" sz="2400" dirty="0">
                <a:latin typeface="Times New Roman" panose="02020603050405020304" pitchFamily="18" charset="0"/>
                <a:cs typeface="Times New Roman" panose="02020603050405020304" pitchFamily="18" charset="0"/>
              </a:rPr>
              <a:t>sert à modifier la </a:t>
            </a:r>
            <a:r>
              <a:rPr lang="fr-FR" sz="2400" b="1" dirty="0">
                <a:latin typeface="Times New Roman" panose="02020603050405020304" pitchFamily="18" charset="0"/>
                <a:cs typeface="Times New Roman" panose="02020603050405020304" pitchFamily="18" charset="0"/>
              </a:rPr>
              <a:t>structure</a:t>
            </a:r>
            <a:r>
              <a:rPr lang="fr-FR" sz="2400" dirty="0">
                <a:latin typeface="Times New Roman" panose="02020603050405020304" pitchFamily="18" charset="0"/>
                <a:cs typeface="Times New Roman" panose="02020603050405020304" pitchFamily="18" charset="0"/>
              </a:rPr>
              <a:t> </a:t>
            </a:r>
            <a:r>
              <a:rPr lang="fr-FR" sz="2400" dirty="0" smtClean="0">
                <a:latin typeface="Times New Roman" panose="02020603050405020304" pitchFamily="18" charset="0"/>
                <a:cs typeface="Times New Roman" panose="02020603050405020304" pitchFamily="18" charset="0"/>
              </a:rPr>
              <a:t>des </a:t>
            </a:r>
            <a:r>
              <a:rPr lang="fr-FR" sz="2400" dirty="0">
                <a:latin typeface="Times New Roman" panose="02020603050405020304" pitchFamily="18" charset="0"/>
                <a:cs typeface="Times New Roman" panose="02020603050405020304" pitchFamily="18" charset="0"/>
              </a:rPr>
              <a:t>objets (tables, bases de données, index</a:t>
            </a:r>
            <a:r>
              <a:rPr lang="fr-FR" sz="2400" dirty="0" smtClean="0">
                <a:latin typeface="Times New Roman" panose="02020603050405020304" pitchFamily="18" charset="0"/>
                <a:cs typeface="Times New Roman" panose="02020603050405020304" pitchFamily="18" charset="0"/>
              </a:rPr>
              <a:t>) d’une base de données. </a:t>
            </a:r>
            <a:r>
              <a:rPr lang="fr-FR" sz="2400" dirty="0">
                <a:latin typeface="Times New Roman" panose="02020603050405020304" pitchFamily="18" charset="0"/>
                <a:cs typeface="Times New Roman" panose="02020603050405020304" pitchFamily="18" charset="0"/>
              </a:rPr>
              <a:t>Le mot-clé ALTER </a:t>
            </a:r>
            <a:r>
              <a:rPr lang="fr-FR" sz="2400" dirty="0" smtClean="0">
                <a:latin typeface="Times New Roman" panose="02020603050405020304" pitchFamily="18" charset="0"/>
                <a:cs typeface="Times New Roman" panose="02020603050405020304" pitchFamily="18" charset="0"/>
              </a:rPr>
              <a:t>est </a:t>
            </a:r>
            <a:r>
              <a:rPr lang="fr-FR" sz="2400" dirty="0">
                <a:latin typeface="Times New Roman" panose="02020603050405020304" pitchFamily="18" charset="0"/>
                <a:cs typeface="Times New Roman" panose="02020603050405020304" pitchFamily="18" charset="0"/>
              </a:rPr>
              <a:t>presque toujours suivi d'une action spécifique (ADD, MODIFY, DROP, RENAME</a:t>
            </a:r>
            <a:r>
              <a:rPr lang="fr-FR" sz="2400" dirty="0" smtClean="0">
                <a:latin typeface="Times New Roman" panose="02020603050405020304" pitchFamily="18" charset="0"/>
                <a:cs typeface="Times New Roman" panose="02020603050405020304" pitchFamily="18" charset="0"/>
              </a:rPr>
              <a:t>).</a:t>
            </a:r>
          </a:p>
          <a:p>
            <a:pPr lvl="0" algn="just">
              <a:defRPr/>
            </a:pPr>
            <a:endParaRPr lang="fr-FR" sz="2400" dirty="0" smtClean="0">
              <a:latin typeface="Times New Roman" panose="02020603050405020304" pitchFamily="18" charset="0"/>
              <a:cs typeface="Times New Roman" panose="02020603050405020304" pitchFamily="18" charset="0"/>
            </a:endParaRPr>
          </a:p>
          <a:p>
            <a:pPr lvl="0" algn="just">
              <a:defRPr/>
            </a:pPr>
            <a:endParaRPr lang="fr-FR" sz="2400" dirty="0">
              <a:latin typeface="Times New Roman" panose="02020603050405020304" pitchFamily="18" charset="0"/>
              <a:cs typeface="Times New Roman" panose="02020603050405020304" pitchFamily="18" charset="0"/>
            </a:endParaRPr>
          </a:p>
          <a:p>
            <a:pPr lvl="0" algn="just">
              <a:defRPr/>
            </a:pPr>
            <a:endParaRPr lang="fr-FR" sz="2400" dirty="0" smtClean="0">
              <a:latin typeface="Times New Roman" panose="02020603050405020304" pitchFamily="18" charset="0"/>
              <a:cs typeface="Times New Roman" panose="02020603050405020304" pitchFamily="18" charset="0"/>
            </a:endParaRPr>
          </a:p>
          <a:p>
            <a:pPr lvl="0" algn="just">
              <a:defRPr/>
            </a:pPr>
            <a:endParaRPr lang="fr-FR" sz="2400" dirty="0">
              <a:latin typeface="Times New Roman" panose="02020603050405020304" pitchFamily="18" charset="0"/>
              <a:cs typeface="Times New Roman" panose="02020603050405020304" pitchFamily="18" charset="0"/>
            </a:endParaRPr>
          </a:p>
          <a:p>
            <a:pPr lvl="0" algn="just">
              <a:defRPr/>
            </a:pPr>
            <a:endParaRPr lang="fr-FR" sz="2400" dirty="0" smtClean="0">
              <a:latin typeface="Times New Roman" panose="02020603050405020304" pitchFamily="18" charset="0"/>
              <a:cs typeface="Times New Roman" panose="02020603050405020304" pitchFamily="18" charset="0"/>
            </a:endParaRPr>
          </a:p>
          <a:p>
            <a:pPr lvl="0" algn="just">
              <a:defRPr/>
            </a:pPr>
            <a:endParaRPr lang="fr-FR" sz="2400" dirty="0">
              <a:latin typeface="Times New Roman" panose="02020603050405020304" pitchFamily="18" charset="0"/>
              <a:cs typeface="Times New Roman" panose="02020603050405020304" pitchFamily="18" charset="0"/>
            </a:endParaRPr>
          </a:p>
          <a:p>
            <a:pPr lvl="0" algn="just">
              <a:defRPr/>
            </a:pPr>
            <a:endParaRPr lang="fr-FR" sz="2400" dirty="0" smtClean="0">
              <a:latin typeface="Times New Roman" panose="02020603050405020304" pitchFamily="18" charset="0"/>
              <a:cs typeface="Times New Roman" panose="02020603050405020304" pitchFamily="18" charset="0"/>
            </a:endParaRPr>
          </a:p>
          <a:p>
            <a:pPr lvl="0" algn="just">
              <a:defRPr/>
            </a:pPr>
            <a:endParaRPr lang="fr-FR" sz="2400" dirty="0">
              <a:latin typeface="Times New Roman" panose="02020603050405020304" pitchFamily="18" charset="0"/>
              <a:cs typeface="Times New Roman" panose="02020603050405020304" pitchFamily="18" charset="0"/>
            </a:endParaRPr>
          </a:p>
          <a:p>
            <a:pPr algn="just"/>
            <a:endParaRPr lang="fr-FR" sz="2400" dirty="0">
              <a:latin typeface="Times New Roman" panose="02020603050405020304" pitchFamily="18" charset="0"/>
              <a:cs typeface="Times New Roman" panose="02020603050405020304" pitchFamily="18" charset="0"/>
            </a:endParaRPr>
          </a:p>
          <a:p>
            <a:pPr algn="just">
              <a:lnSpc>
                <a:spcPct val="150000"/>
              </a:lnSpc>
            </a:pPr>
            <a:endParaRPr lang="fr-FR" sz="2400" dirty="0">
              <a:latin typeface="Times New Roman" panose="02020603050405020304" pitchFamily="18" charset="0"/>
              <a:cs typeface="Times New Roman" panose="02020603050405020304" pitchFamily="18"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814509306"/>
              </p:ext>
            </p:extLst>
          </p:nvPr>
        </p:nvGraphicFramePr>
        <p:xfrm>
          <a:off x="882072" y="2817056"/>
          <a:ext cx="10515600" cy="3352800"/>
        </p:xfrm>
        <a:graphic>
          <a:graphicData uri="http://schemas.openxmlformats.org/drawingml/2006/table">
            <a:tbl>
              <a:tblPr>
                <a:tableStyleId>{22838BEF-8BB2-4498-84A7-C5851F593DF1}</a:tableStyleId>
              </a:tblPr>
              <a:tblGrid>
                <a:gridCol w="2474314"/>
                <a:gridCol w="3969572"/>
                <a:gridCol w="4071714"/>
              </a:tblGrid>
              <a:tr h="0">
                <a:tc>
                  <a:txBody>
                    <a:bodyPr/>
                    <a:lstStyle/>
                    <a:p>
                      <a:pPr algn="ctr" rtl="0"/>
                      <a:r>
                        <a:rPr lang="fr-FR" sz="2000" b="1" dirty="0">
                          <a:effectLst/>
                          <a:latin typeface="Times New Roman" panose="02020603050405020304" pitchFamily="18" charset="0"/>
                          <a:cs typeface="Times New Roman" panose="02020603050405020304" pitchFamily="18" charset="0"/>
                        </a:rPr>
                        <a:t>Action</a:t>
                      </a:r>
                      <a:endParaRPr lang="fr-FR" sz="2000" b="1" dirty="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algn="ctr" rtl="0"/>
                      <a:r>
                        <a:rPr lang="fr-FR" sz="2000" b="1" dirty="0">
                          <a:effectLst/>
                          <a:latin typeface="Times New Roman" panose="02020603050405020304" pitchFamily="18" charset="0"/>
                          <a:cs typeface="Times New Roman" panose="02020603050405020304" pitchFamily="18" charset="0"/>
                        </a:rPr>
                        <a:t>Description</a:t>
                      </a:r>
                      <a:endParaRPr lang="fr-FR" sz="2000" b="1" dirty="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algn="ctr" rtl="0"/>
                      <a:r>
                        <a:rPr lang="fr-FR" sz="2000" b="1" dirty="0">
                          <a:effectLst/>
                          <a:latin typeface="Times New Roman" panose="02020603050405020304" pitchFamily="18" charset="0"/>
                          <a:cs typeface="Times New Roman" panose="02020603050405020304" pitchFamily="18" charset="0"/>
                        </a:rPr>
                        <a:t>Exemple type</a:t>
                      </a:r>
                      <a:endParaRPr lang="fr-FR" sz="2000" b="1" dirty="0">
                        <a:solidFill>
                          <a:srgbClr val="1F1F1F"/>
                        </a:solidFill>
                        <a:effectLst/>
                        <a:latin typeface="Times New Roman" panose="02020603050405020304" pitchFamily="18" charset="0"/>
                        <a:cs typeface="Times New Roman" panose="02020603050405020304" pitchFamily="18" charset="0"/>
                      </a:endParaRPr>
                    </a:p>
                  </a:txBody>
                  <a:tcPr marT="60960" marB="60960" anchor="ctr"/>
                </a:tc>
              </a:tr>
              <a:tr h="0">
                <a:tc>
                  <a:txBody>
                    <a:bodyPr/>
                    <a:lstStyle/>
                    <a:p>
                      <a:pPr algn="ctr" rtl="0"/>
                      <a:r>
                        <a:rPr lang="fr-FR" sz="2000" b="1">
                          <a:effectLst/>
                          <a:latin typeface="Times New Roman" panose="02020603050405020304" pitchFamily="18" charset="0"/>
                          <a:cs typeface="Times New Roman" panose="02020603050405020304" pitchFamily="18" charset="0"/>
                        </a:rPr>
                        <a:t>ADD</a:t>
                      </a:r>
                      <a:endParaRPr lang="fr-FR" sz="2000" b="1">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Ajouter une nouvelle colonne ou une contrainte.</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ALTER TABLE clients ADD email VARCHAR(255);</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r>
              <a:tr h="0">
                <a:tc>
                  <a:txBody>
                    <a:bodyPr/>
                    <a:lstStyle/>
                    <a:p>
                      <a:pPr algn="ctr" rtl="0"/>
                      <a:r>
                        <a:rPr lang="fr-FR" sz="2000" b="1">
                          <a:effectLst/>
                          <a:latin typeface="Times New Roman" panose="02020603050405020304" pitchFamily="18" charset="0"/>
                          <a:cs typeface="Times New Roman" panose="02020603050405020304" pitchFamily="18" charset="0"/>
                        </a:rPr>
                        <a:t>MODIFY / ALTER</a:t>
                      </a:r>
                      <a:endParaRPr lang="fr-FR" sz="2000" b="1">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Changer le type d'une colonne (ex: passer de INT à BIGINT).</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ALTER TABLE clients MODIFY code_postal VARCHAR(10);</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r>
              <a:tr h="0">
                <a:tc>
                  <a:txBody>
                    <a:bodyPr/>
                    <a:lstStyle/>
                    <a:p>
                      <a:pPr algn="ctr" rtl="0"/>
                      <a:r>
                        <a:rPr lang="fr-FR" sz="2000" b="1">
                          <a:effectLst/>
                          <a:latin typeface="Times New Roman" panose="02020603050405020304" pitchFamily="18" charset="0"/>
                          <a:cs typeface="Times New Roman" panose="02020603050405020304" pitchFamily="18" charset="0"/>
                        </a:rPr>
                        <a:t>DROP</a:t>
                      </a:r>
                      <a:endParaRPr lang="fr-FR" sz="2000" b="1">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Supprimer une colonne ou une contrainte (clé primaire, index).</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ALTER TABLE clients DROP COLUMN telephone;</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r>
              <a:tr h="0">
                <a:tc>
                  <a:txBody>
                    <a:bodyPr/>
                    <a:lstStyle/>
                    <a:p>
                      <a:pPr algn="ctr" rtl="0"/>
                      <a:r>
                        <a:rPr lang="fr-FR" sz="2000" b="1" dirty="0">
                          <a:effectLst/>
                          <a:latin typeface="Times New Roman" panose="02020603050405020304" pitchFamily="18" charset="0"/>
                          <a:cs typeface="Times New Roman" panose="02020603050405020304" pitchFamily="18" charset="0"/>
                        </a:rPr>
                        <a:t>RENAME</a:t>
                      </a:r>
                      <a:endParaRPr lang="fr-FR" sz="2000" b="1" dirty="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a:effectLst/>
                          <a:latin typeface="Times New Roman" panose="02020603050405020304" pitchFamily="18" charset="0"/>
                          <a:cs typeface="Times New Roman" panose="02020603050405020304" pitchFamily="18" charset="0"/>
                        </a:rPr>
                        <a:t>Changer le nom d'une colonne ou de la table.</a:t>
                      </a:r>
                      <a:endParaRPr lang="fr-FR" sz="2000">
                        <a:solidFill>
                          <a:srgbClr val="1F1F1F"/>
                        </a:solidFill>
                        <a:effectLst/>
                        <a:latin typeface="Times New Roman" panose="02020603050405020304" pitchFamily="18" charset="0"/>
                        <a:cs typeface="Times New Roman" panose="02020603050405020304" pitchFamily="18" charset="0"/>
                      </a:endParaRPr>
                    </a:p>
                  </a:txBody>
                  <a:tcPr marT="60960" marB="60960" anchor="ctr"/>
                </a:tc>
                <a:tc>
                  <a:txBody>
                    <a:bodyPr/>
                    <a:lstStyle/>
                    <a:p>
                      <a:pPr rtl="0"/>
                      <a:r>
                        <a:rPr lang="fr-FR" sz="2000" dirty="0">
                          <a:effectLst/>
                          <a:latin typeface="Times New Roman" panose="02020603050405020304" pitchFamily="18" charset="0"/>
                          <a:cs typeface="Times New Roman" panose="02020603050405020304" pitchFamily="18" charset="0"/>
                        </a:rPr>
                        <a:t>ALTER TABLE clients RENAME COLUMN nom TO </a:t>
                      </a:r>
                      <a:r>
                        <a:rPr lang="fr-FR" sz="2000" dirty="0" err="1">
                          <a:effectLst/>
                          <a:latin typeface="Times New Roman" panose="02020603050405020304" pitchFamily="18" charset="0"/>
                          <a:cs typeface="Times New Roman" panose="02020603050405020304" pitchFamily="18" charset="0"/>
                        </a:rPr>
                        <a:t>nom_famille</a:t>
                      </a:r>
                      <a:r>
                        <a:rPr lang="fr-FR" sz="2000" dirty="0">
                          <a:effectLst/>
                          <a:latin typeface="Times New Roman" panose="02020603050405020304" pitchFamily="18" charset="0"/>
                          <a:cs typeface="Times New Roman" panose="02020603050405020304" pitchFamily="18" charset="0"/>
                        </a:rPr>
                        <a:t>;</a:t>
                      </a:r>
                      <a:endParaRPr lang="fr-FR" sz="2000" dirty="0">
                        <a:solidFill>
                          <a:srgbClr val="1F1F1F"/>
                        </a:solidFill>
                        <a:effectLst/>
                        <a:latin typeface="Times New Roman" panose="02020603050405020304" pitchFamily="18" charset="0"/>
                        <a:cs typeface="Times New Roman" panose="02020603050405020304" pitchFamily="18" charset="0"/>
                      </a:endParaRPr>
                    </a:p>
                  </a:txBody>
                  <a:tcPr marT="60960" marB="60960" anchor="ctr"/>
                </a:tc>
              </a:tr>
            </a:tbl>
          </a:graphicData>
        </a:graphic>
      </p:graphicFrame>
    </p:spTree>
    <p:extLst>
      <p:ext uri="{BB962C8B-B14F-4D97-AF65-F5344CB8AC3E}">
        <p14:creationId xmlns:p14="http://schemas.microsoft.com/office/powerpoint/2010/main" val="123440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948979" y="563418"/>
            <a:ext cx="624302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91739" y="354157"/>
            <a:ext cx="3957240"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Suppression de table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664230" y="1388919"/>
            <a:ext cx="10951283" cy="433965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lgn="just">
              <a:defRPr/>
            </a:pPr>
            <a:r>
              <a:rPr lang="fr-FR" sz="2400" dirty="0">
                <a:latin typeface="Times New Roman" panose="02020603050405020304" pitchFamily="18" charset="0"/>
                <a:cs typeface="Times New Roman" panose="02020603050405020304" pitchFamily="18" charset="0"/>
              </a:rPr>
              <a:t>Si la table n'est liée à aucune autre, la commande est directe </a:t>
            </a:r>
            <a:r>
              <a:rPr lang="fr-FR" sz="2400" dirty="0" smtClean="0">
                <a:latin typeface="Times New Roman" panose="02020603050405020304" pitchFamily="18" charset="0"/>
                <a:cs typeface="Times New Roman" panose="02020603050405020304" pitchFamily="18" charset="0"/>
              </a:rPr>
              <a:t>:</a:t>
            </a:r>
          </a:p>
          <a:p>
            <a:pPr lvl="0" algn="just">
              <a:defRPr/>
            </a:pPr>
            <a:endParaRPr lang="fr-FR" sz="2400" dirty="0">
              <a:latin typeface="Times New Roman" panose="02020603050405020304" pitchFamily="18" charset="0"/>
              <a:cs typeface="Times New Roman" panose="02020603050405020304" pitchFamily="18" charset="0"/>
            </a:endParaRPr>
          </a:p>
          <a:p>
            <a:pPr lvl="0" algn="just">
              <a:defRPr/>
            </a:pPr>
            <a:endParaRPr lang="fr-FR" sz="2400" dirty="0" smtClean="0">
              <a:latin typeface="Times New Roman" panose="02020603050405020304" pitchFamily="18" charset="0"/>
              <a:cs typeface="Times New Roman" panose="02020603050405020304" pitchFamily="18" charset="0"/>
            </a:endParaRPr>
          </a:p>
          <a:p>
            <a:pPr>
              <a:lnSpc>
                <a:spcPct val="150000"/>
              </a:lnSpc>
            </a:pPr>
            <a:r>
              <a:rPr lang="fr-FR" sz="2400" b="1" dirty="0">
                <a:solidFill>
                  <a:schemeClr val="accent1">
                    <a:lumMod val="75000"/>
                  </a:schemeClr>
                </a:solidFill>
                <a:latin typeface="Times New Roman" panose="02020603050405020304" pitchFamily="18" charset="0"/>
                <a:cs typeface="Times New Roman" panose="02020603050405020304" pitchFamily="18" charset="0"/>
              </a:rPr>
              <a:t>Le problème des clés étrangères (L'erreur classique</a:t>
            </a:r>
            <a:r>
              <a:rPr lang="fr-FR" sz="2400" b="1" dirty="0" smtClean="0">
                <a:solidFill>
                  <a:schemeClr val="accent1">
                    <a:lumMod val="75000"/>
                  </a:schemeClr>
                </a:solidFill>
                <a:latin typeface="Times New Roman" panose="02020603050405020304" pitchFamily="18" charset="0"/>
                <a:cs typeface="Times New Roman" panose="02020603050405020304" pitchFamily="18" charset="0"/>
              </a:rPr>
              <a:t>)</a:t>
            </a:r>
            <a:endParaRPr lang="fr-FR" sz="2400" b="1" dirty="0">
              <a:solidFill>
                <a:schemeClr val="accent1">
                  <a:lumMod val="75000"/>
                </a:schemeClr>
              </a:solidFill>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Si vous essayez de supprimer la table Auteur alors que la table Livre existe encore, MySQL bloquera l'opération avec un message d'erreur du type :</a:t>
            </a:r>
          </a:p>
          <a:p>
            <a:pPr algn="ctr"/>
            <a:r>
              <a:rPr lang="fr-FR" sz="2400" i="1" dirty="0" err="1">
                <a:solidFill>
                  <a:srgbClr val="FF0000"/>
                </a:solidFill>
                <a:latin typeface="Times New Roman" panose="02020603050405020304" pitchFamily="18" charset="0"/>
                <a:cs typeface="Times New Roman" panose="02020603050405020304" pitchFamily="18" charset="0"/>
              </a:rPr>
              <a:t>Cannot</a:t>
            </a:r>
            <a:r>
              <a:rPr lang="fr-FR" sz="2400" i="1" dirty="0">
                <a:solidFill>
                  <a:srgbClr val="FF0000"/>
                </a:solidFill>
                <a:latin typeface="Times New Roman" panose="02020603050405020304" pitchFamily="18" charset="0"/>
                <a:cs typeface="Times New Roman" panose="02020603050405020304" pitchFamily="18" charset="0"/>
              </a:rPr>
              <a:t> </a:t>
            </a:r>
            <a:r>
              <a:rPr lang="fr-FR" sz="2400" i="1" dirty="0" err="1">
                <a:solidFill>
                  <a:srgbClr val="FF0000"/>
                </a:solidFill>
                <a:latin typeface="Times New Roman" panose="02020603050405020304" pitchFamily="18" charset="0"/>
                <a:cs typeface="Times New Roman" panose="02020603050405020304" pitchFamily="18" charset="0"/>
              </a:rPr>
              <a:t>delete</a:t>
            </a:r>
            <a:r>
              <a:rPr lang="fr-FR" sz="2400" i="1" dirty="0">
                <a:solidFill>
                  <a:srgbClr val="FF0000"/>
                </a:solidFill>
                <a:latin typeface="Times New Roman" panose="02020603050405020304" pitchFamily="18" charset="0"/>
                <a:cs typeface="Times New Roman" panose="02020603050405020304" pitchFamily="18" charset="0"/>
              </a:rPr>
              <a:t> or update a parent </a:t>
            </a:r>
            <a:r>
              <a:rPr lang="fr-FR" sz="2400" i="1" dirty="0" err="1">
                <a:solidFill>
                  <a:srgbClr val="FF0000"/>
                </a:solidFill>
                <a:latin typeface="Times New Roman" panose="02020603050405020304" pitchFamily="18" charset="0"/>
                <a:cs typeface="Times New Roman" panose="02020603050405020304" pitchFamily="18" charset="0"/>
              </a:rPr>
              <a:t>row</a:t>
            </a:r>
            <a:r>
              <a:rPr lang="fr-FR" sz="2400" i="1" dirty="0">
                <a:solidFill>
                  <a:srgbClr val="FF0000"/>
                </a:solidFill>
                <a:latin typeface="Times New Roman" panose="02020603050405020304" pitchFamily="18" charset="0"/>
                <a:cs typeface="Times New Roman" panose="02020603050405020304" pitchFamily="18" charset="0"/>
              </a:rPr>
              <a:t>: a </a:t>
            </a:r>
            <a:r>
              <a:rPr lang="fr-FR" sz="2400" i="1" dirty="0" err="1">
                <a:solidFill>
                  <a:srgbClr val="FF0000"/>
                </a:solidFill>
                <a:latin typeface="Times New Roman" panose="02020603050405020304" pitchFamily="18" charset="0"/>
                <a:cs typeface="Times New Roman" panose="02020603050405020304" pitchFamily="18" charset="0"/>
              </a:rPr>
              <a:t>foreign</a:t>
            </a:r>
            <a:r>
              <a:rPr lang="fr-FR" sz="2400" i="1" dirty="0">
                <a:solidFill>
                  <a:srgbClr val="FF0000"/>
                </a:solidFill>
                <a:latin typeface="Times New Roman" panose="02020603050405020304" pitchFamily="18" charset="0"/>
                <a:cs typeface="Times New Roman" panose="02020603050405020304" pitchFamily="18" charset="0"/>
              </a:rPr>
              <a:t> key </a:t>
            </a:r>
            <a:r>
              <a:rPr lang="fr-FR" sz="2400" i="1" dirty="0" err="1">
                <a:solidFill>
                  <a:srgbClr val="FF0000"/>
                </a:solidFill>
                <a:latin typeface="Times New Roman" panose="02020603050405020304" pitchFamily="18" charset="0"/>
                <a:cs typeface="Times New Roman" panose="02020603050405020304" pitchFamily="18" charset="0"/>
              </a:rPr>
              <a:t>constraint</a:t>
            </a:r>
            <a:r>
              <a:rPr lang="fr-FR" sz="2400" i="1" dirty="0">
                <a:solidFill>
                  <a:srgbClr val="FF0000"/>
                </a:solidFill>
                <a:latin typeface="Times New Roman" panose="02020603050405020304" pitchFamily="18" charset="0"/>
                <a:cs typeface="Times New Roman" panose="02020603050405020304" pitchFamily="18" charset="0"/>
              </a:rPr>
              <a:t> </a:t>
            </a:r>
            <a:r>
              <a:rPr lang="fr-FR" sz="2400" i="1" dirty="0" err="1">
                <a:solidFill>
                  <a:srgbClr val="FF0000"/>
                </a:solidFill>
                <a:latin typeface="Times New Roman" panose="02020603050405020304" pitchFamily="18" charset="0"/>
                <a:cs typeface="Times New Roman" panose="02020603050405020304" pitchFamily="18" charset="0"/>
              </a:rPr>
              <a:t>fails</a:t>
            </a:r>
            <a:r>
              <a:rPr lang="fr-FR" sz="2400" i="1" dirty="0" smtClean="0">
                <a:solidFill>
                  <a:srgbClr val="FF0000"/>
                </a:solidFill>
                <a:latin typeface="Times New Roman" panose="02020603050405020304" pitchFamily="18" charset="0"/>
                <a:cs typeface="Times New Roman" panose="02020603050405020304" pitchFamily="18" charset="0"/>
              </a:rPr>
              <a:t>...</a:t>
            </a:r>
          </a:p>
          <a:p>
            <a:endParaRPr lang="fr-FR" sz="2400" dirty="0">
              <a:latin typeface="Times New Roman" panose="02020603050405020304" pitchFamily="18" charset="0"/>
              <a:cs typeface="Times New Roman" panose="02020603050405020304" pitchFamily="18" charset="0"/>
            </a:endParaRPr>
          </a:p>
          <a:p>
            <a:r>
              <a:rPr lang="fr-FR" sz="2400" b="1" dirty="0">
                <a:latin typeface="Times New Roman" panose="02020603050405020304" pitchFamily="18" charset="0"/>
                <a:cs typeface="Times New Roman" panose="02020603050405020304" pitchFamily="18" charset="0"/>
              </a:rPr>
              <a:t>Pourquoi ?</a:t>
            </a:r>
            <a:r>
              <a:rPr lang="fr-FR" sz="2400" dirty="0">
                <a:latin typeface="Times New Roman" panose="02020603050405020304" pitchFamily="18" charset="0"/>
                <a:cs typeface="Times New Roman" panose="02020603050405020304" pitchFamily="18" charset="0"/>
              </a:rPr>
              <a:t> Parce que si vous supprimez les auteurs, les livres se retrouveraient "orphelins" (ils pointeraient vers un </a:t>
            </a:r>
            <a:r>
              <a:rPr lang="fr-FR" sz="2400" dirty="0" err="1">
                <a:latin typeface="Times New Roman" panose="02020603050405020304" pitchFamily="18" charset="0"/>
                <a:cs typeface="Times New Roman" panose="02020603050405020304" pitchFamily="18" charset="0"/>
              </a:rPr>
              <a:t>NumAuteur</a:t>
            </a:r>
            <a:r>
              <a:rPr lang="fr-FR" sz="2400" dirty="0">
                <a:latin typeface="Times New Roman" panose="02020603050405020304" pitchFamily="18" charset="0"/>
                <a:cs typeface="Times New Roman" panose="02020603050405020304" pitchFamily="18" charset="0"/>
              </a:rPr>
              <a:t> qui n'existe plus).</a:t>
            </a:r>
          </a:p>
          <a:p>
            <a:endParaRPr lang="fr-FR" sz="2400" dirty="0"/>
          </a:p>
        </p:txBody>
      </p:sp>
      <p:pic>
        <p:nvPicPr>
          <p:cNvPr id="2" name="Image 1"/>
          <p:cNvPicPr>
            <a:picLocks noChangeAspect="1"/>
          </p:cNvPicPr>
          <p:nvPr/>
        </p:nvPicPr>
        <p:blipFill>
          <a:blip r:embed="rId3"/>
          <a:stretch>
            <a:fillRect/>
          </a:stretch>
        </p:blipFill>
        <p:spPr>
          <a:xfrm>
            <a:off x="4272433" y="1934115"/>
            <a:ext cx="3353091" cy="472481"/>
          </a:xfrm>
          <a:prstGeom prst="rect">
            <a:avLst/>
          </a:prstGeom>
        </p:spPr>
      </p:pic>
    </p:spTree>
    <p:extLst>
      <p:ext uri="{BB962C8B-B14F-4D97-AF65-F5344CB8AC3E}">
        <p14:creationId xmlns:p14="http://schemas.microsoft.com/office/powerpoint/2010/main" val="174144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63418"/>
            <a:ext cx="1764145"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5948979" y="563418"/>
            <a:ext cx="6243021" cy="1662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1991739" y="354157"/>
            <a:ext cx="3957240" cy="584775"/>
          </a:xfrm>
          <a:prstGeom prst="rect">
            <a:avLst/>
          </a:prstGeom>
          <a:noFill/>
        </p:spPr>
        <p:txBody>
          <a:bodyPr wrap="square" rtlCol="0">
            <a:spAutoFit/>
          </a:bodyPr>
          <a:lstStyle/>
          <a:p>
            <a:r>
              <a:rPr lang="fr-FR" sz="3200" b="1" dirty="0" smtClean="0">
                <a:latin typeface="Times New Roman" panose="02020603050405020304" pitchFamily="18" charset="0"/>
                <a:cs typeface="Times New Roman" panose="02020603050405020304" pitchFamily="18" charset="0"/>
              </a:rPr>
              <a:t>Suppression de table</a:t>
            </a:r>
            <a:endParaRPr lang="fr-FR" sz="3200" b="1" dirty="0">
              <a:latin typeface="Times New Roman" panose="02020603050405020304" pitchFamily="18" charset="0"/>
              <a:cs typeface="Times New Roman" panose="02020603050405020304" pitchFamily="18" charset="0"/>
            </a:endParaRPr>
          </a:p>
        </p:txBody>
      </p:sp>
      <p:sp>
        <p:nvSpPr>
          <p:cNvPr id="13" name="ZoneTexte 12"/>
          <p:cNvSpPr txBox="1"/>
          <p:nvPr/>
        </p:nvSpPr>
        <p:spPr>
          <a:xfrm>
            <a:off x="674988" y="1324373"/>
            <a:ext cx="10951283" cy="489364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Arial" panose="020B0604020202020204" pitchFamily="34" charset="0"/>
              <a:buChar char="•"/>
            </a:pPr>
            <a:r>
              <a:rPr lang="fr-FR" sz="2400" b="1" dirty="0" smtClean="0">
                <a:latin typeface="Times New Roman" panose="02020603050405020304" pitchFamily="18" charset="0"/>
                <a:cs typeface="Times New Roman" panose="02020603050405020304" pitchFamily="18" charset="0"/>
              </a:rPr>
              <a:t>Solution A:</a:t>
            </a:r>
          </a:p>
          <a:p>
            <a:r>
              <a:rPr lang="fr-FR" sz="2400" dirty="0">
                <a:latin typeface="Times New Roman" panose="02020603050405020304" pitchFamily="18" charset="0"/>
                <a:cs typeface="Times New Roman" panose="02020603050405020304" pitchFamily="18" charset="0"/>
              </a:rPr>
              <a:t>Supprimer d'abord la table "enfant" (Livre), puis la table "parent" (Auteur).</a:t>
            </a:r>
            <a:endParaRPr lang="fr-FR" sz="2400" b="1" dirty="0" smtClean="0">
              <a:latin typeface="Times New Roman" panose="02020603050405020304" pitchFamily="18" charset="0"/>
              <a:cs typeface="Times New Roman" panose="02020603050405020304" pitchFamily="18" charset="0"/>
            </a:endParaRPr>
          </a:p>
          <a:p>
            <a:endParaRPr lang="fr-FR" sz="2400" b="1" dirty="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fr-FR" sz="2400" b="1" dirty="0" smtClean="0">
                <a:latin typeface="Times New Roman" panose="02020603050405020304" pitchFamily="18" charset="0"/>
                <a:cs typeface="Times New Roman" panose="02020603050405020304" pitchFamily="18" charset="0"/>
              </a:rPr>
              <a:t>Solution B:</a:t>
            </a:r>
          </a:p>
          <a:p>
            <a:r>
              <a:rPr lang="fr-FR" sz="2400" dirty="0">
                <a:latin typeface="Times New Roman" panose="02020603050405020304" pitchFamily="18" charset="0"/>
                <a:cs typeface="Times New Roman" panose="02020603050405020304" pitchFamily="18" charset="0"/>
              </a:rPr>
              <a:t>Désactiver temporairement les vérifications de clés étrangères (à utiliser avec </a:t>
            </a:r>
            <a:r>
              <a:rPr lang="fr-FR" sz="2400" dirty="0" smtClean="0">
                <a:latin typeface="Times New Roman" panose="02020603050405020304" pitchFamily="18" charset="0"/>
                <a:cs typeface="Times New Roman" panose="02020603050405020304" pitchFamily="18" charset="0"/>
              </a:rPr>
              <a:t>prudence)</a:t>
            </a:r>
            <a:endParaRPr lang="fr-FR" sz="2400" dirty="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endParaRPr lang="fr-FR" sz="2400" b="1" dirty="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endParaRPr lang="fr-FR" sz="2400" b="1"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fr-FR" sz="2400" b="1" dirty="0">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3"/>
          <a:stretch>
            <a:fillRect/>
          </a:stretch>
        </p:blipFill>
        <p:spPr>
          <a:xfrm>
            <a:off x="3211167" y="2382778"/>
            <a:ext cx="4930567" cy="914479"/>
          </a:xfrm>
          <a:prstGeom prst="rect">
            <a:avLst/>
          </a:prstGeom>
        </p:spPr>
      </p:pic>
      <p:pic>
        <p:nvPicPr>
          <p:cNvPr id="7" name="Image 6"/>
          <p:cNvPicPr>
            <a:picLocks noChangeAspect="1"/>
          </p:cNvPicPr>
          <p:nvPr/>
        </p:nvPicPr>
        <p:blipFill>
          <a:blip r:embed="rId4"/>
          <a:stretch>
            <a:fillRect/>
          </a:stretch>
        </p:blipFill>
        <p:spPr>
          <a:xfrm>
            <a:off x="3654862" y="4447104"/>
            <a:ext cx="4991533" cy="1234547"/>
          </a:xfrm>
          <a:prstGeom prst="rect">
            <a:avLst/>
          </a:prstGeom>
        </p:spPr>
      </p:pic>
    </p:spTree>
    <p:extLst>
      <p:ext uri="{BB962C8B-B14F-4D97-AF65-F5344CB8AC3E}">
        <p14:creationId xmlns:p14="http://schemas.microsoft.com/office/powerpoint/2010/main" val="271509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36006</TotalTime>
  <Words>652</Words>
  <Application>Microsoft Office PowerPoint</Application>
  <PresentationFormat>Grand écran</PresentationFormat>
  <Paragraphs>122</Paragraphs>
  <Slides>13</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Arial</vt:lpstr>
      <vt:lpstr>Calibri</vt:lpstr>
      <vt:lpstr>Calibri Light</vt:lpstr>
      <vt:lpstr>Times New Roman</vt:lpstr>
      <vt:lpstr>Thème Office</vt:lpstr>
      <vt:lpstr>Langage de définition de données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Rappel</dc:title>
  <dc:creator>ps</dc:creator>
  <cp:lastModifiedBy>ps</cp:lastModifiedBy>
  <cp:revision>88</cp:revision>
  <dcterms:created xsi:type="dcterms:W3CDTF">2026-01-26T13:25:36Z</dcterms:created>
  <dcterms:modified xsi:type="dcterms:W3CDTF">2026-02-22T12:03:37Z</dcterms:modified>
</cp:coreProperties>
</file>