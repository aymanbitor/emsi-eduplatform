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60" r:id="rId3"/>
    <p:sldId id="258" r:id="rId4"/>
    <p:sldId id="259" r:id="rId5"/>
    <p:sldId id="261" r:id="rId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9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A4ABAE-3AFF-40BC-9B47-5B7B8835A261}" type="datetimeFigureOut">
              <a:rPr lang="fr-FR" smtClean="0"/>
              <a:t>13/04/2026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E47494-A1D2-4766-8F39-D58AD62F3236}" type="slidenum">
              <a:rPr lang="fr-FR" smtClean="0"/>
              <a:t>‹N°›</a:t>
            </a:fld>
            <a:endParaRPr lang="fr-FR"/>
          </a:p>
        </p:txBody>
      </p:sp>
    </p:spTree>
    <p:extLst>
      <p:ext uri="{BB962C8B-B14F-4D97-AF65-F5344CB8AC3E}">
        <p14:creationId xmlns:p14="http://schemas.microsoft.com/office/powerpoint/2010/main" val="3780174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strike="noStrike" kern="1200" baseline="0" dirty="0" err="1" smtClean="0">
                <a:solidFill>
                  <a:schemeClr val="tx1"/>
                </a:solidFill>
                <a:latin typeface="+mn-lt"/>
                <a:ea typeface="+mn-ea"/>
                <a:cs typeface="+mn-cs"/>
              </a:rPr>
              <a:t>Sociètal</a:t>
            </a:r>
            <a:r>
              <a:rPr lang="fr-FR" sz="1200" b="0" i="0" u="none" strike="noStrike" kern="1200" baseline="0" dirty="0" smtClean="0">
                <a:solidFill>
                  <a:schemeClr val="tx1"/>
                </a:solidFill>
                <a:latin typeface="+mn-lt"/>
                <a:ea typeface="+mn-ea"/>
                <a:cs typeface="+mn-cs"/>
              </a:rPr>
              <a:t>: être actif dans des causes sociales ou des mouvements citoyens peut contribuer à un sentiment de connexion et d'utilité sociale , Dans cette dimension, il est important de souligner que l'interaction avec la société ne se limite pas à une participation politique et à des activités communautaires. Les individus peuvent également influencer la société par le biais de leurs choix de consommation, de leurs interactions en ligne et de leur engagement dans des initiatives de responsabilité sociale des entreprises </a:t>
            </a:r>
          </a:p>
          <a:p>
            <a:endParaRPr lang="fr-FR" sz="1200" b="0" i="0" u="none" strike="noStrike" kern="1200" baseline="0" dirty="0" smtClean="0">
              <a:solidFill>
                <a:schemeClr val="tx1"/>
              </a:solidFill>
              <a:latin typeface="+mn-lt"/>
              <a:ea typeface="+mn-ea"/>
              <a:cs typeface="+mn-cs"/>
            </a:endParaRPr>
          </a:p>
          <a:p>
            <a:r>
              <a:rPr lang="fr-FR" sz="1200" b="0" i="0" u="none" strike="noStrike" kern="1200" baseline="0" dirty="0" smtClean="0">
                <a:solidFill>
                  <a:schemeClr val="tx1"/>
                </a:solidFill>
                <a:latin typeface="+mn-lt"/>
                <a:ea typeface="+mn-ea"/>
                <a:cs typeface="+mn-cs"/>
              </a:rPr>
              <a:t>Une forte appartenance organisationnelle est souvent associée à une satisfaction au travail plus élevée, un engagement accru et une meilleure performance </a:t>
            </a:r>
          </a:p>
          <a:p>
            <a:endParaRPr lang="fr-FR" sz="1200" b="0" i="0" u="none" strike="noStrike" kern="1200" baseline="0" dirty="0" smtClean="0">
              <a:solidFill>
                <a:schemeClr val="tx1"/>
              </a:solidFill>
              <a:latin typeface="+mn-lt"/>
              <a:ea typeface="+mn-ea"/>
              <a:cs typeface="+mn-cs"/>
            </a:endParaRPr>
          </a:p>
          <a:p>
            <a:r>
              <a:rPr lang="fr-FR" sz="1200" b="0" i="0" u="none" strike="noStrike" kern="1200" baseline="0" dirty="0" smtClean="0">
                <a:solidFill>
                  <a:schemeClr val="tx1"/>
                </a:solidFill>
                <a:latin typeface="+mn-lt"/>
                <a:ea typeface="+mn-ea"/>
                <a:cs typeface="+mn-cs"/>
              </a:rPr>
              <a:t>Une culture d'entreprise positive, caractérisée par des valeurs telles que la transparence, la confiance et le respect, favorise un environnement de travail sain et productif </a:t>
            </a:r>
          </a:p>
          <a:p>
            <a:endParaRPr lang="fr-FR" sz="1200" b="0" i="0" u="none" strike="noStrike" kern="1200" baseline="0" dirty="0" smtClean="0">
              <a:solidFill>
                <a:schemeClr val="tx1"/>
              </a:solidFill>
              <a:latin typeface="+mn-lt"/>
              <a:ea typeface="+mn-ea"/>
              <a:cs typeface="+mn-cs"/>
            </a:endParaRPr>
          </a:p>
          <a:p>
            <a:r>
              <a:rPr lang="fr-FR" sz="1200" b="0" i="0" u="none" strike="noStrike" kern="1200" baseline="0" dirty="0" smtClean="0">
                <a:solidFill>
                  <a:schemeClr val="tx1"/>
                </a:solidFill>
                <a:latin typeface="+mn-lt"/>
                <a:ea typeface="+mn-ea"/>
                <a:cs typeface="+mn-cs"/>
              </a:rPr>
              <a:t>La qualité des relations avec les subordonnés, les pairs et les supérieurs hiérarchiques peut avoir un impact significatif sur la satisfaction au travail et le bien-être psychologique des gestionnaires </a:t>
            </a:r>
          </a:p>
          <a:p>
            <a:endParaRPr lang="fr-FR" sz="1200" b="0" i="0" u="none" strike="noStrike" kern="1200" baseline="0" dirty="0" smtClean="0">
              <a:solidFill>
                <a:schemeClr val="tx1"/>
              </a:solidFill>
              <a:latin typeface="+mn-lt"/>
              <a:ea typeface="+mn-ea"/>
              <a:cs typeface="+mn-cs"/>
            </a:endParaRPr>
          </a:p>
          <a:p>
            <a:r>
              <a:rPr lang="fr-FR" sz="1200" b="0" i="0" u="none" strike="noStrike" kern="1200" baseline="0" dirty="0" smtClean="0">
                <a:solidFill>
                  <a:schemeClr val="tx1"/>
                </a:solidFill>
                <a:latin typeface="+mn-lt"/>
                <a:ea typeface="+mn-ea"/>
                <a:cs typeface="+mn-cs"/>
              </a:rPr>
              <a:t>Dans un marché du travail en évolution constante, la capacité à s'adapter et à apprendre de nouvelles compétences devient de plus en plus importante. De plus, la gestion de carrière et la planification de la relève sont des aspects cruciaux de cette dimension pour assurer une progression professionnelle continue et un développement de carrière réussi. </a:t>
            </a:r>
            <a:endParaRPr lang="fr-FR" dirty="0"/>
          </a:p>
        </p:txBody>
      </p:sp>
      <p:sp>
        <p:nvSpPr>
          <p:cNvPr id="4" name="Espace réservé du numéro de diapositive 3"/>
          <p:cNvSpPr>
            <a:spLocks noGrp="1"/>
          </p:cNvSpPr>
          <p:nvPr>
            <p:ph type="sldNum" sz="quarter" idx="10"/>
          </p:nvPr>
        </p:nvSpPr>
        <p:spPr/>
        <p:txBody>
          <a:bodyPr/>
          <a:lstStyle/>
          <a:p>
            <a:fld id="{66E47494-A1D2-4766-8F39-D58AD62F3236}" type="slidenum">
              <a:rPr lang="fr-FR" smtClean="0"/>
              <a:t>4</a:t>
            </a:fld>
            <a:endParaRPr lang="fr-FR"/>
          </a:p>
        </p:txBody>
      </p:sp>
    </p:spTree>
    <p:extLst>
      <p:ext uri="{BB962C8B-B14F-4D97-AF65-F5344CB8AC3E}">
        <p14:creationId xmlns:p14="http://schemas.microsoft.com/office/powerpoint/2010/main" val="2592129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strike="noStrike" kern="1200" baseline="0" dirty="0" err="1" smtClean="0">
                <a:solidFill>
                  <a:schemeClr val="tx1"/>
                </a:solidFill>
                <a:latin typeface="+mn-lt"/>
                <a:ea typeface="+mn-ea"/>
                <a:cs typeface="+mn-cs"/>
              </a:rPr>
              <a:t>Sociètal</a:t>
            </a:r>
            <a:r>
              <a:rPr lang="fr-FR" sz="1200" b="0" i="0" u="none" strike="noStrike" kern="1200" baseline="0" dirty="0" smtClean="0">
                <a:solidFill>
                  <a:schemeClr val="tx1"/>
                </a:solidFill>
                <a:latin typeface="+mn-lt"/>
                <a:ea typeface="+mn-ea"/>
                <a:cs typeface="+mn-cs"/>
              </a:rPr>
              <a:t>: être actif dans des causes sociales ou des mouvements citoyens peut contribuer à un sentiment de connexion et d'utilité sociale , Dans cette dimension, il est important de souligner que l'interaction avec la société ne se limite pas à une participation politique et à des activités communautaires. Les individus peuvent également influencer la société par le biais de leurs choix de consommation, de leurs interactions en ligne et de leur engagement dans des initiatives de responsabilité sociale des entreprises </a:t>
            </a:r>
          </a:p>
          <a:p>
            <a:endParaRPr lang="fr-FR" sz="1200" b="0" i="0" u="none" strike="noStrike" kern="1200" baseline="0" dirty="0" smtClean="0">
              <a:solidFill>
                <a:schemeClr val="tx1"/>
              </a:solidFill>
              <a:latin typeface="+mn-lt"/>
              <a:ea typeface="+mn-ea"/>
              <a:cs typeface="+mn-cs"/>
            </a:endParaRPr>
          </a:p>
          <a:p>
            <a:r>
              <a:rPr lang="fr-FR" sz="1200" b="0" i="0" u="none" strike="noStrike" kern="1200" baseline="0" dirty="0" smtClean="0">
                <a:solidFill>
                  <a:schemeClr val="tx1"/>
                </a:solidFill>
                <a:latin typeface="+mn-lt"/>
                <a:ea typeface="+mn-ea"/>
                <a:cs typeface="+mn-cs"/>
              </a:rPr>
              <a:t>Une forte appartenance organisationnelle est souvent associée à une satisfaction au travail plus élevée, un engagement accru et une meilleure performance </a:t>
            </a:r>
          </a:p>
          <a:p>
            <a:endParaRPr lang="fr-FR" sz="1200" b="0" i="0" u="none" strike="noStrike" kern="1200" baseline="0" dirty="0" smtClean="0">
              <a:solidFill>
                <a:schemeClr val="tx1"/>
              </a:solidFill>
              <a:latin typeface="+mn-lt"/>
              <a:ea typeface="+mn-ea"/>
              <a:cs typeface="+mn-cs"/>
            </a:endParaRPr>
          </a:p>
          <a:p>
            <a:r>
              <a:rPr lang="fr-FR" sz="1200" b="0" i="0" u="none" strike="noStrike" kern="1200" baseline="0" dirty="0" smtClean="0">
                <a:solidFill>
                  <a:schemeClr val="tx1"/>
                </a:solidFill>
                <a:latin typeface="+mn-lt"/>
                <a:ea typeface="+mn-ea"/>
                <a:cs typeface="+mn-cs"/>
              </a:rPr>
              <a:t>Une culture d'entreprise positive, caractérisée par des valeurs telles que la transparence, la confiance et le respect, favorise un environnement de travail sain et productif </a:t>
            </a:r>
          </a:p>
          <a:p>
            <a:endParaRPr lang="fr-FR" sz="1200" b="0" i="0" u="none" strike="noStrike" kern="1200" baseline="0" dirty="0" smtClean="0">
              <a:solidFill>
                <a:schemeClr val="tx1"/>
              </a:solidFill>
              <a:latin typeface="+mn-lt"/>
              <a:ea typeface="+mn-ea"/>
              <a:cs typeface="+mn-cs"/>
            </a:endParaRPr>
          </a:p>
          <a:p>
            <a:r>
              <a:rPr lang="fr-FR" sz="1200" b="0" i="0" u="none" strike="noStrike" kern="1200" baseline="0" dirty="0" smtClean="0">
                <a:solidFill>
                  <a:schemeClr val="tx1"/>
                </a:solidFill>
                <a:latin typeface="+mn-lt"/>
                <a:ea typeface="+mn-ea"/>
                <a:cs typeface="+mn-cs"/>
              </a:rPr>
              <a:t>La qualité des relations avec les subordonnés, les pairs et les supérieurs hiérarchiques peut avoir un impact significatif sur la satisfaction au travail et le bien-être psychologique des gestionnaires </a:t>
            </a:r>
          </a:p>
          <a:p>
            <a:endParaRPr lang="fr-FR" sz="1200" b="0" i="0" u="none" strike="noStrike" kern="1200" baseline="0" dirty="0" smtClean="0">
              <a:solidFill>
                <a:schemeClr val="tx1"/>
              </a:solidFill>
              <a:latin typeface="+mn-lt"/>
              <a:ea typeface="+mn-ea"/>
              <a:cs typeface="+mn-cs"/>
            </a:endParaRPr>
          </a:p>
          <a:p>
            <a:r>
              <a:rPr lang="fr-FR" sz="1200" b="0" i="0" u="none" strike="noStrike" kern="1200" baseline="0" dirty="0" smtClean="0">
                <a:solidFill>
                  <a:schemeClr val="tx1"/>
                </a:solidFill>
                <a:latin typeface="+mn-lt"/>
                <a:ea typeface="+mn-ea"/>
                <a:cs typeface="+mn-cs"/>
              </a:rPr>
              <a:t>Dans un marché du travail en évolution constante, la capacité à s'adapter et à apprendre de nouvelles compétences devient de plus en plus importante. De plus, la gestion de carrière et la planification de la relève sont des aspects cruciaux de cette dimension pour assurer une progression professionnelle continue et un développement de carrière réussi. </a:t>
            </a:r>
            <a:endParaRPr lang="fr-FR" dirty="0"/>
          </a:p>
        </p:txBody>
      </p:sp>
      <p:sp>
        <p:nvSpPr>
          <p:cNvPr id="4" name="Espace réservé du numéro de diapositive 3"/>
          <p:cNvSpPr>
            <a:spLocks noGrp="1"/>
          </p:cNvSpPr>
          <p:nvPr>
            <p:ph type="sldNum" sz="quarter" idx="10"/>
          </p:nvPr>
        </p:nvSpPr>
        <p:spPr/>
        <p:txBody>
          <a:bodyPr/>
          <a:lstStyle/>
          <a:p>
            <a:fld id="{66E47494-A1D2-4766-8F39-D58AD62F3236}" type="slidenum">
              <a:rPr lang="fr-FR" smtClean="0"/>
              <a:t>5</a:t>
            </a:fld>
            <a:endParaRPr lang="fr-FR"/>
          </a:p>
        </p:txBody>
      </p:sp>
    </p:spTree>
    <p:extLst>
      <p:ext uri="{BB962C8B-B14F-4D97-AF65-F5344CB8AC3E}">
        <p14:creationId xmlns:p14="http://schemas.microsoft.com/office/powerpoint/2010/main" val="1616518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25898E9A-D80B-40CC-A0B5-18569C4282A1}" type="datetimeFigureOut">
              <a:rPr lang="fr-FR" smtClean="0"/>
              <a:t>13/04/2026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CAFDA41-BC5F-43B5-B6B4-B838C2DE50B8}" type="slidenum">
              <a:rPr lang="fr-FR" smtClean="0"/>
              <a:t>‹N°›</a:t>
            </a:fld>
            <a:endParaRPr lang="fr-FR"/>
          </a:p>
        </p:txBody>
      </p:sp>
    </p:spTree>
    <p:extLst>
      <p:ext uri="{BB962C8B-B14F-4D97-AF65-F5344CB8AC3E}">
        <p14:creationId xmlns:p14="http://schemas.microsoft.com/office/powerpoint/2010/main" val="1248972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25898E9A-D80B-40CC-A0B5-18569C4282A1}" type="datetimeFigureOut">
              <a:rPr lang="fr-FR" smtClean="0"/>
              <a:t>13/04/2026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CAFDA41-BC5F-43B5-B6B4-B838C2DE50B8}" type="slidenum">
              <a:rPr lang="fr-FR" smtClean="0"/>
              <a:t>‹N°›</a:t>
            </a:fld>
            <a:endParaRPr lang="fr-FR"/>
          </a:p>
        </p:txBody>
      </p:sp>
    </p:spTree>
    <p:extLst>
      <p:ext uri="{BB962C8B-B14F-4D97-AF65-F5344CB8AC3E}">
        <p14:creationId xmlns:p14="http://schemas.microsoft.com/office/powerpoint/2010/main" val="2495598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25898E9A-D80B-40CC-A0B5-18569C4282A1}" type="datetimeFigureOut">
              <a:rPr lang="fr-FR" smtClean="0"/>
              <a:t>13/04/2026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CAFDA41-BC5F-43B5-B6B4-B838C2DE50B8}" type="slidenum">
              <a:rPr lang="fr-FR" smtClean="0"/>
              <a:t>‹N°›</a:t>
            </a:fld>
            <a:endParaRPr lang="fr-FR"/>
          </a:p>
        </p:txBody>
      </p:sp>
    </p:spTree>
    <p:extLst>
      <p:ext uri="{BB962C8B-B14F-4D97-AF65-F5344CB8AC3E}">
        <p14:creationId xmlns:p14="http://schemas.microsoft.com/office/powerpoint/2010/main" val="28608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25898E9A-D80B-40CC-A0B5-18569C4282A1}" type="datetimeFigureOut">
              <a:rPr lang="fr-FR" smtClean="0"/>
              <a:t>13/04/2026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CAFDA41-BC5F-43B5-B6B4-B838C2DE50B8}" type="slidenum">
              <a:rPr lang="fr-FR" smtClean="0"/>
              <a:t>‹N°›</a:t>
            </a:fld>
            <a:endParaRPr lang="fr-FR"/>
          </a:p>
        </p:txBody>
      </p:sp>
    </p:spTree>
    <p:extLst>
      <p:ext uri="{BB962C8B-B14F-4D97-AF65-F5344CB8AC3E}">
        <p14:creationId xmlns:p14="http://schemas.microsoft.com/office/powerpoint/2010/main" val="183518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25898E9A-D80B-40CC-A0B5-18569C4282A1}" type="datetimeFigureOut">
              <a:rPr lang="fr-FR" smtClean="0"/>
              <a:t>13/04/2026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3CAFDA41-BC5F-43B5-B6B4-B838C2DE50B8}" type="slidenum">
              <a:rPr lang="fr-FR" smtClean="0"/>
              <a:t>‹N°›</a:t>
            </a:fld>
            <a:endParaRPr lang="fr-FR"/>
          </a:p>
        </p:txBody>
      </p:sp>
    </p:spTree>
    <p:extLst>
      <p:ext uri="{BB962C8B-B14F-4D97-AF65-F5344CB8AC3E}">
        <p14:creationId xmlns:p14="http://schemas.microsoft.com/office/powerpoint/2010/main" val="393262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25898E9A-D80B-40CC-A0B5-18569C4282A1}" type="datetimeFigureOut">
              <a:rPr lang="fr-FR" smtClean="0"/>
              <a:t>13/04/2026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3CAFDA41-BC5F-43B5-B6B4-B838C2DE50B8}" type="slidenum">
              <a:rPr lang="fr-FR" smtClean="0"/>
              <a:t>‹N°›</a:t>
            </a:fld>
            <a:endParaRPr lang="fr-FR"/>
          </a:p>
        </p:txBody>
      </p:sp>
    </p:spTree>
    <p:extLst>
      <p:ext uri="{BB962C8B-B14F-4D97-AF65-F5344CB8AC3E}">
        <p14:creationId xmlns:p14="http://schemas.microsoft.com/office/powerpoint/2010/main" val="2497029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25898E9A-D80B-40CC-A0B5-18569C4282A1}" type="datetimeFigureOut">
              <a:rPr lang="fr-FR" smtClean="0"/>
              <a:t>13/04/2026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3CAFDA41-BC5F-43B5-B6B4-B838C2DE50B8}" type="slidenum">
              <a:rPr lang="fr-FR" smtClean="0"/>
              <a:t>‹N°›</a:t>
            </a:fld>
            <a:endParaRPr lang="fr-FR"/>
          </a:p>
        </p:txBody>
      </p:sp>
    </p:spTree>
    <p:extLst>
      <p:ext uri="{BB962C8B-B14F-4D97-AF65-F5344CB8AC3E}">
        <p14:creationId xmlns:p14="http://schemas.microsoft.com/office/powerpoint/2010/main" val="2258578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25898E9A-D80B-40CC-A0B5-18569C4282A1}" type="datetimeFigureOut">
              <a:rPr lang="fr-FR" smtClean="0"/>
              <a:t>13/04/2026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CAFDA41-BC5F-43B5-B6B4-B838C2DE50B8}" type="slidenum">
              <a:rPr lang="fr-FR" smtClean="0"/>
              <a:t>‹N°›</a:t>
            </a:fld>
            <a:endParaRPr lang="fr-FR"/>
          </a:p>
        </p:txBody>
      </p:sp>
    </p:spTree>
    <p:extLst>
      <p:ext uri="{BB962C8B-B14F-4D97-AF65-F5344CB8AC3E}">
        <p14:creationId xmlns:p14="http://schemas.microsoft.com/office/powerpoint/2010/main" val="1659882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25898E9A-D80B-40CC-A0B5-18569C4282A1}" type="datetimeFigureOut">
              <a:rPr lang="fr-FR" smtClean="0"/>
              <a:t>13/04/2026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CAFDA41-BC5F-43B5-B6B4-B838C2DE50B8}" type="slidenum">
              <a:rPr lang="fr-FR" smtClean="0"/>
              <a:t>‹N°›</a:t>
            </a:fld>
            <a:endParaRPr lang="fr-FR"/>
          </a:p>
        </p:txBody>
      </p:sp>
    </p:spTree>
    <p:extLst>
      <p:ext uri="{BB962C8B-B14F-4D97-AF65-F5344CB8AC3E}">
        <p14:creationId xmlns:p14="http://schemas.microsoft.com/office/powerpoint/2010/main" val="1678463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25898E9A-D80B-40CC-A0B5-18569C4282A1}" type="datetimeFigureOut">
              <a:rPr lang="fr-FR" smtClean="0"/>
              <a:t>13/04/2026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CAFDA41-BC5F-43B5-B6B4-B838C2DE50B8}" type="slidenum">
              <a:rPr lang="fr-FR" smtClean="0"/>
              <a:t>‹N°›</a:t>
            </a:fld>
            <a:endParaRPr lang="fr-FR"/>
          </a:p>
        </p:txBody>
      </p:sp>
    </p:spTree>
    <p:extLst>
      <p:ext uri="{BB962C8B-B14F-4D97-AF65-F5344CB8AC3E}">
        <p14:creationId xmlns:p14="http://schemas.microsoft.com/office/powerpoint/2010/main" val="3516253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25898E9A-D80B-40CC-A0B5-18569C4282A1}" type="datetimeFigureOut">
              <a:rPr lang="fr-FR" smtClean="0"/>
              <a:t>13/04/2026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CAFDA41-BC5F-43B5-B6B4-B838C2DE50B8}" type="slidenum">
              <a:rPr lang="fr-FR" smtClean="0"/>
              <a:t>‹N°›</a:t>
            </a:fld>
            <a:endParaRPr lang="fr-FR"/>
          </a:p>
        </p:txBody>
      </p:sp>
    </p:spTree>
    <p:extLst>
      <p:ext uri="{BB962C8B-B14F-4D97-AF65-F5344CB8AC3E}">
        <p14:creationId xmlns:p14="http://schemas.microsoft.com/office/powerpoint/2010/main" val="1996252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898E9A-D80B-40CC-A0B5-18569C4282A1}" type="datetimeFigureOut">
              <a:rPr lang="fr-FR" smtClean="0"/>
              <a:t>13/04/2026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AFDA41-BC5F-43B5-B6B4-B838C2DE50B8}" type="slidenum">
              <a:rPr lang="fr-FR" smtClean="0"/>
              <a:t>‹N°›</a:t>
            </a:fld>
            <a:endParaRPr lang="fr-FR"/>
          </a:p>
        </p:txBody>
      </p:sp>
    </p:spTree>
    <p:extLst>
      <p:ext uri="{BB962C8B-B14F-4D97-AF65-F5344CB8AC3E}">
        <p14:creationId xmlns:p14="http://schemas.microsoft.com/office/powerpoint/2010/main" val="8607260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713186" y="457200"/>
            <a:ext cx="9144000" cy="1072055"/>
          </a:xfrm>
        </p:spPr>
        <p:txBody>
          <a:bodyPr>
            <a:normAutofit fontScale="90000"/>
          </a:bodyPr>
          <a:lstStyle/>
          <a:p>
            <a:r>
              <a:rPr lang="fr-FR" dirty="0">
                <a:solidFill>
                  <a:schemeClr val="accent1"/>
                </a:solidFill>
                <a:latin typeface="Agency FB" panose="020B0503020202020204" pitchFamily="34" charset="0"/>
              </a:rPr>
              <a:t/>
            </a:r>
            <a:br>
              <a:rPr lang="fr-FR" dirty="0">
                <a:solidFill>
                  <a:schemeClr val="accent1"/>
                </a:solidFill>
                <a:latin typeface="Agency FB" panose="020B0503020202020204" pitchFamily="34" charset="0"/>
              </a:rPr>
            </a:br>
            <a:r>
              <a:rPr lang="fr-FR" sz="4000" b="1" dirty="0" smtClean="0">
                <a:solidFill>
                  <a:schemeClr val="accent1"/>
                </a:solidFill>
                <a:latin typeface="Agency FB" panose="020B0503020202020204" pitchFamily="34" charset="0"/>
              </a:rPr>
              <a:t>Création de l’équilibre harmonieux</a:t>
            </a:r>
            <a:endParaRPr lang="fr-FR" dirty="0">
              <a:solidFill>
                <a:schemeClr val="accent1"/>
              </a:solidFill>
              <a:latin typeface="Agency FB" panose="020B0503020202020204" pitchFamily="34" charset="0"/>
            </a:endParaRPr>
          </a:p>
        </p:txBody>
      </p:sp>
      <p:pic>
        <p:nvPicPr>
          <p:cNvPr id="8" name="Image 7"/>
          <p:cNvPicPr>
            <a:picLocks noChangeAspect="1"/>
          </p:cNvPicPr>
          <p:nvPr/>
        </p:nvPicPr>
        <p:blipFill rotWithShape="1">
          <a:blip r:embed="rId2"/>
          <a:srcRect l="59976" t="29634" r="7066" b="33082"/>
          <a:stretch/>
        </p:blipFill>
        <p:spPr>
          <a:xfrm>
            <a:off x="3294993" y="1529255"/>
            <a:ext cx="5959366" cy="3436883"/>
          </a:xfrm>
          <a:prstGeom prst="rect">
            <a:avLst/>
          </a:prstGeom>
        </p:spPr>
      </p:pic>
    </p:spTree>
    <p:extLst>
      <p:ext uri="{BB962C8B-B14F-4D97-AF65-F5344CB8AC3E}">
        <p14:creationId xmlns:p14="http://schemas.microsoft.com/office/powerpoint/2010/main" val="11135562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713186" y="457200"/>
            <a:ext cx="9144000" cy="1072055"/>
          </a:xfrm>
        </p:spPr>
        <p:txBody>
          <a:bodyPr>
            <a:normAutofit fontScale="90000"/>
          </a:bodyPr>
          <a:lstStyle/>
          <a:p>
            <a:r>
              <a:rPr lang="fr-FR" dirty="0">
                <a:solidFill>
                  <a:schemeClr val="accent1"/>
                </a:solidFill>
                <a:latin typeface="Agency FB" panose="020B0503020202020204" pitchFamily="34" charset="0"/>
              </a:rPr>
              <a:t/>
            </a:r>
            <a:br>
              <a:rPr lang="fr-FR" dirty="0">
                <a:solidFill>
                  <a:schemeClr val="accent1"/>
                </a:solidFill>
                <a:latin typeface="Agency FB" panose="020B0503020202020204" pitchFamily="34" charset="0"/>
              </a:rPr>
            </a:br>
            <a:r>
              <a:rPr lang="fr-FR" sz="4000" b="1" dirty="0">
                <a:solidFill>
                  <a:schemeClr val="accent1"/>
                </a:solidFill>
                <a:latin typeface="Agency FB" panose="020B0503020202020204" pitchFamily="34" charset="0"/>
              </a:rPr>
              <a:t>Hémisphère Gauche et Droit du Cerveau </a:t>
            </a:r>
            <a:r>
              <a:rPr lang="fr-FR" dirty="0">
                <a:solidFill>
                  <a:schemeClr val="accent1"/>
                </a:solidFill>
                <a:latin typeface="Agency FB" panose="020B0503020202020204" pitchFamily="34" charset="0"/>
              </a:rPr>
              <a:t/>
            </a:r>
            <a:br>
              <a:rPr lang="fr-FR" dirty="0">
                <a:solidFill>
                  <a:schemeClr val="accent1"/>
                </a:solidFill>
                <a:latin typeface="Agency FB" panose="020B0503020202020204" pitchFamily="34" charset="0"/>
              </a:rPr>
            </a:br>
            <a:endParaRPr lang="fr-FR" dirty="0">
              <a:solidFill>
                <a:schemeClr val="accent1"/>
              </a:solidFill>
              <a:latin typeface="Agency FB" panose="020B0503020202020204" pitchFamily="34" charset="0"/>
            </a:endParaRPr>
          </a:p>
        </p:txBody>
      </p:sp>
      <p:sp>
        <p:nvSpPr>
          <p:cNvPr id="3" name="Sous-titre 2"/>
          <p:cNvSpPr>
            <a:spLocks noGrp="1"/>
          </p:cNvSpPr>
          <p:nvPr>
            <p:ph type="subTitle" idx="1"/>
          </p:nvPr>
        </p:nvSpPr>
        <p:spPr>
          <a:xfrm>
            <a:off x="262759" y="1347569"/>
            <a:ext cx="4435365" cy="1655762"/>
          </a:xfrm>
        </p:spPr>
        <p:txBody>
          <a:bodyPr>
            <a:normAutofit/>
          </a:bodyPr>
          <a:lstStyle/>
          <a:p>
            <a:r>
              <a:rPr lang="fr-FR" dirty="0">
                <a:latin typeface="Agency FB" panose="020B0503020202020204" pitchFamily="34" charset="0"/>
              </a:rPr>
              <a:t>Traditionnellement, l'hémisphère gauche est associé à des fonctions analytiques et logiques, telles que le langage et la pensée </a:t>
            </a:r>
            <a:r>
              <a:rPr lang="fr-FR" dirty="0" smtClean="0">
                <a:latin typeface="Agency FB" panose="020B0503020202020204" pitchFamily="34" charset="0"/>
              </a:rPr>
              <a:t>rationnelle </a:t>
            </a:r>
            <a:endParaRPr lang="fr-FR" dirty="0">
              <a:latin typeface="Agency FB" panose="020B0503020202020204" pitchFamily="34" charset="0"/>
            </a:endParaRPr>
          </a:p>
        </p:txBody>
      </p:sp>
      <p:sp>
        <p:nvSpPr>
          <p:cNvPr id="4" name="Sous-titre 2"/>
          <p:cNvSpPr txBox="1">
            <a:spLocks/>
          </p:cNvSpPr>
          <p:nvPr/>
        </p:nvSpPr>
        <p:spPr>
          <a:xfrm>
            <a:off x="6684580" y="1347569"/>
            <a:ext cx="5039711"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dirty="0">
                <a:latin typeface="Agency FB" panose="020B0503020202020204" pitchFamily="34" charset="0"/>
              </a:rPr>
              <a:t>l'hémisphère droit est associé à des fonctions plus créatives et intuitives, telles que la perception spatiale et la reconnaissance des visages </a:t>
            </a:r>
          </a:p>
        </p:txBody>
      </p:sp>
      <p:pic>
        <p:nvPicPr>
          <p:cNvPr id="5" name="Image 4"/>
          <p:cNvPicPr>
            <a:picLocks noChangeAspect="1"/>
          </p:cNvPicPr>
          <p:nvPr/>
        </p:nvPicPr>
        <p:blipFill rotWithShape="1">
          <a:blip r:embed="rId2"/>
          <a:srcRect l="43861" t="39978" r="22696" b="16703"/>
          <a:stretch/>
        </p:blipFill>
        <p:spPr>
          <a:xfrm>
            <a:off x="1024759" y="3003331"/>
            <a:ext cx="5376041" cy="3507828"/>
          </a:xfrm>
          <a:prstGeom prst="rect">
            <a:avLst/>
          </a:prstGeom>
        </p:spPr>
      </p:pic>
      <p:sp>
        <p:nvSpPr>
          <p:cNvPr id="6" name="ZoneTexte 5"/>
          <p:cNvSpPr txBox="1"/>
          <p:nvPr/>
        </p:nvSpPr>
        <p:spPr>
          <a:xfrm>
            <a:off x="7535917" y="4020207"/>
            <a:ext cx="4188374" cy="2677656"/>
          </a:xfrm>
          <a:prstGeom prst="rect">
            <a:avLst/>
          </a:prstGeom>
          <a:noFill/>
        </p:spPr>
        <p:txBody>
          <a:bodyPr wrap="square" rtlCol="0">
            <a:spAutoFit/>
          </a:bodyPr>
          <a:lstStyle/>
          <a:p>
            <a:pPr algn="ctr"/>
            <a:r>
              <a:rPr lang="fr-FR" sz="2400" b="1" dirty="0">
                <a:solidFill>
                  <a:schemeClr val="accent6">
                    <a:lumMod val="50000"/>
                  </a:schemeClr>
                </a:solidFill>
                <a:latin typeface="Agency FB" panose="020B0503020202020204" pitchFamily="34" charset="0"/>
              </a:rPr>
              <a:t>Dans le contexte du développement personnel, il est important de trouver un équilibre entre les deux hémisphères pour favoriser à la fois la réflexion analytique et la créativité, ce qui peut contribuer à une croissance holistique de l'individu</a:t>
            </a:r>
            <a:r>
              <a:rPr lang="fr-FR" dirty="0"/>
              <a:t>. </a:t>
            </a:r>
          </a:p>
        </p:txBody>
      </p:sp>
    </p:spTree>
    <p:extLst>
      <p:ext uri="{BB962C8B-B14F-4D97-AF65-F5344CB8AC3E}">
        <p14:creationId xmlns:p14="http://schemas.microsoft.com/office/powerpoint/2010/main" val="24120245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713186" y="457200"/>
            <a:ext cx="9144000" cy="1072055"/>
          </a:xfrm>
        </p:spPr>
        <p:txBody>
          <a:bodyPr>
            <a:normAutofit fontScale="90000"/>
          </a:bodyPr>
          <a:lstStyle/>
          <a:p>
            <a:r>
              <a:rPr lang="fr-FR" dirty="0" smtClean="0">
                <a:solidFill>
                  <a:schemeClr val="accent1"/>
                </a:solidFill>
                <a:latin typeface="Agency FB" panose="020B0503020202020204" pitchFamily="34" charset="0"/>
              </a:rPr>
              <a:t/>
            </a:r>
            <a:br>
              <a:rPr lang="fr-FR" dirty="0" smtClean="0">
                <a:solidFill>
                  <a:schemeClr val="accent1"/>
                </a:solidFill>
                <a:latin typeface="Agency FB" panose="020B0503020202020204" pitchFamily="34" charset="0"/>
              </a:rPr>
            </a:br>
            <a:r>
              <a:rPr lang="fr-FR" sz="4000" b="1" dirty="0" smtClean="0">
                <a:solidFill>
                  <a:schemeClr val="accent1"/>
                </a:solidFill>
                <a:latin typeface="Agency FB" panose="020B0503020202020204" pitchFamily="34" charset="0"/>
              </a:rPr>
              <a:t>Le Cerveau </a:t>
            </a:r>
            <a:r>
              <a:rPr lang="fr-FR" sz="4000" b="1" dirty="0" err="1" smtClean="0">
                <a:solidFill>
                  <a:schemeClr val="accent1"/>
                </a:solidFill>
                <a:latin typeface="Agency FB" panose="020B0503020202020204" pitchFamily="34" charset="0"/>
              </a:rPr>
              <a:t>Triunique</a:t>
            </a:r>
            <a:r>
              <a:rPr lang="fr-FR" sz="4000" b="1" dirty="0" smtClean="0">
                <a:solidFill>
                  <a:schemeClr val="accent1"/>
                </a:solidFill>
                <a:latin typeface="Agency FB" panose="020B0503020202020204" pitchFamily="34" charset="0"/>
              </a:rPr>
              <a:t> de </a:t>
            </a:r>
            <a:r>
              <a:rPr lang="fr-FR" sz="4000" b="1" dirty="0" err="1" smtClean="0">
                <a:solidFill>
                  <a:schemeClr val="accent1"/>
                </a:solidFill>
                <a:latin typeface="Agency FB" panose="020B0503020202020204" pitchFamily="34" charset="0"/>
              </a:rPr>
              <a:t>McLean</a:t>
            </a:r>
            <a:r>
              <a:rPr lang="fr-FR" dirty="0" smtClean="0">
                <a:solidFill>
                  <a:schemeClr val="accent1"/>
                </a:solidFill>
                <a:latin typeface="Agency FB" panose="020B0503020202020204" pitchFamily="34" charset="0"/>
              </a:rPr>
              <a:t/>
            </a:r>
            <a:br>
              <a:rPr lang="fr-FR" dirty="0" smtClean="0">
                <a:solidFill>
                  <a:schemeClr val="accent1"/>
                </a:solidFill>
                <a:latin typeface="Agency FB" panose="020B0503020202020204" pitchFamily="34" charset="0"/>
              </a:rPr>
            </a:br>
            <a:endParaRPr lang="fr-FR" dirty="0">
              <a:solidFill>
                <a:schemeClr val="accent1"/>
              </a:solidFill>
              <a:latin typeface="Agency FB" panose="020B0503020202020204" pitchFamily="34" charset="0"/>
            </a:endParaRPr>
          </a:p>
        </p:txBody>
      </p:sp>
      <p:sp>
        <p:nvSpPr>
          <p:cNvPr id="3" name="Sous-titre 2"/>
          <p:cNvSpPr>
            <a:spLocks noGrp="1"/>
          </p:cNvSpPr>
          <p:nvPr>
            <p:ph type="subTitle" idx="1"/>
          </p:nvPr>
        </p:nvSpPr>
        <p:spPr>
          <a:xfrm>
            <a:off x="262759" y="1347569"/>
            <a:ext cx="5397062" cy="2436154"/>
          </a:xfrm>
        </p:spPr>
        <p:txBody>
          <a:bodyPr>
            <a:normAutofit fontScale="92500" lnSpcReduction="20000"/>
          </a:bodyPr>
          <a:lstStyle/>
          <a:p>
            <a:r>
              <a:rPr lang="fr-FR" dirty="0" smtClean="0">
                <a:latin typeface="Agency FB" panose="020B0503020202020204" pitchFamily="34" charset="0"/>
              </a:rPr>
              <a:t>Le concept du cerveau </a:t>
            </a:r>
            <a:r>
              <a:rPr lang="fr-FR" dirty="0" err="1" smtClean="0">
                <a:latin typeface="Agency FB" panose="020B0503020202020204" pitchFamily="34" charset="0"/>
              </a:rPr>
              <a:t>triunique</a:t>
            </a:r>
            <a:r>
              <a:rPr lang="fr-FR" dirty="0" smtClean="0">
                <a:latin typeface="Agency FB" panose="020B0503020202020204" pitchFamily="34" charset="0"/>
              </a:rPr>
              <a:t>, proposé par le neuroscientifique Paul D. </a:t>
            </a:r>
            <a:r>
              <a:rPr lang="fr-FR" dirty="0" err="1" smtClean="0">
                <a:latin typeface="Agency FB" panose="020B0503020202020204" pitchFamily="34" charset="0"/>
              </a:rPr>
              <a:t>MacLean</a:t>
            </a:r>
            <a:r>
              <a:rPr lang="fr-FR" dirty="0" smtClean="0">
                <a:latin typeface="Agency FB" panose="020B0503020202020204" pitchFamily="34" charset="0"/>
              </a:rPr>
              <a:t>, suggère que le cerveau humain est constitué de trois parties principales : </a:t>
            </a:r>
          </a:p>
          <a:p>
            <a:endParaRPr lang="fr-FR" dirty="0" smtClean="0">
              <a:latin typeface="Agency FB" panose="020B0503020202020204" pitchFamily="34" charset="0"/>
            </a:endParaRPr>
          </a:p>
          <a:p>
            <a:pPr marL="342900" indent="-342900" algn="l">
              <a:buFont typeface="Wingdings" panose="05000000000000000000" pitchFamily="2" charset="2"/>
              <a:buChar char="§"/>
            </a:pPr>
            <a:r>
              <a:rPr lang="fr-FR" dirty="0" smtClean="0">
                <a:latin typeface="Agency FB" panose="020B0503020202020204" pitchFamily="34" charset="0"/>
              </a:rPr>
              <a:t>le cerveau reptilien</a:t>
            </a:r>
          </a:p>
          <a:p>
            <a:pPr marL="342900" indent="-342900" algn="l">
              <a:buFont typeface="Wingdings" panose="05000000000000000000" pitchFamily="2" charset="2"/>
              <a:buChar char="§"/>
            </a:pPr>
            <a:r>
              <a:rPr lang="fr-FR" dirty="0" smtClean="0">
                <a:latin typeface="Agency FB" panose="020B0503020202020204" pitchFamily="34" charset="0"/>
              </a:rPr>
              <a:t>le cerveau limbique</a:t>
            </a:r>
          </a:p>
          <a:p>
            <a:pPr marL="342900" indent="-342900" algn="l">
              <a:buFont typeface="Wingdings" panose="05000000000000000000" pitchFamily="2" charset="2"/>
              <a:buChar char="§"/>
            </a:pPr>
            <a:r>
              <a:rPr lang="fr-FR" dirty="0" smtClean="0">
                <a:latin typeface="Agency FB" panose="020B0503020202020204" pitchFamily="34" charset="0"/>
              </a:rPr>
              <a:t>le néocortex</a:t>
            </a:r>
            <a:endParaRPr lang="fr-FR" dirty="0">
              <a:latin typeface="Agency FB" panose="020B0503020202020204" pitchFamily="34" charset="0"/>
            </a:endParaRPr>
          </a:p>
        </p:txBody>
      </p:sp>
      <p:sp>
        <p:nvSpPr>
          <p:cNvPr id="4" name="Sous-titre 2"/>
          <p:cNvSpPr txBox="1">
            <a:spLocks/>
          </p:cNvSpPr>
          <p:nvPr/>
        </p:nvSpPr>
        <p:spPr>
          <a:xfrm>
            <a:off x="583325" y="4020207"/>
            <a:ext cx="5559974" cy="2436155"/>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just">
              <a:buFont typeface="Wingdings" panose="05000000000000000000" pitchFamily="2" charset="2"/>
              <a:buChar char="§"/>
            </a:pPr>
            <a:r>
              <a:rPr lang="fr-FR" dirty="0" smtClean="0">
                <a:solidFill>
                  <a:schemeClr val="accent1"/>
                </a:solidFill>
                <a:latin typeface="Bell MT" panose="02020503060305020303" pitchFamily="18" charset="0"/>
              </a:rPr>
              <a:t>Le cerveau reptilien est responsable des fonctions primitives telles que la survie, la reproduction et les réponses instinctives.</a:t>
            </a:r>
          </a:p>
          <a:p>
            <a:pPr marL="342900" indent="-342900" algn="just">
              <a:buFont typeface="Wingdings" panose="05000000000000000000" pitchFamily="2" charset="2"/>
              <a:buChar char="§"/>
            </a:pPr>
            <a:r>
              <a:rPr lang="fr-FR" dirty="0" smtClean="0">
                <a:solidFill>
                  <a:schemeClr val="accent4">
                    <a:lumMod val="75000"/>
                  </a:schemeClr>
                </a:solidFill>
                <a:latin typeface="Bell MT" panose="02020503060305020303" pitchFamily="18" charset="0"/>
              </a:rPr>
              <a:t>Le cerveau limbique est associé aux émotions et aux motivations.</a:t>
            </a:r>
          </a:p>
          <a:p>
            <a:pPr marL="342900" indent="-342900" algn="just">
              <a:buFont typeface="Wingdings" panose="05000000000000000000" pitchFamily="2" charset="2"/>
              <a:buChar char="§"/>
            </a:pPr>
            <a:r>
              <a:rPr lang="fr-FR" dirty="0" smtClean="0">
                <a:solidFill>
                  <a:srgbClr val="7030A0"/>
                </a:solidFill>
                <a:latin typeface="Bell MT" panose="02020503060305020303" pitchFamily="18" charset="0"/>
              </a:rPr>
              <a:t>Le néocortex est le siège des fonctions cognitives supérieures telles que la pensée consciente, la planification et la résolution de problèmes.</a:t>
            </a:r>
            <a:endParaRPr lang="fr-FR" dirty="0">
              <a:solidFill>
                <a:srgbClr val="7030A0"/>
              </a:solidFill>
              <a:latin typeface="Bell MT" panose="02020503060305020303" pitchFamily="18" charset="0"/>
            </a:endParaRPr>
          </a:p>
        </p:txBody>
      </p:sp>
      <p:pic>
        <p:nvPicPr>
          <p:cNvPr id="7" name="Image 6"/>
          <p:cNvPicPr>
            <a:picLocks noChangeAspect="1"/>
          </p:cNvPicPr>
          <p:nvPr/>
        </p:nvPicPr>
        <p:blipFill rotWithShape="1">
          <a:blip r:embed="rId2"/>
          <a:srcRect l="36833" t="34591" r="16153" b="21013"/>
          <a:stretch/>
        </p:blipFill>
        <p:spPr>
          <a:xfrm>
            <a:off x="6143299" y="1990588"/>
            <a:ext cx="5423338" cy="3937246"/>
          </a:xfrm>
          <a:prstGeom prst="rect">
            <a:avLst/>
          </a:prstGeom>
        </p:spPr>
      </p:pic>
    </p:spTree>
    <p:extLst>
      <p:ext uri="{BB962C8B-B14F-4D97-AF65-F5344CB8AC3E}">
        <p14:creationId xmlns:p14="http://schemas.microsoft.com/office/powerpoint/2010/main" val="11130679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713186" y="457200"/>
            <a:ext cx="9144000" cy="1072055"/>
          </a:xfrm>
        </p:spPr>
        <p:txBody>
          <a:bodyPr>
            <a:normAutofit fontScale="90000"/>
          </a:bodyPr>
          <a:lstStyle/>
          <a:p>
            <a:r>
              <a:rPr lang="fr-FR" dirty="0" smtClean="0">
                <a:solidFill>
                  <a:schemeClr val="accent1"/>
                </a:solidFill>
                <a:latin typeface="Agency FB" panose="020B0503020202020204" pitchFamily="34" charset="0"/>
              </a:rPr>
              <a:t/>
            </a:r>
            <a:br>
              <a:rPr lang="fr-FR" dirty="0" smtClean="0">
                <a:solidFill>
                  <a:schemeClr val="accent1"/>
                </a:solidFill>
                <a:latin typeface="Agency FB" panose="020B0503020202020204" pitchFamily="34" charset="0"/>
              </a:rPr>
            </a:br>
            <a:r>
              <a:rPr lang="fr-FR" sz="4000" b="1" dirty="0" smtClean="0">
                <a:solidFill>
                  <a:schemeClr val="accent1"/>
                </a:solidFill>
                <a:latin typeface="Agency FB" panose="020B0503020202020204" pitchFamily="34" charset="0"/>
              </a:rPr>
              <a:t>La Colonne Vertébrale de Sens: Les 9 Niveaux d’Identité</a:t>
            </a:r>
            <a:r>
              <a:rPr lang="fr-FR" dirty="0" smtClean="0">
                <a:solidFill>
                  <a:schemeClr val="accent1"/>
                </a:solidFill>
                <a:latin typeface="Agency FB" panose="020B0503020202020204" pitchFamily="34" charset="0"/>
              </a:rPr>
              <a:t/>
            </a:r>
            <a:br>
              <a:rPr lang="fr-FR" dirty="0" smtClean="0">
                <a:solidFill>
                  <a:schemeClr val="accent1"/>
                </a:solidFill>
                <a:latin typeface="Agency FB" panose="020B0503020202020204" pitchFamily="34" charset="0"/>
              </a:rPr>
            </a:br>
            <a:endParaRPr lang="fr-FR" dirty="0">
              <a:solidFill>
                <a:schemeClr val="accent1"/>
              </a:solidFill>
              <a:latin typeface="Agency FB" panose="020B0503020202020204" pitchFamily="34" charset="0"/>
            </a:endParaRPr>
          </a:p>
        </p:txBody>
      </p:sp>
      <p:sp>
        <p:nvSpPr>
          <p:cNvPr id="3" name="Sous-titre 2"/>
          <p:cNvSpPr>
            <a:spLocks noGrp="1"/>
          </p:cNvSpPr>
          <p:nvPr>
            <p:ph type="subTitle" idx="1"/>
          </p:nvPr>
        </p:nvSpPr>
        <p:spPr>
          <a:xfrm>
            <a:off x="262759" y="1347569"/>
            <a:ext cx="5397062" cy="2436154"/>
          </a:xfrm>
        </p:spPr>
        <p:txBody>
          <a:bodyPr>
            <a:normAutofit/>
          </a:bodyPr>
          <a:lstStyle/>
          <a:p>
            <a:r>
              <a:rPr lang="fr-FR" dirty="0" smtClean="0">
                <a:latin typeface="Agency FB" panose="020B0503020202020204" pitchFamily="34" charset="0"/>
              </a:rPr>
              <a:t>La colonne vertébrale de sens, développée par Richard </a:t>
            </a:r>
            <a:r>
              <a:rPr lang="fr-FR" dirty="0" err="1" smtClean="0">
                <a:latin typeface="Agency FB" panose="020B0503020202020204" pitchFamily="34" charset="0"/>
              </a:rPr>
              <a:t>Barrett</a:t>
            </a:r>
            <a:r>
              <a:rPr lang="fr-FR" dirty="0" smtClean="0">
                <a:latin typeface="Agency FB" panose="020B0503020202020204" pitchFamily="34" charset="0"/>
              </a:rPr>
              <a:t>, propose un modèle hiérarchique de </a:t>
            </a:r>
            <a:r>
              <a:rPr lang="fr-FR" b="1" dirty="0" smtClean="0">
                <a:latin typeface="Agency FB" panose="020B0503020202020204" pitchFamily="34" charset="0"/>
              </a:rPr>
              <a:t>neuf niveaux d'identité</a:t>
            </a:r>
            <a:r>
              <a:rPr lang="fr-FR" dirty="0" smtClean="0">
                <a:latin typeface="Agency FB" panose="020B0503020202020204" pitchFamily="34" charset="0"/>
              </a:rPr>
              <a:t>, allant des besoins physiologiques et matériels les plus fondamentaux aux aspects les plus spirituels et éthiques de l'individu (</a:t>
            </a:r>
            <a:r>
              <a:rPr lang="fr-FR" dirty="0" err="1" smtClean="0">
                <a:latin typeface="Agency FB" panose="020B0503020202020204" pitchFamily="34" charset="0"/>
              </a:rPr>
              <a:t>Barrett</a:t>
            </a:r>
            <a:r>
              <a:rPr lang="fr-FR" dirty="0" smtClean="0">
                <a:latin typeface="Agency FB" panose="020B0503020202020204" pitchFamily="34" charset="0"/>
              </a:rPr>
              <a:t>, 2017).</a:t>
            </a:r>
            <a:endParaRPr lang="fr-FR" dirty="0">
              <a:latin typeface="Agency FB" panose="020B0503020202020204" pitchFamily="34" charset="0"/>
            </a:endParaRPr>
          </a:p>
        </p:txBody>
      </p:sp>
      <p:pic>
        <p:nvPicPr>
          <p:cNvPr id="5" name="Image 4"/>
          <p:cNvPicPr>
            <a:picLocks noChangeAspect="1"/>
          </p:cNvPicPr>
          <p:nvPr/>
        </p:nvPicPr>
        <p:blipFill rotWithShape="1">
          <a:blip r:embed="rId3"/>
          <a:srcRect l="38044" t="22090" r="17002" b="27047"/>
          <a:stretch/>
        </p:blipFill>
        <p:spPr>
          <a:xfrm>
            <a:off x="5659821" y="1347569"/>
            <a:ext cx="6321972" cy="5352776"/>
          </a:xfrm>
          <a:prstGeom prst="rect">
            <a:avLst/>
          </a:prstGeom>
        </p:spPr>
      </p:pic>
      <p:sp>
        <p:nvSpPr>
          <p:cNvPr id="6" name="Rectangle 5"/>
          <p:cNvSpPr/>
          <p:nvPr/>
        </p:nvSpPr>
        <p:spPr>
          <a:xfrm>
            <a:off x="-86710" y="5300632"/>
            <a:ext cx="6096000" cy="923330"/>
          </a:xfrm>
          <a:prstGeom prst="rect">
            <a:avLst/>
          </a:prstGeom>
        </p:spPr>
        <p:txBody>
          <a:bodyPr>
            <a:spAutoFit/>
          </a:bodyPr>
          <a:lstStyle/>
          <a:p>
            <a:pPr algn="ctr"/>
            <a:r>
              <a:rPr lang="fr-FR" dirty="0">
                <a:solidFill>
                  <a:schemeClr val="accent2">
                    <a:lumMod val="75000"/>
                  </a:schemeClr>
                </a:solidFill>
                <a:latin typeface="Times New Roman" panose="02020603050405020304" pitchFamily="18" charset="0"/>
              </a:rPr>
              <a:t>ce modèle peut aider les individus à explorer et à comprendre les différentes dimensions de leur identité, ainsi qu'à définir leurs valeurs fondamentales et leurs objectifs de vie. </a:t>
            </a:r>
            <a:endParaRPr lang="fr-FR" dirty="0">
              <a:solidFill>
                <a:schemeClr val="accent2">
                  <a:lumMod val="75000"/>
                </a:schemeClr>
              </a:solidFill>
            </a:endParaRPr>
          </a:p>
        </p:txBody>
      </p:sp>
      <p:sp>
        <p:nvSpPr>
          <p:cNvPr id="8" name="Flèche vers le bas 7"/>
          <p:cNvSpPr/>
          <p:nvPr/>
        </p:nvSpPr>
        <p:spPr>
          <a:xfrm>
            <a:off x="2538248" y="3783723"/>
            <a:ext cx="599090" cy="1103587"/>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46683937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713186" y="457200"/>
            <a:ext cx="9144000" cy="1072055"/>
          </a:xfrm>
        </p:spPr>
        <p:txBody>
          <a:bodyPr>
            <a:normAutofit fontScale="90000"/>
          </a:bodyPr>
          <a:lstStyle/>
          <a:p>
            <a:r>
              <a:rPr lang="fr-FR" dirty="0" smtClean="0">
                <a:solidFill>
                  <a:schemeClr val="accent1"/>
                </a:solidFill>
                <a:latin typeface="Agency FB" panose="020B0503020202020204" pitchFamily="34" charset="0"/>
              </a:rPr>
              <a:t/>
            </a:r>
            <a:br>
              <a:rPr lang="fr-FR" dirty="0" smtClean="0">
                <a:solidFill>
                  <a:schemeClr val="accent1"/>
                </a:solidFill>
                <a:latin typeface="Agency FB" panose="020B0503020202020204" pitchFamily="34" charset="0"/>
              </a:rPr>
            </a:br>
            <a:r>
              <a:rPr lang="fr-FR" sz="4000" b="1" dirty="0" smtClean="0">
                <a:solidFill>
                  <a:schemeClr val="accent1"/>
                </a:solidFill>
                <a:latin typeface="Agency FB" panose="020B0503020202020204" pitchFamily="34" charset="0"/>
              </a:rPr>
              <a:t>La Colonne Vertébrale de Sens: Les 9 Niveaux d’Identité</a:t>
            </a:r>
            <a:r>
              <a:rPr lang="fr-FR" dirty="0" smtClean="0">
                <a:solidFill>
                  <a:schemeClr val="accent1"/>
                </a:solidFill>
                <a:latin typeface="Agency FB" panose="020B0503020202020204" pitchFamily="34" charset="0"/>
              </a:rPr>
              <a:t/>
            </a:r>
            <a:br>
              <a:rPr lang="fr-FR" dirty="0" smtClean="0">
                <a:solidFill>
                  <a:schemeClr val="accent1"/>
                </a:solidFill>
                <a:latin typeface="Agency FB" panose="020B0503020202020204" pitchFamily="34" charset="0"/>
              </a:rPr>
            </a:br>
            <a:endParaRPr lang="fr-FR" dirty="0">
              <a:solidFill>
                <a:schemeClr val="accent1"/>
              </a:solidFill>
              <a:latin typeface="Agency FB" panose="020B0503020202020204" pitchFamily="34" charset="0"/>
            </a:endParaRPr>
          </a:p>
        </p:txBody>
      </p:sp>
      <p:sp>
        <p:nvSpPr>
          <p:cNvPr id="3" name="Sous-titre 2"/>
          <p:cNvSpPr>
            <a:spLocks noGrp="1"/>
          </p:cNvSpPr>
          <p:nvPr>
            <p:ph type="subTitle" idx="1"/>
          </p:nvPr>
        </p:nvSpPr>
        <p:spPr>
          <a:xfrm>
            <a:off x="262759" y="1347569"/>
            <a:ext cx="5397062" cy="4501438"/>
          </a:xfrm>
        </p:spPr>
        <p:txBody>
          <a:bodyPr>
            <a:normAutofit fontScale="70000" lnSpcReduction="20000"/>
          </a:bodyPr>
          <a:lstStyle/>
          <a:p>
            <a:r>
              <a:rPr lang="fr-FR" dirty="0" smtClean="0">
                <a:latin typeface="Agency FB" panose="020B0503020202020204" pitchFamily="34" charset="0"/>
              </a:rPr>
              <a:t>Les Neuf Clés de l’Estime de Soi:</a:t>
            </a:r>
          </a:p>
          <a:p>
            <a:r>
              <a:rPr lang="fr-FR" dirty="0" smtClean="0">
                <a:latin typeface="Agency FB" panose="020B0503020202020204" pitchFamily="34" charset="0"/>
              </a:rPr>
              <a:t>1.</a:t>
            </a:r>
          </a:p>
          <a:p>
            <a:r>
              <a:rPr lang="fr-FR" dirty="0" smtClean="0">
                <a:latin typeface="Agency FB" panose="020B0503020202020204" pitchFamily="34" charset="0"/>
              </a:rPr>
              <a:t>Conscience de soi : La capacité à être conscient de nos pensées, émotions et comportements, ainsi que de leur impact sur notre bien-être et nos relations.</a:t>
            </a:r>
          </a:p>
          <a:p>
            <a:r>
              <a:rPr lang="fr-FR" dirty="0" smtClean="0">
                <a:latin typeface="Agency FB" panose="020B0503020202020204" pitchFamily="34" charset="0"/>
              </a:rPr>
              <a:t>2.</a:t>
            </a:r>
          </a:p>
          <a:p>
            <a:r>
              <a:rPr lang="fr-FR" dirty="0" smtClean="0">
                <a:latin typeface="Agency FB" panose="020B0503020202020204" pitchFamily="34" charset="0"/>
              </a:rPr>
              <a:t>Acceptation de soi : L'acceptation inconditionnelle de toutes les parties de nous-mêmes, y compris nos imperfections et nos zones d'ombre.</a:t>
            </a:r>
          </a:p>
          <a:p>
            <a:r>
              <a:rPr lang="fr-FR" dirty="0" smtClean="0">
                <a:latin typeface="Agency FB" panose="020B0503020202020204" pitchFamily="34" charset="0"/>
              </a:rPr>
              <a:t>3.</a:t>
            </a:r>
          </a:p>
          <a:p>
            <a:r>
              <a:rPr lang="fr-FR" dirty="0" smtClean="0">
                <a:latin typeface="Agency FB" panose="020B0503020202020204" pitchFamily="34" charset="0"/>
              </a:rPr>
              <a:t>Responsabilité de soi : Prendre la responsabilité de nos actions, choix et émotions, reconnaissant ainsi notre pouvoir de changer et d'évoluer.</a:t>
            </a:r>
          </a:p>
          <a:p>
            <a:r>
              <a:rPr lang="fr-FR" dirty="0" smtClean="0">
                <a:latin typeface="Agency FB" panose="020B0503020202020204" pitchFamily="34" charset="0"/>
              </a:rPr>
              <a:t>4.</a:t>
            </a:r>
          </a:p>
          <a:p>
            <a:r>
              <a:rPr lang="fr-FR" dirty="0" smtClean="0">
                <a:latin typeface="Agency FB" panose="020B0503020202020204" pitchFamily="34" charset="0"/>
              </a:rPr>
              <a:t>Autonomie : La capacité à prendre des décisions indépendantes, basées sur nos propres valeurs et besoins, plutôt que sur les attentes externes.</a:t>
            </a:r>
          </a:p>
          <a:p>
            <a:r>
              <a:rPr lang="fr-FR" dirty="0" smtClean="0">
                <a:latin typeface="Agency FB" panose="020B0503020202020204" pitchFamily="34" charset="0"/>
              </a:rPr>
              <a:t>5.</a:t>
            </a:r>
          </a:p>
          <a:p>
            <a:r>
              <a:rPr lang="fr-FR" dirty="0" smtClean="0">
                <a:latin typeface="Agency FB" panose="020B0503020202020204" pitchFamily="34" charset="0"/>
              </a:rPr>
              <a:t>Intégrité personnelle : Vivre en accord avec nos valeurs et principes, agissant de manière congruente avec ce que nous croyons être juste et vrai</a:t>
            </a:r>
            <a:endParaRPr lang="fr-FR" dirty="0">
              <a:latin typeface="Agency FB" panose="020B0503020202020204" pitchFamily="34" charset="0"/>
            </a:endParaRPr>
          </a:p>
        </p:txBody>
      </p:sp>
      <p:pic>
        <p:nvPicPr>
          <p:cNvPr id="5" name="Image 4"/>
          <p:cNvPicPr>
            <a:picLocks noChangeAspect="1"/>
          </p:cNvPicPr>
          <p:nvPr/>
        </p:nvPicPr>
        <p:blipFill rotWithShape="1">
          <a:blip r:embed="rId3"/>
          <a:srcRect l="38044" t="22090" r="17002" b="27047"/>
          <a:stretch/>
        </p:blipFill>
        <p:spPr>
          <a:xfrm>
            <a:off x="5659821" y="1347569"/>
            <a:ext cx="6321972" cy="5352776"/>
          </a:xfrm>
          <a:prstGeom prst="rect">
            <a:avLst/>
          </a:prstGeom>
        </p:spPr>
      </p:pic>
    </p:spTree>
    <p:extLst>
      <p:ext uri="{BB962C8B-B14F-4D97-AF65-F5344CB8AC3E}">
        <p14:creationId xmlns:p14="http://schemas.microsoft.com/office/powerpoint/2010/main" val="1533231081"/>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837</Words>
  <Application>Microsoft Office PowerPoint</Application>
  <PresentationFormat>Grand écran</PresentationFormat>
  <Paragraphs>49</Paragraphs>
  <Slides>5</Slides>
  <Notes>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5</vt:i4>
      </vt:variant>
    </vt:vector>
  </HeadingPairs>
  <TitlesOfParts>
    <vt:vector size="13" baseType="lpstr">
      <vt:lpstr>Agency FB</vt:lpstr>
      <vt:lpstr>Arial</vt:lpstr>
      <vt:lpstr>Bell MT</vt:lpstr>
      <vt:lpstr>Calibri</vt:lpstr>
      <vt:lpstr>Calibri Light</vt:lpstr>
      <vt:lpstr>Times New Roman</vt:lpstr>
      <vt:lpstr>Wingdings</vt:lpstr>
      <vt:lpstr>Thème Office</vt:lpstr>
      <vt:lpstr> Création de l’équilibre harmonieux</vt:lpstr>
      <vt:lpstr> Hémisphère Gauche et Droit du Cerveau  </vt:lpstr>
      <vt:lpstr> Le Cerveau Triunique de McLean </vt:lpstr>
      <vt:lpstr> La Colonne Vertébrale de Sens: Les 9 Niveaux d’Identité </vt:lpstr>
      <vt:lpstr> La Colonne Vertébrale de Sens: Les 9 Niveaux d’Identité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Hémisphère Gauche et Droit du Cerveau  </dc:title>
  <dc:creator>Fatima-Zahra Amzil</dc:creator>
  <cp:lastModifiedBy>Fatima-Zahra Amzil</cp:lastModifiedBy>
  <cp:revision>11</cp:revision>
  <dcterms:created xsi:type="dcterms:W3CDTF">2026-02-13T15:03:36Z</dcterms:created>
  <dcterms:modified xsi:type="dcterms:W3CDTF">2026-04-13T14:44:15Z</dcterms:modified>
</cp:coreProperties>
</file>