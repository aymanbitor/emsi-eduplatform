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2" r:id="rId4"/>
    <p:sldId id="263" r:id="rId5"/>
    <p:sldId id="264" r:id="rId6"/>
    <p:sldId id="265" r:id="rId7"/>
    <p:sldId id="266" r:id="rId8"/>
    <p:sldId id="267" r:id="rId9"/>
    <p:sldId id="268" r:id="rId10"/>
    <p:sldId id="269" r:id="rId11"/>
    <p:sldId id="270" r:id="rId12"/>
    <p:sldId id="272" r:id="rId13"/>
    <p:sldId id="273" r:id="rId14"/>
    <p:sldId id="274" r:id="rId15"/>
    <p:sldId id="275" r:id="rId16"/>
    <p:sldId id="277" r:id="rId17"/>
    <p:sldId id="278" r:id="rId18"/>
    <p:sldId id="279" r:id="rId19"/>
    <p:sldId id="280" r:id="rId20"/>
    <p:sldId id="282" r:id="rId21"/>
    <p:sldId id="283" r:id="rId22"/>
    <p:sldId id="284" r:id="rId23"/>
    <p:sldId id="285" r:id="rId24"/>
    <p:sldId id="287" r:id="rId25"/>
    <p:sldId id="288" r:id="rId26"/>
    <p:sldId id="289" r:id="rId27"/>
    <p:sldId id="290" r:id="rId28"/>
    <p:sldId id="291" r:id="rId29"/>
    <p:sldId id="292" r:id="rId30"/>
    <p:sldId id="293" r:id="rId31"/>
    <p:sldId id="453" r:id="rId32"/>
    <p:sldId id="295" r:id="rId33"/>
    <p:sldId id="454" r:id="rId34"/>
    <p:sldId id="298" r:id="rId35"/>
    <p:sldId id="299" r:id="rId36"/>
    <p:sldId id="455" r:id="rId37"/>
    <p:sldId id="301" r:id="rId38"/>
    <p:sldId id="303" r:id="rId39"/>
    <p:sldId id="304" r:id="rId40"/>
    <p:sldId id="305" r:id="rId41"/>
    <p:sldId id="306" r:id="rId42"/>
    <p:sldId id="307" r:id="rId43"/>
    <p:sldId id="308" r:id="rId44"/>
    <p:sldId id="309" r:id="rId45"/>
    <p:sldId id="310" r:id="rId46"/>
    <p:sldId id="311" r:id="rId47"/>
    <p:sldId id="459" r:id="rId48"/>
    <p:sldId id="313" r:id="rId49"/>
    <p:sldId id="314" r:id="rId50"/>
    <p:sldId id="460" r:id="rId51"/>
    <p:sldId id="316" r:id="rId52"/>
    <p:sldId id="317" r:id="rId53"/>
    <p:sldId id="318" r:id="rId54"/>
    <p:sldId id="319" r:id="rId55"/>
    <p:sldId id="320" r:id="rId56"/>
    <p:sldId id="321" r:id="rId57"/>
    <p:sldId id="322" r:id="rId58"/>
    <p:sldId id="323" r:id="rId59"/>
    <p:sldId id="324" r:id="rId60"/>
    <p:sldId id="325" r:id="rId61"/>
    <p:sldId id="326" r:id="rId62"/>
    <p:sldId id="327" r:id="rId63"/>
    <p:sldId id="341" r:id="rId64"/>
    <p:sldId id="342" r:id="rId65"/>
    <p:sldId id="343" r:id="rId66"/>
    <p:sldId id="344" r:id="rId67"/>
    <p:sldId id="352" r:id="rId68"/>
    <p:sldId id="353" r:id="rId69"/>
    <p:sldId id="354" r:id="rId70"/>
    <p:sldId id="355" r:id="rId71"/>
    <p:sldId id="357" r:id="rId72"/>
    <p:sldId id="358" r:id="rId73"/>
    <p:sldId id="359" r:id="rId74"/>
    <p:sldId id="360" r:id="rId7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5" autoAdjust="0"/>
    <p:restoredTop sz="94660"/>
  </p:normalViewPr>
  <p:slideViewPr>
    <p:cSldViewPr snapToGrid="0">
      <p:cViewPr varScale="1">
        <p:scale>
          <a:sx n="68" d="100"/>
          <a:sy n="68" d="100"/>
        </p:scale>
        <p:origin x="77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nay Hammi" userId="82733777-c9b9-4977-9f41-3f34af92c4a0" providerId="ADAL" clId="{C60D4860-70F3-4D1E-8E15-0B03119A5328}"/>
    <pc:docChg chg="undo redo custSel addSld delSld modSld">
      <pc:chgData name="Amnay Hammi" userId="82733777-c9b9-4977-9f41-3f34af92c4a0" providerId="ADAL" clId="{C60D4860-70F3-4D1E-8E15-0B03119A5328}" dt="2026-04-06T17:17:07.092" v="66" actId="11"/>
      <pc:docMkLst>
        <pc:docMk/>
      </pc:docMkLst>
      <pc:sldChg chg="modSp mod">
        <pc:chgData name="Amnay Hammi" userId="82733777-c9b9-4977-9f41-3f34af92c4a0" providerId="ADAL" clId="{C60D4860-70F3-4D1E-8E15-0B03119A5328}" dt="2026-04-06T16:59:06.779" v="19" actId="20577"/>
        <pc:sldMkLst>
          <pc:docMk/>
          <pc:sldMk cId="3878376760" sldId="256"/>
        </pc:sldMkLst>
        <pc:spChg chg="mod">
          <ac:chgData name="Amnay Hammi" userId="82733777-c9b9-4977-9f41-3f34af92c4a0" providerId="ADAL" clId="{C60D4860-70F3-4D1E-8E15-0B03119A5328}" dt="2026-04-06T16:59:06.779" v="19" actId="20577"/>
          <ac:spMkLst>
            <pc:docMk/>
            <pc:sldMk cId="3878376760" sldId="256"/>
            <ac:spMk id="6" creationId="{A9EB5F9D-DD40-2184-49E1-33ED924CB683}"/>
          </ac:spMkLst>
        </pc:spChg>
      </pc:sldChg>
      <pc:sldChg chg="modSp add del mod">
        <pc:chgData name="Amnay Hammi" userId="82733777-c9b9-4977-9f41-3f34af92c4a0" providerId="ADAL" clId="{C60D4860-70F3-4D1E-8E15-0B03119A5328}" dt="2026-04-06T17:12:41.130" v="41" actId="11"/>
        <pc:sldMkLst>
          <pc:docMk/>
          <pc:sldMk cId="2588243870" sldId="341"/>
        </pc:sldMkLst>
        <pc:spChg chg="mod">
          <ac:chgData name="Amnay Hammi" userId="82733777-c9b9-4977-9f41-3f34af92c4a0" providerId="ADAL" clId="{C60D4860-70F3-4D1E-8E15-0B03119A5328}" dt="2026-04-06T17:12:41.130" v="41" actId="11"/>
          <ac:spMkLst>
            <pc:docMk/>
            <pc:sldMk cId="2588243870" sldId="341"/>
            <ac:spMk id="3" creationId="{7991CECB-2291-E92A-3242-53EF0D8B2C4D}"/>
          </ac:spMkLst>
        </pc:spChg>
      </pc:sldChg>
      <pc:sldChg chg="add del">
        <pc:chgData name="Amnay Hammi" userId="82733777-c9b9-4977-9f41-3f34af92c4a0" providerId="ADAL" clId="{C60D4860-70F3-4D1E-8E15-0B03119A5328}" dt="2026-04-06T17:11:03.921" v="26"/>
        <pc:sldMkLst>
          <pc:docMk/>
          <pc:sldMk cId="801382478" sldId="342"/>
        </pc:sldMkLst>
      </pc:sldChg>
      <pc:sldChg chg="modSp add del mod">
        <pc:chgData name="Amnay Hammi" userId="82733777-c9b9-4977-9f41-3f34af92c4a0" providerId="ADAL" clId="{C60D4860-70F3-4D1E-8E15-0B03119A5328}" dt="2026-04-06T17:13:01.816" v="42" actId="20577"/>
        <pc:sldMkLst>
          <pc:docMk/>
          <pc:sldMk cId="1200495437" sldId="343"/>
        </pc:sldMkLst>
        <pc:spChg chg="mod">
          <ac:chgData name="Amnay Hammi" userId="82733777-c9b9-4977-9f41-3f34af92c4a0" providerId="ADAL" clId="{C60D4860-70F3-4D1E-8E15-0B03119A5328}" dt="2026-04-06T17:13:01.816" v="42" actId="20577"/>
          <ac:spMkLst>
            <pc:docMk/>
            <pc:sldMk cId="1200495437" sldId="343"/>
            <ac:spMk id="3" creationId="{4DF55751-27DA-2744-EF17-72ED27DE8194}"/>
          </ac:spMkLst>
        </pc:spChg>
      </pc:sldChg>
      <pc:sldChg chg="modSp add del mod">
        <pc:chgData name="Amnay Hammi" userId="82733777-c9b9-4977-9f41-3f34af92c4a0" providerId="ADAL" clId="{C60D4860-70F3-4D1E-8E15-0B03119A5328}" dt="2026-04-06T17:11:38.616" v="34" actId="21"/>
        <pc:sldMkLst>
          <pc:docMk/>
          <pc:sldMk cId="1511063298" sldId="344"/>
        </pc:sldMkLst>
        <pc:spChg chg="mod">
          <ac:chgData name="Amnay Hammi" userId="82733777-c9b9-4977-9f41-3f34af92c4a0" providerId="ADAL" clId="{C60D4860-70F3-4D1E-8E15-0B03119A5328}" dt="2026-04-06T17:11:38.616" v="34" actId="21"/>
          <ac:spMkLst>
            <pc:docMk/>
            <pc:sldMk cId="1511063298" sldId="344"/>
            <ac:spMk id="3" creationId="{1A19BABB-E8D5-8838-B55E-78C11DA6AF8E}"/>
          </ac:spMkLst>
        </pc:spChg>
      </pc:sldChg>
      <pc:sldChg chg="modSp add mod">
        <pc:chgData name="Amnay Hammi" userId="82733777-c9b9-4977-9f41-3f34af92c4a0" providerId="ADAL" clId="{C60D4860-70F3-4D1E-8E15-0B03119A5328}" dt="2026-04-06T17:14:43.165" v="61" actId="11"/>
        <pc:sldMkLst>
          <pc:docMk/>
          <pc:sldMk cId="771984075" sldId="352"/>
        </pc:sldMkLst>
        <pc:spChg chg="mod">
          <ac:chgData name="Amnay Hammi" userId="82733777-c9b9-4977-9f41-3f34af92c4a0" providerId="ADAL" clId="{C60D4860-70F3-4D1E-8E15-0B03119A5328}" dt="2026-04-06T17:14:43.165" v="61" actId="11"/>
          <ac:spMkLst>
            <pc:docMk/>
            <pc:sldMk cId="771984075" sldId="352"/>
            <ac:spMk id="3" creationId="{BDA79449-F2DD-0FF4-C707-4E533405EFA4}"/>
          </ac:spMkLst>
        </pc:spChg>
      </pc:sldChg>
      <pc:sldChg chg="add">
        <pc:chgData name="Amnay Hammi" userId="82733777-c9b9-4977-9f41-3f34af92c4a0" providerId="ADAL" clId="{C60D4860-70F3-4D1E-8E15-0B03119A5328}" dt="2026-04-06T17:13:30.685" v="43"/>
        <pc:sldMkLst>
          <pc:docMk/>
          <pc:sldMk cId="2848003282" sldId="353"/>
        </pc:sldMkLst>
      </pc:sldChg>
      <pc:sldChg chg="add">
        <pc:chgData name="Amnay Hammi" userId="82733777-c9b9-4977-9f41-3f34af92c4a0" providerId="ADAL" clId="{C60D4860-70F3-4D1E-8E15-0B03119A5328}" dt="2026-04-06T17:13:30.685" v="43"/>
        <pc:sldMkLst>
          <pc:docMk/>
          <pc:sldMk cId="1634214013" sldId="354"/>
        </pc:sldMkLst>
      </pc:sldChg>
      <pc:sldChg chg="modSp add mod">
        <pc:chgData name="Amnay Hammi" userId="82733777-c9b9-4977-9f41-3f34af92c4a0" providerId="ADAL" clId="{C60D4860-70F3-4D1E-8E15-0B03119A5328}" dt="2026-04-06T17:14:26.956" v="60" actId="20577"/>
        <pc:sldMkLst>
          <pc:docMk/>
          <pc:sldMk cId="2909992081" sldId="355"/>
        </pc:sldMkLst>
        <pc:spChg chg="mod">
          <ac:chgData name="Amnay Hammi" userId="82733777-c9b9-4977-9f41-3f34af92c4a0" providerId="ADAL" clId="{C60D4860-70F3-4D1E-8E15-0B03119A5328}" dt="2026-04-06T17:14:26.956" v="60" actId="20577"/>
          <ac:spMkLst>
            <pc:docMk/>
            <pc:sldMk cId="2909992081" sldId="355"/>
            <ac:spMk id="3" creationId="{1689CB36-419A-9E2F-AE63-9AEC85FB02CD}"/>
          </ac:spMkLst>
        </pc:spChg>
      </pc:sldChg>
      <pc:sldChg chg="modSp add mod">
        <pc:chgData name="Amnay Hammi" userId="82733777-c9b9-4977-9f41-3f34af92c4a0" providerId="ADAL" clId="{C60D4860-70F3-4D1E-8E15-0B03119A5328}" dt="2026-04-06T17:17:07.092" v="66" actId="11"/>
        <pc:sldMkLst>
          <pc:docMk/>
          <pc:sldMk cId="529159190" sldId="357"/>
        </pc:sldMkLst>
        <pc:spChg chg="mod">
          <ac:chgData name="Amnay Hammi" userId="82733777-c9b9-4977-9f41-3f34af92c4a0" providerId="ADAL" clId="{C60D4860-70F3-4D1E-8E15-0B03119A5328}" dt="2026-04-06T17:17:07.092" v="66" actId="11"/>
          <ac:spMkLst>
            <pc:docMk/>
            <pc:sldMk cId="529159190" sldId="357"/>
            <ac:spMk id="3" creationId="{8D609B2A-6B1D-E588-F65A-206382A8147B}"/>
          </ac:spMkLst>
        </pc:spChg>
      </pc:sldChg>
      <pc:sldChg chg="add">
        <pc:chgData name="Amnay Hammi" userId="82733777-c9b9-4977-9f41-3f34af92c4a0" providerId="ADAL" clId="{C60D4860-70F3-4D1E-8E15-0B03119A5328}" dt="2026-04-06T17:15:18.458" v="62"/>
        <pc:sldMkLst>
          <pc:docMk/>
          <pc:sldMk cId="1827164291" sldId="358"/>
        </pc:sldMkLst>
      </pc:sldChg>
      <pc:sldChg chg="add">
        <pc:chgData name="Amnay Hammi" userId="82733777-c9b9-4977-9f41-3f34af92c4a0" providerId="ADAL" clId="{C60D4860-70F3-4D1E-8E15-0B03119A5328}" dt="2026-04-06T17:15:18.458" v="62"/>
        <pc:sldMkLst>
          <pc:docMk/>
          <pc:sldMk cId="2975764319" sldId="359"/>
        </pc:sldMkLst>
      </pc:sldChg>
      <pc:sldChg chg="add">
        <pc:chgData name="Amnay Hammi" userId="82733777-c9b9-4977-9f41-3f34af92c4a0" providerId="ADAL" clId="{C60D4860-70F3-4D1E-8E15-0B03119A5328}" dt="2026-04-06T17:15:18.458" v="62"/>
        <pc:sldMkLst>
          <pc:docMk/>
          <pc:sldMk cId="1608194598" sldId="360"/>
        </pc:sldMkLst>
      </pc:sldChg>
      <pc:sldChg chg="add">
        <pc:chgData name="Amnay Hammi" userId="82733777-c9b9-4977-9f41-3f34af92c4a0" providerId="ADAL" clId="{C60D4860-70F3-4D1E-8E15-0B03119A5328}" dt="2026-03-26T18:37:32.931" v="6"/>
        <pc:sldMkLst>
          <pc:docMk/>
          <pc:sldMk cId="728858625" sldId="45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765B47-018D-89E5-32A4-548B51D5B1F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1228F74-4567-7D66-9E56-19BADCD53F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AF44311-B0F7-0259-676A-DA3C5174C6C7}"/>
              </a:ext>
            </a:extLst>
          </p:cNvPr>
          <p:cNvSpPr>
            <a:spLocks noGrp="1"/>
          </p:cNvSpPr>
          <p:nvPr>
            <p:ph type="dt" sz="half" idx="10"/>
          </p:nvPr>
        </p:nvSpPr>
        <p:spPr/>
        <p:txBody>
          <a:bodyPr/>
          <a:lstStyle/>
          <a:p>
            <a:fld id="{69A43FC5-3FBD-4873-A964-47AE0C9A5B15}"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4C8BA6E6-2DC5-6316-76D1-8F73338D4D9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BFE8B65-E28A-A7CC-E5F1-D6FEB981F7C0}"/>
              </a:ext>
            </a:extLst>
          </p:cNvPr>
          <p:cNvSpPr>
            <a:spLocks noGrp="1"/>
          </p:cNvSpPr>
          <p:nvPr>
            <p:ph type="sldNum" sz="quarter" idx="12"/>
          </p:nvPr>
        </p:nvSpPr>
        <p:spPr/>
        <p:txBody>
          <a:bodyPr/>
          <a:lstStyle/>
          <a:p>
            <a:fld id="{18C1EBA6-55DE-443B-BC87-A52D7AF68586}" type="slidenum">
              <a:rPr lang="fr-FR" smtClean="0"/>
              <a:t>‹N°›</a:t>
            </a:fld>
            <a:endParaRPr lang="fr-FR"/>
          </a:p>
        </p:txBody>
      </p:sp>
    </p:spTree>
    <p:extLst>
      <p:ext uri="{BB962C8B-B14F-4D97-AF65-F5344CB8AC3E}">
        <p14:creationId xmlns:p14="http://schemas.microsoft.com/office/powerpoint/2010/main" val="2727141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BC0434-3EF3-0ABF-6CFB-A23842EE90E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59EC0D8-E4F7-FF89-F138-4DB90918350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3CFFA84-FA3B-E9DA-AFDC-730AE8C29DA6}"/>
              </a:ext>
            </a:extLst>
          </p:cNvPr>
          <p:cNvSpPr>
            <a:spLocks noGrp="1"/>
          </p:cNvSpPr>
          <p:nvPr>
            <p:ph type="dt" sz="half" idx="10"/>
          </p:nvPr>
        </p:nvSpPr>
        <p:spPr/>
        <p:txBody>
          <a:bodyPr/>
          <a:lstStyle/>
          <a:p>
            <a:fld id="{69A43FC5-3FBD-4873-A964-47AE0C9A5B15}"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29F55D10-7775-9E4D-0C1E-64109CD32E5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67398B0-2142-9052-0C54-5C33B1977A6B}"/>
              </a:ext>
            </a:extLst>
          </p:cNvPr>
          <p:cNvSpPr>
            <a:spLocks noGrp="1"/>
          </p:cNvSpPr>
          <p:nvPr>
            <p:ph type="sldNum" sz="quarter" idx="12"/>
          </p:nvPr>
        </p:nvSpPr>
        <p:spPr/>
        <p:txBody>
          <a:bodyPr/>
          <a:lstStyle/>
          <a:p>
            <a:fld id="{18C1EBA6-55DE-443B-BC87-A52D7AF68586}" type="slidenum">
              <a:rPr lang="fr-FR" smtClean="0"/>
              <a:t>‹N°›</a:t>
            </a:fld>
            <a:endParaRPr lang="fr-FR"/>
          </a:p>
        </p:txBody>
      </p:sp>
    </p:spTree>
    <p:extLst>
      <p:ext uri="{BB962C8B-B14F-4D97-AF65-F5344CB8AC3E}">
        <p14:creationId xmlns:p14="http://schemas.microsoft.com/office/powerpoint/2010/main" val="46890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3A11B1-9039-AAA7-6612-91FC409427E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496E0049-DF4E-EF47-F1E8-5522A89879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1A5405A-43A9-35DE-1093-2FF3454D8F99}"/>
              </a:ext>
            </a:extLst>
          </p:cNvPr>
          <p:cNvSpPr>
            <a:spLocks noGrp="1"/>
          </p:cNvSpPr>
          <p:nvPr>
            <p:ph type="dt" sz="half" idx="10"/>
          </p:nvPr>
        </p:nvSpPr>
        <p:spPr/>
        <p:txBody>
          <a:bodyPr/>
          <a:lstStyle/>
          <a:p>
            <a:fld id="{69A43FC5-3FBD-4873-A964-47AE0C9A5B15}"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540A775E-525C-F618-B6CD-1507EECB3CE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00635B7-366D-01B7-A798-164B618708A1}"/>
              </a:ext>
            </a:extLst>
          </p:cNvPr>
          <p:cNvSpPr>
            <a:spLocks noGrp="1"/>
          </p:cNvSpPr>
          <p:nvPr>
            <p:ph type="sldNum" sz="quarter" idx="12"/>
          </p:nvPr>
        </p:nvSpPr>
        <p:spPr/>
        <p:txBody>
          <a:bodyPr/>
          <a:lstStyle/>
          <a:p>
            <a:fld id="{18C1EBA6-55DE-443B-BC87-A52D7AF68586}" type="slidenum">
              <a:rPr lang="fr-FR" smtClean="0"/>
              <a:t>‹N°›</a:t>
            </a:fld>
            <a:endParaRPr lang="fr-FR"/>
          </a:p>
        </p:txBody>
      </p:sp>
    </p:spTree>
    <p:extLst>
      <p:ext uri="{BB962C8B-B14F-4D97-AF65-F5344CB8AC3E}">
        <p14:creationId xmlns:p14="http://schemas.microsoft.com/office/powerpoint/2010/main" val="2883630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0D6494-4688-B47A-5F44-9A099633BBF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EC337F4-23BD-AA14-E7FE-1EF0469224C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F97D68F-5894-5055-7638-8C489A43805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474BB5D-7CC3-1051-9F0B-159E9D525B17}"/>
              </a:ext>
            </a:extLst>
          </p:cNvPr>
          <p:cNvSpPr>
            <a:spLocks noGrp="1"/>
          </p:cNvSpPr>
          <p:nvPr>
            <p:ph type="dt" sz="half" idx="10"/>
          </p:nvPr>
        </p:nvSpPr>
        <p:spPr/>
        <p:txBody>
          <a:bodyPr/>
          <a:lstStyle/>
          <a:p>
            <a:fld id="{69A43FC5-3FBD-4873-A964-47AE0C9A5B15}" type="datetimeFigureOut">
              <a:rPr lang="fr-FR" smtClean="0"/>
              <a:t>06/04/2026</a:t>
            </a:fld>
            <a:endParaRPr lang="fr-FR"/>
          </a:p>
        </p:txBody>
      </p:sp>
      <p:sp>
        <p:nvSpPr>
          <p:cNvPr id="6" name="Espace réservé du pied de page 5">
            <a:extLst>
              <a:ext uri="{FF2B5EF4-FFF2-40B4-BE49-F238E27FC236}">
                <a16:creationId xmlns:a16="http://schemas.microsoft.com/office/drawing/2014/main" id="{E2F84179-187F-463A-E54B-04A543FE0F5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8FB5637-D26F-4B7A-C5A3-3555615E0944}"/>
              </a:ext>
            </a:extLst>
          </p:cNvPr>
          <p:cNvSpPr>
            <a:spLocks noGrp="1"/>
          </p:cNvSpPr>
          <p:nvPr>
            <p:ph type="sldNum" sz="quarter" idx="12"/>
          </p:nvPr>
        </p:nvSpPr>
        <p:spPr/>
        <p:txBody>
          <a:bodyPr/>
          <a:lstStyle/>
          <a:p>
            <a:fld id="{18C1EBA6-55DE-443B-BC87-A52D7AF68586}" type="slidenum">
              <a:rPr lang="fr-FR" smtClean="0"/>
              <a:t>‹N°›</a:t>
            </a:fld>
            <a:endParaRPr lang="fr-FR"/>
          </a:p>
        </p:txBody>
      </p:sp>
    </p:spTree>
    <p:extLst>
      <p:ext uri="{BB962C8B-B14F-4D97-AF65-F5344CB8AC3E}">
        <p14:creationId xmlns:p14="http://schemas.microsoft.com/office/powerpoint/2010/main" val="101988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D6B03F-3AA4-42F5-9895-27913BADD5B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8542D37-D319-A9E4-B08C-0F14157AFA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CFF8029-36AE-4F5B-89A5-269B981BD75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06DD3C8-773B-2E97-41AB-313A7EA765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24540E0-E0DC-BA11-0C05-1DE9DE22C29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C34C432-FBB3-D761-920A-34A4A67440CE}"/>
              </a:ext>
            </a:extLst>
          </p:cNvPr>
          <p:cNvSpPr>
            <a:spLocks noGrp="1"/>
          </p:cNvSpPr>
          <p:nvPr>
            <p:ph type="dt" sz="half" idx="10"/>
          </p:nvPr>
        </p:nvSpPr>
        <p:spPr/>
        <p:txBody>
          <a:bodyPr/>
          <a:lstStyle/>
          <a:p>
            <a:fld id="{69A43FC5-3FBD-4873-A964-47AE0C9A5B15}" type="datetimeFigureOut">
              <a:rPr lang="fr-FR" smtClean="0"/>
              <a:t>06/04/2026</a:t>
            </a:fld>
            <a:endParaRPr lang="fr-FR"/>
          </a:p>
        </p:txBody>
      </p:sp>
      <p:sp>
        <p:nvSpPr>
          <p:cNvPr id="8" name="Espace réservé du pied de page 7">
            <a:extLst>
              <a:ext uri="{FF2B5EF4-FFF2-40B4-BE49-F238E27FC236}">
                <a16:creationId xmlns:a16="http://schemas.microsoft.com/office/drawing/2014/main" id="{66BE65E8-D14E-FFD3-A16F-AF94B05511F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10C4D798-65EF-021B-0DDF-58FAEF73E7CE}"/>
              </a:ext>
            </a:extLst>
          </p:cNvPr>
          <p:cNvSpPr>
            <a:spLocks noGrp="1"/>
          </p:cNvSpPr>
          <p:nvPr>
            <p:ph type="sldNum" sz="quarter" idx="12"/>
          </p:nvPr>
        </p:nvSpPr>
        <p:spPr/>
        <p:txBody>
          <a:bodyPr/>
          <a:lstStyle/>
          <a:p>
            <a:fld id="{18C1EBA6-55DE-443B-BC87-A52D7AF68586}" type="slidenum">
              <a:rPr lang="fr-FR" smtClean="0"/>
              <a:t>‹N°›</a:t>
            </a:fld>
            <a:endParaRPr lang="fr-FR"/>
          </a:p>
        </p:txBody>
      </p:sp>
    </p:spTree>
    <p:extLst>
      <p:ext uri="{BB962C8B-B14F-4D97-AF65-F5344CB8AC3E}">
        <p14:creationId xmlns:p14="http://schemas.microsoft.com/office/powerpoint/2010/main" val="906534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8570CF-FA9B-6169-7778-15C14000DF17}"/>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991C714-7AA4-A170-5427-AE611B6A1A5C}"/>
              </a:ext>
            </a:extLst>
          </p:cNvPr>
          <p:cNvSpPr>
            <a:spLocks noGrp="1"/>
          </p:cNvSpPr>
          <p:nvPr>
            <p:ph type="dt" sz="half" idx="10"/>
          </p:nvPr>
        </p:nvSpPr>
        <p:spPr/>
        <p:txBody>
          <a:bodyPr/>
          <a:lstStyle/>
          <a:p>
            <a:fld id="{69A43FC5-3FBD-4873-A964-47AE0C9A5B15}" type="datetimeFigureOut">
              <a:rPr lang="fr-FR" smtClean="0"/>
              <a:t>06/04/2026</a:t>
            </a:fld>
            <a:endParaRPr lang="fr-FR"/>
          </a:p>
        </p:txBody>
      </p:sp>
      <p:sp>
        <p:nvSpPr>
          <p:cNvPr id="4" name="Espace réservé du pied de page 3">
            <a:extLst>
              <a:ext uri="{FF2B5EF4-FFF2-40B4-BE49-F238E27FC236}">
                <a16:creationId xmlns:a16="http://schemas.microsoft.com/office/drawing/2014/main" id="{818ACB1B-92D1-F58D-D7F2-E689BB6A238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35098E0-7267-A441-10F6-E779ADAAE38E}"/>
              </a:ext>
            </a:extLst>
          </p:cNvPr>
          <p:cNvSpPr>
            <a:spLocks noGrp="1"/>
          </p:cNvSpPr>
          <p:nvPr>
            <p:ph type="sldNum" sz="quarter" idx="12"/>
          </p:nvPr>
        </p:nvSpPr>
        <p:spPr/>
        <p:txBody>
          <a:bodyPr/>
          <a:lstStyle/>
          <a:p>
            <a:fld id="{18C1EBA6-55DE-443B-BC87-A52D7AF68586}" type="slidenum">
              <a:rPr lang="fr-FR" smtClean="0"/>
              <a:t>‹N°›</a:t>
            </a:fld>
            <a:endParaRPr lang="fr-FR"/>
          </a:p>
        </p:txBody>
      </p:sp>
    </p:spTree>
    <p:extLst>
      <p:ext uri="{BB962C8B-B14F-4D97-AF65-F5344CB8AC3E}">
        <p14:creationId xmlns:p14="http://schemas.microsoft.com/office/powerpoint/2010/main" val="1261698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79A8067-EA29-4665-EE2B-E21DA98EC418}"/>
              </a:ext>
            </a:extLst>
          </p:cNvPr>
          <p:cNvSpPr>
            <a:spLocks noGrp="1"/>
          </p:cNvSpPr>
          <p:nvPr>
            <p:ph type="dt" sz="half" idx="10"/>
          </p:nvPr>
        </p:nvSpPr>
        <p:spPr/>
        <p:txBody>
          <a:bodyPr/>
          <a:lstStyle/>
          <a:p>
            <a:fld id="{69A43FC5-3FBD-4873-A964-47AE0C9A5B15}" type="datetimeFigureOut">
              <a:rPr lang="fr-FR" smtClean="0"/>
              <a:t>06/04/2026</a:t>
            </a:fld>
            <a:endParaRPr lang="fr-FR"/>
          </a:p>
        </p:txBody>
      </p:sp>
      <p:sp>
        <p:nvSpPr>
          <p:cNvPr id="3" name="Espace réservé du pied de page 2">
            <a:extLst>
              <a:ext uri="{FF2B5EF4-FFF2-40B4-BE49-F238E27FC236}">
                <a16:creationId xmlns:a16="http://schemas.microsoft.com/office/drawing/2014/main" id="{53806756-E934-984E-A9F9-895677E255B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2414696C-20FB-BE7A-D48B-7B5FE38B0000}"/>
              </a:ext>
            </a:extLst>
          </p:cNvPr>
          <p:cNvSpPr>
            <a:spLocks noGrp="1"/>
          </p:cNvSpPr>
          <p:nvPr>
            <p:ph type="sldNum" sz="quarter" idx="12"/>
          </p:nvPr>
        </p:nvSpPr>
        <p:spPr/>
        <p:txBody>
          <a:bodyPr/>
          <a:lstStyle/>
          <a:p>
            <a:fld id="{18C1EBA6-55DE-443B-BC87-A52D7AF68586}" type="slidenum">
              <a:rPr lang="fr-FR" smtClean="0"/>
              <a:t>‹N°›</a:t>
            </a:fld>
            <a:endParaRPr lang="fr-FR"/>
          </a:p>
        </p:txBody>
      </p:sp>
    </p:spTree>
    <p:extLst>
      <p:ext uri="{BB962C8B-B14F-4D97-AF65-F5344CB8AC3E}">
        <p14:creationId xmlns:p14="http://schemas.microsoft.com/office/powerpoint/2010/main" val="2663216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C297F0-587A-FD14-9DFF-B5FB3819F1F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D8F8F95-05C4-6F9A-2AF1-0BC758090C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6BE4F00-410D-0804-AF7C-73DA0096CB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3B08CDA-4022-4CA3-6414-1AE7B1BB4FA4}"/>
              </a:ext>
            </a:extLst>
          </p:cNvPr>
          <p:cNvSpPr>
            <a:spLocks noGrp="1"/>
          </p:cNvSpPr>
          <p:nvPr>
            <p:ph type="dt" sz="half" idx="10"/>
          </p:nvPr>
        </p:nvSpPr>
        <p:spPr/>
        <p:txBody>
          <a:bodyPr/>
          <a:lstStyle/>
          <a:p>
            <a:fld id="{69A43FC5-3FBD-4873-A964-47AE0C9A5B15}" type="datetimeFigureOut">
              <a:rPr lang="fr-FR" smtClean="0"/>
              <a:t>06/04/2026</a:t>
            </a:fld>
            <a:endParaRPr lang="fr-FR"/>
          </a:p>
        </p:txBody>
      </p:sp>
      <p:sp>
        <p:nvSpPr>
          <p:cNvPr id="6" name="Espace réservé du pied de page 5">
            <a:extLst>
              <a:ext uri="{FF2B5EF4-FFF2-40B4-BE49-F238E27FC236}">
                <a16:creationId xmlns:a16="http://schemas.microsoft.com/office/drawing/2014/main" id="{9FA28D8A-EA40-F42E-3CE7-3EBC55263DA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C65629C-C2D9-7455-DA74-5E7BD7C64981}"/>
              </a:ext>
            </a:extLst>
          </p:cNvPr>
          <p:cNvSpPr>
            <a:spLocks noGrp="1"/>
          </p:cNvSpPr>
          <p:nvPr>
            <p:ph type="sldNum" sz="quarter" idx="12"/>
          </p:nvPr>
        </p:nvSpPr>
        <p:spPr/>
        <p:txBody>
          <a:bodyPr/>
          <a:lstStyle/>
          <a:p>
            <a:fld id="{18C1EBA6-55DE-443B-BC87-A52D7AF68586}" type="slidenum">
              <a:rPr lang="fr-FR" smtClean="0"/>
              <a:t>‹N°›</a:t>
            </a:fld>
            <a:endParaRPr lang="fr-FR"/>
          </a:p>
        </p:txBody>
      </p:sp>
    </p:spTree>
    <p:extLst>
      <p:ext uri="{BB962C8B-B14F-4D97-AF65-F5344CB8AC3E}">
        <p14:creationId xmlns:p14="http://schemas.microsoft.com/office/powerpoint/2010/main" val="4193497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CEF3B0-B306-FE9D-D2D2-6F31FDFF632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8CC3A1E-92C4-1D9A-17A9-71D6DE86F4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63384EC-1E42-081B-F2D9-B676385F18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F285FA7-40DF-7716-DBF2-53001A63C71B}"/>
              </a:ext>
            </a:extLst>
          </p:cNvPr>
          <p:cNvSpPr>
            <a:spLocks noGrp="1"/>
          </p:cNvSpPr>
          <p:nvPr>
            <p:ph type="dt" sz="half" idx="10"/>
          </p:nvPr>
        </p:nvSpPr>
        <p:spPr/>
        <p:txBody>
          <a:bodyPr/>
          <a:lstStyle/>
          <a:p>
            <a:fld id="{69A43FC5-3FBD-4873-A964-47AE0C9A5B15}" type="datetimeFigureOut">
              <a:rPr lang="fr-FR" smtClean="0"/>
              <a:t>06/04/2026</a:t>
            </a:fld>
            <a:endParaRPr lang="fr-FR"/>
          </a:p>
        </p:txBody>
      </p:sp>
      <p:sp>
        <p:nvSpPr>
          <p:cNvPr id="6" name="Espace réservé du pied de page 5">
            <a:extLst>
              <a:ext uri="{FF2B5EF4-FFF2-40B4-BE49-F238E27FC236}">
                <a16:creationId xmlns:a16="http://schemas.microsoft.com/office/drawing/2014/main" id="{3284FEDB-69A0-2582-A51B-A12BB426CDB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EF7ADE1-7293-90E7-FD31-6ABE79A2445D}"/>
              </a:ext>
            </a:extLst>
          </p:cNvPr>
          <p:cNvSpPr>
            <a:spLocks noGrp="1"/>
          </p:cNvSpPr>
          <p:nvPr>
            <p:ph type="sldNum" sz="quarter" idx="12"/>
          </p:nvPr>
        </p:nvSpPr>
        <p:spPr/>
        <p:txBody>
          <a:bodyPr/>
          <a:lstStyle/>
          <a:p>
            <a:fld id="{18C1EBA6-55DE-443B-BC87-A52D7AF68586}" type="slidenum">
              <a:rPr lang="fr-FR" smtClean="0"/>
              <a:t>‹N°›</a:t>
            </a:fld>
            <a:endParaRPr lang="fr-FR"/>
          </a:p>
        </p:txBody>
      </p:sp>
    </p:spTree>
    <p:extLst>
      <p:ext uri="{BB962C8B-B14F-4D97-AF65-F5344CB8AC3E}">
        <p14:creationId xmlns:p14="http://schemas.microsoft.com/office/powerpoint/2010/main" val="1890050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E89A4A-2828-E61F-67A9-BFC5C836818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5AF5F0-75E3-45A9-2E55-62359F64B6C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762BD85-8A4C-93A1-15E0-0ED452BF5959}"/>
              </a:ext>
            </a:extLst>
          </p:cNvPr>
          <p:cNvSpPr>
            <a:spLocks noGrp="1"/>
          </p:cNvSpPr>
          <p:nvPr>
            <p:ph type="dt" sz="half" idx="10"/>
          </p:nvPr>
        </p:nvSpPr>
        <p:spPr/>
        <p:txBody>
          <a:bodyPr/>
          <a:lstStyle/>
          <a:p>
            <a:fld id="{69A43FC5-3FBD-4873-A964-47AE0C9A5B15}"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B55EC1FC-AFDF-40AF-8C61-C10C53C6FE6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6F1D426-1F1B-0FFD-ADAD-696AEBA96907}"/>
              </a:ext>
            </a:extLst>
          </p:cNvPr>
          <p:cNvSpPr>
            <a:spLocks noGrp="1"/>
          </p:cNvSpPr>
          <p:nvPr>
            <p:ph type="sldNum" sz="quarter" idx="12"/>
          </p:nvPr>
        </p:nvSpPr>
        <p:spPr/>
        <p:txBody>
          <a:bodyPr/>
          <a:lstStyle/>
          <a:p>
            <a:fld id="{18C1EBA6-55DE-443B-BC87-A52D7AF68586}" type="slidenum">
              <a:rPr lang="fr-FR" smtClean="0"/>
              <a:t>‹N°›</a:t>
            </a:fld>
            <a:endParaRPr lang="fr-FR"/>
          </a:p>
        </p:txBody>
      </p:sp>
    </p:spTree>
    <p:extLst>
      <p:ext uri="{BB962C8B-B14F-4D97-AF65-F5344CB8AC3E}">
        <p14:creationId xmlns:p14="http://schemas.microsoft.com/office/powerpoint/2010/main" val="1724061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61222BE-AC52-EA36-F17E-83253DDC663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A8AD99B-37A9-1D64-DF06-8C4828472E6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CE52762-354A-377E-C76F-281EB715BAC0}"/>
              </a:ext>
            </a:extLst>
          </p:cNvPr>
          <p:cNvSpPr>
            <a:spLocks noGrp="1"/>
          </p:cNvSpPr>
          <p:nvPr>
            <p:ph type="dt" sz="half" idx="10"/>
          </p:nvPr>
        </p:nvSpPr>
        <p:spPr/>
        <p:txBody>
          <a:bodyPr/>
          <a:lstStyle/>
          <a:p>
            <a:fld id="{69A43FC5-3FBD-4873-A964-47AE0C9A5B15}"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01B4B842-42DA-C02D-0A3B-AE39586DADB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495D282-C339-6EBA-17B0-5FEDA0F9286F}"/>
              </a:ext>
            </a:extLst>
          </p:cNvPr>
          <p:cNvSpPr>
            <a:spLocks noGrp="1"/>
          </p:cNvSpPr>
          <p:nvPr>
            <p:ph type="sldNum" sz="quarter" idx="12"/>
          </p:nvPr>
        </p:nvSpPr>
        <p:spPr/>
        <p:txBody>
          <a:bodyPr/>
          <a:lstStyle/>
          <a:p>
            <a:fld id="{18C1EBA6-55DE-443B-BC87-A52D7AF68586}" type="slidenum">
              <a:rPr lang="fr-FR" smtClean="0"/>
              <a:t>‹N°›</a:t>
            </a:fld>
            <a:endParaRPr lang="fr-FR"/>
          </a:p>
        </p:txBody>
      </p:sp>
    </p:spTree>
    <p:extLst>
      <p:ext uri="{BB962C8B-B14F-4D97-AF65-F5344CB8AC3E}">
        <p14:creationId xmlns:p14="http://schemas.microsoft.com/office/powerpoint/2010/main" val="3356973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08D3BBF-FD5F-FF6A-BE11-BA990CCFEC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693B479-4E93-5A15-CE26-76DD39DE75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5DD4235-1298-32A3-165D-D39A8FB127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A43FC5-3FBD-4873-A964-47AE0C9A5B15}"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FC19D610-32C7-5C5E-DC9B-AEF0075396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EC711BD8-37CC-BA58-8FF7-4C3043BAB0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C1EBA6-55DE-443B-BC87-A52D7AF68586}" type="slidenum">
              <a:rPr lang="fr-FR" smtClean="0"/>
              <a:t>‹N°›</a:t>
            </a:fld>
            <a:endParaRPr lang="fr-FR"/>
          </a:p>
        </p:txBody>
      </p:sp>
    </p:spTree>
    <p:extLst>
      <p:ext uri="{BB962C8B-B14F-4D97-AF65-F5344CB8AC3E}">
        <p14:creationId xmlns:p14="http://schemas.microsoft.com/office/powerpoint/2010/main" val="23403674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3F13CC41-0CFF-D26D-7C04-212CF87B0766}"/>
              </a:ext>
            </a:extLst>
          </p:cNvPr>
          <p:cNvSpPr txBox="1">
            <a:spLocks/>
          </p:cNvSpPr>
          <p:nvPr/>
        </p:nvSpPr>
        <p:spPr>
          <a:xfrm>
            <a:off x="1524000" y="1122363"/>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a:t>Français avancé 2</a:t>
            </a:r>
            <a:endParaRPr lang="fr-FR" dirty="0"/>
          </a:p>
        </p:txBody>
      </p:sp>
      <p:pic>
        <p:nvPicPr>
          <p:cNvPr id="5" name="Image 4">
            <a:extLst>
              <a:ext uri="{FF2B5EF4-FFF2-40B4-BE49-F238E27FC236}">
                <a16:creationId xmlns:a16="http://schemas.microsoft.com/office/drawing/2014/main" id="{66ADE594-5E06-7062-CFBE-45304407A9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8500" y="350838"/>
            <a:ext cx="5715000" cy="1543050"/>
          </a:xfrm>
          <a:prstGeom prst="rect">
            <a:avLst/>
          </a:prstGeom>
        </p:spPr>
      </p:pic>
      <p:sp>
        <p:nvSpPr>
          <p:cNvPr id="6" name="ZoneTexte 5">
            <a:extLst>
              <a:ext uri="{FF2B5EF4-FFF2-40B4-BE49-F238E27FC236}">
                <a16:creationId xmlns:a16="http://schemas.microsoft.com/office/drawing/2014/main" id="{A9EB5F9D-DD40-2184-49E1-33ED924CB683}"/>
              </a:ext>
            </a:extLst>
          </p:cNvPr>
          <p:cNvSpPr txBox="1"/>
          <p:nvPr/>
        </p:nvSpPr>
        <p:spPr>
          <a:xfrm>
            <a:off x="1709811" y="4553503"/>
            <a:ext cx="1528689" cy="1015663"/>
          </a:xfrm>
          <a:prstGeom prst="rect">
            <a:avLst/>
          </a:prstGeom>
          <a:noFill/>
        </p:spPr>
        <p:txBody>
          <a:bodyPr wrap="square" rtlCol="0">
            <a:spAutoFit/>
          </a:bodyPr>
          <a:lstStyle/>
          <a:p>
            <a:r>
              <a:rPr lang="fr-FR" sz="2000" b="1" dirty="0"/>
              <a:t>Semestre 2</a:t>
            </a:r>
          </a:p>
          <a:p>
            <a:r>
              <a:rPr lang="fr-FR" sz="2000" b="1" dirty="0"/>
              <a:t>2</a:t>
            </a:r>
            <a:r>
              <a:rPr lang="fr-FR" sz="2000" b="1" baseline="30000" dirty="0"/>
              <a:t>ème</a:t>
            </a:r>
            <a:r>
              <a:rPr lang="fr-FR" sz="2000" b="1" dirty="0"/>
              <a:t> AP </a:t>
            </a:r>
          </a:p>
          <a:p>
            <a:r>
              <a:rPr lang="fr-FR" sz="2000" b="1" dirty="0"/>
              <a:t>Groupe 5</a:t>
            </a:r>
          </a:p>
        </p:txBody>
      </p:sp>
      <p:sp>
        <p:nvSpPr>
          <p:cNvPr id="7" name="ZoneTexte 6">
            <a:extLst>
              <a:ext uri="{FF2B5EF4-FFF2-40B4-BE49-F238E27FC236}">
                <a16:creationId xmlns:a16="http://schemas.microsoft.com/office/drawing/2014/main" id="{49620E04-0259-6D26-22CA-B4A9AB65864A}"/>
              </a:ext>
            </a:extLst>
          </p:cNvPr>
          <p:cNvSpPr txBox="1"/>
          <p:nvPr/>
        </p:nvSpPr>
        <p:spPr>
          <a:xfrm>
            <a:off x="7066671" y="4553503"/>
            <a:ext cx="3601329" cy="400110"/>
          </a:xfrm>
          <a:prstGeom prst="rect">
            <a:avLst/>
          </a:prstGeom>
          <a:noFill/>
        </p:spPr>
        <p:txBody>
          <a:bodyPr wrap="square" rtlCol="0">
            <a:spAutoFit/>
          </a:bodyPr>
          <a:lstStyle/>
          <a:p>
            <a:r>
              <a:rPr lang="fr-FR" sz="2000" b="1" dirty="0"/>
              <a:t>Année universitaire : 2025-2026</a:t>
            </a:r>
          </a:p>
        </p:txBody>
      </p:sp>
    </p:spTree>
    <p:extLst>
      <p:ext uri="{BB962C8B-B14F-4D97-AF65-F5344CB8AC3E}">
        <p14:creationId xmlns:p14="http://schemas.microsoft.com/office/powerpoint/2010/main" val="3878376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9FEA625-2997-10CF-0790-FD6371A2EC32}"/>
              </a:ext>
            </a:extLst>
          </p:cNvPr>
          <p:cNvSpPr>
            <a:spLocks noGrp="1"/>
          </p:cNvSpPr>
          <p:nvPr>
            <p:ph idx="1"/>
          </p:nvPr>
        </p:nvSpPr>
        <p:spPr>
          <a:xfrm>
            <a:off x="838200" y="647114"/>
            <a:ext cx="10515600" cy="5529849"/>
          </a:xfrm>
        </p:spPr>
        <p:txBody>
          <a:bodyPr/>
          <a:lstStyle/>
          <a:p>
            <a:pPr marL="1028700" lvl="1" indent="-571500">
              <a:buFont typeface="+mj-lt"/>
              <a:buAutoNum type="romanLcPeriod"/>
            </a:pPr>
            <a:r>
              <a:rPr lang="fr-FR" sz="3000" dirty="0"/>
              <a:t>Exprimer un intérêt</a:t>
            </a:r>
          </a:p>
          <a:p>
            <a:pPr marL="0" indent="0">
              <a:buNone/>
            </a:pPr>
            <a:r>
              <a:rPr lang="fr-FR" dirty="0"/>
              <a:t>Au niveau avancé, l'expression de l'intérêt ne se limite plus aux simples tournures « J'aime » ou « Je suis intéressé ». Il s'agit de mobiliser un lexique riche, précis et formel, adapté au contexte académique ou professionnel. Les expressions varient selon que l'on exprime une </a:t>
            </a:r>
            <a:r>
              <a:rPr lang="fr-FR" b="1" dirty="0"/>
              <a:t>inclination personnelle</a:t>
            </a:r>
            <a:r>
              <a:rPr lang="fr-FR" dirty="0"/>
              <a:t> profonde, une </a:t>
            </a:r>
            <a:r>
              <a:rPr lang="fr-FR" b="1" dirty="0"/>
              <a:t>curiosité intellectuelle</a:t>
            </a:r>
            <a:r>
              <a:rPr lang="fr-FR" dirty="0"/>
              <a:t> ou un </a:t>
            </a:r>
            <a:r>
              <a:rPr lang="fr-FR" b="1" dirty="0"/>
              <a:t>intérêt stratégique/utilitaire</a:t>
            </a:r>
            <a:r>
              <a:rPr lang="fr-FR" dirty="0"/>
              <a:t>. La maîtrise de ces nuances démontre une réelle aisance linguistique.</a:t>
            </a:r>
          </a:p>
          <a:p>
            <a:pPr marL="0" indent="0">
              <a:buNone/>
            </a:pPr>
            <a:r>
              <a:rPr lang="fr-FR" u="sng" dirty="0"/>
              <a:t>Exprimer une inclination ou une passion profonde</a:t>
            </a:r>
          </a:p>
          <a:p>
            <a:pPr marL="0" indent="0">
              <a:buNone/>
            </a:pPr>
            <a:r>
              <a:rPr lang="fr-FR" dirty="0"/>
              <a:t>Ces termes marquent un engagement personnel fort et une réelle affinité avec un sujet ou un domaine d'étude.</a:t>
            </a:r>
          </a:p>
        </p:txBody>
      </p:sp>
      <p:sp>
        <p:nvSpPr>
          <p:cNvPr id="2" name="Espace réservé du numéro de diapositive 1">
            <a:extLst>
              <a:ext uri="{FF2B5EF4-FFF2-40B4-BE49-F238E27FC236}">
                <a16:creationId xmlns:a16="http://schemas.microsoft.com/office/drawing/2014/main" id="{48054DF1-C2D1-DB3A-165A-947FFBAA4683}"/>
              </a:ext>
            </a:extLst>
          </p:cNvPr>
          <p:cNvSpPr>
            <a:spLocks noGrp="1"/>
          </p:cNvSpPr>
          <p:nvPr>
            <p:ph type="sldNum" sz="quarter" idx="12"/>
          </p:nvPr>
        </p:nvSpPr>
        <p:spPr/>
        <p:txBody>
          <a:bodyPr/>
          <a:lstStyle/>
          <a:p>
            <a:fld id="{49DB4E91-02F2-4120-BFDC-D5317FE06960}" type="slidenum">
              <a:rPr lang="fr-FR" smtClean="0"/>
              <a:t>2</a:t>
            </a:fld>
            <a:endParaRPr lang="fr-FR"/>
          </a:p>
        </p:txBody>
      </p:sp>
    </p:spTree>
    <p:extLst>
      <p:ext uri="{BB962C8B-B14F-4D97-AF65-F5344CB8AC3E}">
        <p14:creationId xmlns:p14="http://schemas.microsoft.com/office/powerpoint/2010/main" val="3184859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2A6898F-81F7-DE36-40B3-F268076CF7F4}"/>
              </a:ext>
            </a:extLst>
          </p:cNvPr>
          <p:cNvSpPr>
            <a:spLocks noGrp="1"/>
          </p:cNvSpPr>
          <p:nvPr>
            <p:ph idx="1"/>
          </p:nvPr>
        </p:nvSpPr>
        <p:spPr>
          <a:xfrm>
            <a:off x="838200" y="604911"/>
            <a:ext cx="10515600" cy="5572052"/>
          </a:xfrm>
        </p:spPr>
        <p:txBody>
          <a:bodyPr/>
          <a:lstStyle/>
          <a:p>
            <a:pPr marL="0" indent="0">
              <a:buNone/>
            </a:pPr>
            <a:r>
              <a:rPr lang="fr-FR" dirty="0">
                <a:effectLst>
                  <a:outerShdw blurRad="38100" dist="38100" dir="2700000" algn="tl">
                    <a:srgbClr val="000000">
                      <a:alpha val="43137"/>
                    </a:srgbClr>
                  </a:outerShdw>
                </a:effectLst>
              </a:rPr>
              <a:t>Être passionné(e) par / Avoir une passion pour : </a:t>
            </a:r>
            <a:r>
              <a:rPr lang="fr-FR" dirty="0"/>
              <a:t>L'expression la plus directe.</a:t>
            </a:r>
          </a:p>
          <a:p>
            <a:pPr marL="457200" lvl="1" indent="0">
              <a:buNone/>
            </a:pPr>
            <a:r>
              <a:rPr lang="fr-FR" i="1" dirty="0"/>
              <a:t>Exemple : </a:t>
            </a:r>
            <a:r>
              <a:rPr lang="fr-FR" dirty="0"/>
              <a:t>«</a:t>
            </a:r>
            <a:r>
              <a:rPr lang="fr-FR" i="1" dirty="0"/>
              <a:t> </a:t>
            </a:r>
            <a:r>
              <a:rPr lang="fr-FR" dirty="0"/>
              <a:t>Je suis </a:t>
            </a:r>
            <a:r>
              <a:rPr lang="fr-FR" b="1" dirty="0"/>
              <a:t>passionné par</a:t>
            </a:r>
            <a:r>
              <a:rPr lang="fr-FR" dirty="0"/>
              <a:t> l'intelligence artificielle et ses applications éthiques. »</a:t>
            </a:r>
          </a:p>
          <a:p>
            <a:pPr marL="0" indent="0">
              <a:buNone/>
            </a:pPr>
            <a:r>
              <a:rPr lang="fr-FR" dirty="0">
                <a:effectLst>
                  <a:outerShdw blurRad="38100" dist="38100" dir="2700000" algn="tl">
                    <a:srgbClr val="000000">
                      <a:alpha val="43137"/>
                    </a:srgbClr>
                  </a:outerShdw>
                </a:effectLst>
              </a:rPr>
              <a:t>Se passionner pour : </a:t>
            </a:r>
            <a:r>
              <a:rPr lang="fr-FR" dirty="0"/>
              <a:t>Verbe pronominal pour marquer l'action de développer cet intérêt.</a:t>
            </a:r>
          </a:p>
          <a:p>
            <a:pPr marL="457200" lvl="1" indent="0">
              <a:buNone/>
            </a:pPr>
            <a:r>
              <a:rPr lang="fr-FR" i="1" dirty="0"/>
              <a:t>Exemple : </a:t>
            </a:r>
            <a:r>
              <a:rPr lang="fr-FR" dirty="0"/>
              <a:t>«</a:t>
            </a:r>
            <a:r>
              <a:rPr lang="fr-FR" i="1" dirty="0"/>
              <a:t> </a:t>
            </a:r>
            <a:r>
              <a:rPr lang="fr-FR" dirty="0"/>
              <a:t>Je me </a:t>
            </a:r>
            <a:r>
              <a:rPr lang="fr-FR" b="1" dirty="0"/>
              <a:t>suis passionné pour</a:t>
            </a:r>
            <a:r>
              <a:rPr lang="fr-FR" dirty="0"/>
              <a:t> le management de projet durant mon stage. »</a:t>
            </a:r>
          </a:p>
          <a:p>
            <a:pPr marL="0" indent="0">
              <a:buNone/>
            </a:pPr>
            <a:r>
              <a:rPr lang="fr-FR" dirty="0">
                <a:effectLst>
                  <a:outerShdw blurRad="38100" dist="38100" dir="2700000" algn="tl">
                    <a:srgbClr val="000000">
                      <a:alpha val="43137"/>
                    </a:srgbClr>
                  </a:outerShdw>
                </a:effectLst>
              </a:rPr>
              <a:t>Avoir une appétence pour : </a:t>
            </a:r>
            <a:r>
              <a:rPr lang="fr-FR" dirty="0"/>
              <a:t>Terme plus formel, souvent utilisé dans le milieu professionnel.</a:t>
            </a:r>
          </a:p>
          <a:p>
            <a:pPr marL="457200" lvl="1" indent="0">
              <a:buNone/>
            </a:pPr>
            <a:r>
              <a:rPr lang="fr-FR" i="1" dirty="0"/>
              <a:t>Exemple : </a:t>
            </a:r>
            <a:r>
              <a:rPr lang="fr-FR" dirty="0"/>
              <a:t>«</a:t>
            </a:r>
            <a:r>
              <a:rPr lang="fr-FR" i="1" dirty="0"/>
              <a:t> </a:t>
            </a:r>
            <a:r>
              <a:rPr lang="fr-FR" dirty="0"/>
              <a:t>J'ai une forte </a:t>
            </a:r>
            <a:r>
              <a:rPr lang="fr-FR" b="1" dirty="0"/>
              <a:t>appétence pour</a:t>
            </a:r>
            <a:r>
              <a:rPr lang="fr-FR" dirty="0"/>
              <a:t> les défis logistiques. »</a:t>
            </a:r>
          </a:p>
          <a:p>
            <a:pPr marL="0" indent="0">
              <a:buNone/>
            </a:pPr>
            <a:r>
              <a:rPr lang="fr-FR" dirty="0">
                <a:effectLst>
                  <a:outerShdw blurRad="38100" dist="38100" dir="2700000" algn="tl">
                    <a:srgbClr val="000000">
                      <a:alpha val="43137"/>
                    </a:srgbClr>
                  </a:outerShdw>
                </a:effectLst>
              </a:rPr>
              <a:t>Être féru(e) de : </a:t>
            </a:r>
            <a:r>
              <a:rPr lang="fr-FR" dirty="0"/>
              <a:t>Un niveau de connaissance élevé et un grand intérêt.</a:t>
            </a:r>
          </a:p>
          <a:p>
            <a:pPr marL="457200" lvl="1" indent="0">
              <a:buNone/>
            </a:pPr>
            <a:r>
              <a:rPr lang="fr-FR" i="1" dirty="0"/>
              <a:t>Exemple : </a:t>
            </a:r>
            <a:r>
              <a:rPr lang="fr-FR" dirty="0"/>
              <a:t>«</a:t>
            </a:r>
            <a:r>
              <a:rPr lang="fr-FR" i="1" dirty="0"/>
              <a:t> </a:t>
            </a:r>
            <a:r>
              <a:rPr lang="fr-FR" dirty="0"/>
              <a:t>Mon professeur est </a:t>
            </a:r>
            <a:r>
              <a:rPr lang="fr-FR" b="1" dirty="0"/>
              <a:t>féru d'</a:t>
            </a:r>
            <a:r>
              <a:rPr lang="fr-FR" dirty="0"/>
              <a:t>histoire économique. »</a:t>
            </a:r>
          </a:p>
          <a:p>
            <a:pPr marL="0" indent="0">
              <a:buNone/>
            </a:pPr>
            <a:endParaRPr lang="fr-FR" dirty="0"/>
          </a:p>
        </p:txBody>
      </p:sp>
      <p:sp>
        <p:nvSpPr>
          <p:cNvPr id="2" name="Espace réservé du numéro de diapositive 1">
            <a:extLst>
              <a:ext uri="{FF2B5EF4-FFF2-40B4-BE49-F238E27FC236}">
                <a16:creationId xmlns:a16="http://schemas.microsoft.com/office/drawing/2014/main" id="{EBBC2662-5E4A-4CD6-0E39-106608D9A12D}"/>
              </a:ext>
            </a:extLst>
          </p:cNvPr>
          <p:cNvSpPr>
            <a:spLocks noGrp="1"/>
          </p:cNvSpPr>
          <p:nvPr>
            <p:ph type="sldNum" sz="quarter" idx="12"/>
          </p:nvPr>
        </p:nvSpPr>
        <p:spPr/>
        <p:txBody>
          <a:bodyPr/>
          <a:lstStyle/>
          <a:p>
            <a:fld id="{49DB4E91-02F2-4120-BFDC-D5317FE06960}" type="slidenum">
              <a:rPr lang="fr-FR" smtClean="0"/>
              <a:t>3</a:t>
            </a:fld>
            <a:endParaRPr lang="fr-FR"/>
          </a:p>
        </p:txBody>
      </p:sp>
    </p:spTree>
    <p:extLst>
      <p:ext uri="{BB962C8B-B14F-4D97-AF65-F5344CB8AC3E}">
        <p14:creationId xmlns:p14="http://schemas.microsoft.com/office/powerpoint/2010/main" val="1158644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DD64714-F15B-AB42-BF74-826B7B27AC09}"/>
              </a:ext>
            </a:extLst>
          </p:cNvPr>
          <p:cNvSpPr>
            <a:spLocks noGrp="1"/>
          </p:cNvSpPr>
          <p:nvPr>
            <p:ph idx="1"/>
          </p:nvPr>
        </p:nvSpPr>
        <p:spPr>
          <a:xfrm>
            <a:off x="838200" y="703385"/>
            <a:ext cx="10515600" cy="5473578"/>
          </a:xfrm>
        </p:spPr>
        <p:txBody>
          <a:bodyPr>
            <a:normAutofit fontScale="92500" lnSpcReduction="10000"/>
          </a:bodyPr>
          <a:lstStyle/>
          <a:p>
            <a:pPr marL="0" indent="0">
              <a:buNone/>
            </a:pPr>
            <a:r>
              <a:rPr lang="fr-FR" u="sng" dirty="0"/>
              <a:t>Exprimer une curiosité intellectuelle ou académique</a:t>
            </a:r>
          </a:p>
          <a:p>
            <a:pPr marL="0" indent="0">
              <a:buNone/>
            </a:pPr>
            <a:r>
              <a:rPr lang="fr-FR" dirty="0"/>
              <a:t>Ces expressions sont parfaites dans un cadre scolaire, un entretien ou un exposé.</a:t>
            </a:r>
          </a:p>
          <a:p>
            <a:pPr marL="0" indent="0">
              <a:buNone/>
            </a:pPr>
            <a:r>
              <a:rPr lang="fr-FR" dirty="0">
                <a:effectLst>
                  <a:outerShdw blurRad="38100" dist="38100" dir="2700000" algn="tl">
                    <a:srgbClr val="000000">
                      <a:alpha val="43137"/>
                    </a:srgbClr>
                  </a:outerShdw>
                </a:effectLst>
              </a:rPr>
              <a:t>Manifester un vif intérêt pour : </a:t>
            </a:r>
            <a:r>
              <a:rPr lang="fr-FR" dirty="0"/>
              <a:t>Très formel.</a:t>
            </a:r>
          </a:p>
          <a:p>
            <a:pPr marL="457200" lvl="1" indent="0">
              <a:buNone/>
            </a:pPr>
            <a:r>
              <a:rPr lang="fr-FR" i="1" dirty="0"/>
              <a:t>Exemple : </a:t>
            </a:r>
            <a:r>
              <a:rPr lang="fr-FR" dirty="0"/>
              <a:t>«</a:t>
            </a:r>
            <a:r>
              <a:rPr lang="fr-FR" i="1" dirty="0"/>
              <a:t> </a:t>
            </a:r>
            <a:r>
              <a:rPr lang="fr-FR" dirty="0"/>
              <a:t>L'équipe pédagogique manifeste un </a:t>
            </a:r>
            <a:r>
              <a:rPr lang="fr-FR" b="1" dirty="0"/>
              <a:t>vif intérêt pour</a:t>
            </a:r>
            <a:r>
              <a:rPr lang="fr-FR" dirty="0"/>
              <a:t> les projets innovants. »</a:t>
            </a:r>
          </a:p>
          <a:p>
            <a:pPr marL="0" indent="0">
              <a:buNone/>
            </a:pPr>
            <a:r>
              <a:rPr lang="fr-FR" dirty="0">
                <a:effectLst>
                  <a:outerShdw blurRad="38100" dist="38100" dir="2700000" algn="tl">
                    <a:srgbClr val="000000">
                      <a:alpha val="43137"/>
                    </a:srgbClr>
                  </a:outerShdw>
                </a:effectLst>
              </a:rPr>
              <a:t>Être curieux(se) de / d' : </a:t>
            </a:r>
            <a:r>
              <a:rPr lang="fr-FR" dirty="0"/>
              <a:t>L'expression classique, efficace pour toute situation.</a:t>
            </a:r>
          </a:p>
          <a:p>
            <a:pPr marL="457200" lvl="1" indent="0">
              <a:buNone/>
            </a:pPr>
            <a:r>
              <a:rPr lang="fr-FR" i="1" dirty="0"/>
              <a:t>Exemple : </a:t>
            </a:r>
            <a:r>
              <a:rPr lang="fr-FR" dirty="0"/>
              <a:t>«</a:t>
            </a:r>
            <a:r>
              <a:rPr lang="fr-FR" i="1" dirty="0"/>
              <a:t> </a:t>
            </a:r>
            <a:r>
              <a:rPr lang="fr-FR" dirty="0"/>
              <a:t>Je suis </a:t>
            </a:r>
            <a:r>
              <a:rPr lang="fr-FR" b="1" dirty="0"/>
              <a:t>curieux de</a:t>
            </a:r>
            <a:r>
              <a:rPr lang="fr-FR" dirty="0"/>
              <a:t> découvrir les différentes filières de l'EMSI. »</a:t>
            </a:r>
          </a:p>
          <a:p>
            <a:pPr marL="0" indent="0">
              <a:buNone/>
            </a:pPr>
            <a:r>
              <a:rPr lang="fr-FR" dirty="0">
                <a:effectLst>
                  <a:outerShdw blurRad="38100" dist="38100" dir="2700000" algn="tl">
                    <a:srgbClr val="000000">
                      <a:alpha val="43137"/>
                    </a:srgbClr>
                  </a:outerShdw>
                </a:effectLst>
              </a:rPr>
              <a:t>Se pencher sur (un dossier/sujet) : </a:t>
            </a:r>
            <a:r>
              <a:rPr lang="fr-FR" dirty="0"/>
              <a:t>Marque l'action d'étudier ou d'analyser en détail.</a:t>
            </a:r>
          </a:p>
          <a:p>
            <a:pPr marL="457200" lvl="1" indent="0">
              <a:buNone/>
            </a:pPr>
            <a:r>
              <a:rPr lang="fr-FR" i="1" dirty="0"/>
              <a:t>Exemple : </a:t>
            </a:r>
            <a:r>
              <a:rPr lang="fr-FR" dirty="0"/>
              <a:t>«</a:t>
            </a:r>
            <a:r>
              <a:rPr lang="fr-FR" i="1" dirty="0"/>
              <a:t> </a:t>
            </a:r>
            <a:r>
              <a:rPr lang="fr-FR" dirty="0"/>
              <a:t>Nous allons nous </a:t>
            </a:r>
            <a:r>
              <a:rPr lang="fr-FR" b="1" dirty="0"/>
              <a:t>pencher sur</a:t>
            </a:r>
            <a:r>
              <a:rPr lang="fr-FR" dirty="0"/>
              <a:t> l'analyse des marchés financiers. »</a:t>
            </a:r>
          </a:p>
          <a:p>
            <a:pPr marL="0" indent="0">
              <a:buNone/>
            </a:pPr>
            <a:r>
              <a:rPr lang="fr-FR" dirty="0">
                <a:effectLst>
                  <a:outerShdw blurRad="38100" dist="38100" dir="2700000" algn="tl">
                    <a:srgbClr val="000000">
                      <a:alpha val="43137"/>
                    </a:srgbClr>
                  </a:outerShdw>
                </a:effectLst>
              </a:rPr>
              <a:t>Susciter l'intérêt de : </a:t>
            </a:r>
            <a:r>
              <a:rPr lang="fr-FR" dirty="0"/>
              <a:t>Utilisé pour parler d'un sujet qui attire l'attention de quelqu'un.</a:t>
            </a:r>
          </a:p>
          <a:p>
            <a:pPr marL="457200" lvl="1" indent="0">
              <a:buNone/>
            </a:pPr>
            <a:r>
              <a:rPr lang="fr-FR" i="1" dirty="0"/>
              <a:t>Exemple : </a:t>
            </a:r>
            <a:r>
              <a:rPr lang="fr-FR" dirty="0"/>
              <a:t>«</a:t>
            </a:r>
            <a:r>
              <a:rPr lang="fr-FR" i="1" dirty="0"/>
              <a:t> </a:t>
            </a:r>
            <a:r>
              <a:rPr lang="fr-FR" dirty="0"/>
              <a:t>Cette conférence a </a:t>
            </a:r>
            <a:r>
              <a:rPr lang="fr-FR" b="1" dirty="0"/>
              <a:t>suscité l'intérêt</a:t>
            </a:r>
            <a:r>
              <a:rPr lang="fr-FR" dirty="0"/>
              <a:t> de tous les étudiants. »</a:t>
            </a:r>
          </a:p>
          <a:p>
            <a:pPr marL="0" indent="0">
              <a:buNone/>
            </a:pPr>
            <a:endParaRPr lang="fr-FR" dirty="0"/>
          </a:p>
        </p:txBody>
      </p:sp>
      <p:sp>
        <p:nvSpPr>
          <p:cNvPr id="2" name="Espace réservé du numéro de diapositive 1">
            <a:extLst>
              <a:ext uri="{FF2B5EF4-FFF2-40B4-BE49-F238E27FC236}">
                <a16:creationId xmlns:a16="http://schemas.microsoft.com/office/drawing/2014/main" id="{B9B3F5A4-6E8A-2DE6-79EC-4462E7642294}"/>
              </a:ext>
            </a:extLst>
          </p:cNvPr>
          <p:cNvSpPr>
            <a:spLocks noGrp="1"/>
          </p:cNvSpPr>
          <p:nvPr>
            <p:ph type="sldNum" sz="quarter" idx="12"/>
          </p:nvPr>
        </p:nvSpPr>
        <p:spPr/>
        <p:txBody>
          <a:bodyPr/>
          <a:lstStyle/>
          <a:p>
            <a:fld id="{49DB4E91-02F2-4120-BFDC-D5317FE06960}" type="slidenum">
              <a:rPr lang="fr-FR" smtClean="0"/>
              <a:t>4</a:t>
            </a:fld>
            <a:endParaRPr lang="fr-FR"/>
          </a:p>
        </p:txBody>
      </p:sp>
    </p:spTree>
    <p:extLst>
      <p:ext uri="{BB962C8B-B14F-4D97-AF65-F5344CB8AC3E}">
        <p14:creationId xmlns:p14="http://schemas.microsoft.com/office/powerpoint/2010/main" val="703400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53A38B3-EB17-579A-F653-72D849A1A153}"/>
              </a:ext>
            </a:extLst>
          </p:cNvPr>
          <p:cNvSpPr>
            <a:spLocks noGrp="1"/>
          </p:cNvSpPr>
          <p:nvPr>
            <p:ph idx="1"/>
          </p:nvPr>
        </p:nvSpPr>
        <p:spPr>
          <a:xfrm>
            <a:off x="838200" y="829994"/>
            <a:ext cx="10515600" cy="5346969"/>
          </a:xfrm>
        </p:spPr>
        <p:txBody>
          <a:bodyPr>
            <a:normAutofit lnSpcReduction="10000"/>
          </a:bodyPr>
          <a:lstStyle/>
          <a:p>
            <a:pPr marL="0" indent="0">
              <a:buNone/>
            </a:pPr>
            <a:r>
              <a:rPr lang="fr-FR" u="sng" dirty="0"/>
              <a:t>Exprimer un intérêt stratégique ou utilitaire</a:t>
            </a:r>
          </a:p>
          <a:p>
            <a:pPr marL="0" indent="0">
              <a:buNone/>
            </a:pPr>
            <a:r>
              <a:rPr lang="fr-FR" dirty="0"/>
              <a:t>Ces expressions impliquent qu'il y a un bénéfice personnel, professionnel ou un objectif derrière l'intérêt exprimé.</a:t>
            </a:r>
          </a:p>
          <a:p>
            <a:pPr marL="0" indent="0">
              <a:buNone/>
            </a:pPr>
            <a:r>
              <a:rPr lang="fr-FR" dirty="0">
                <a:effectLst>
                  <a:outerShdw blurRad="38100" dist="38100" dir="2700000" algn="tl">
                    <a:srgbClr val="000000">
                      <a:alpha val="43137"/>
                    </a:srgbClr>
                  </a:outerShdw>
                </a:effectLst>
              </a:rPr>
              <a:t>Y trouver son compte : </a:t>
            </a:r>
            <a:r>
              <a:rPr lang="fr-FR" dirty="0"/>
              <a:t>Familier, pour dire qu'on en tire un avantage.</a:t>
            </a:r>
          </a:p>
          <a:p>
            <a:pPr marL="457200" lvl="1" indent="0">
              <a:buNone/>
            </a:pPr>
            <a:r>
              <a:rPr lang="fr-FR" i="1" dirty="0"/>
              <a:t>Exemple : </a:t>
            </a:r>
            <a:r>
              <a:rPr lang="fr-FR" dirty="0"/>
              <a:t>«</a:t>
            </a:r>
            <a:r>
              <a:rPr lang="fr-FR" i="1" dirty="0"/>
              <a:t> </a:t>
            </a:r>
            <a:r>
              <a:rPr lang="fr-FR" dirty="0"/>
              <a:t>Les deux entreprises </a:t>
            </a:r>
            <a:r>
              <a:rPr lang="fr-FR" b="1" dirty="0"/>
              <a:t>y ont trouvé leur compte</a:t>
            </a:r>
            <a:r>
              <a:rPr lang="fr-FR" dirty="0"/>
              <a:t> dans cette collaboration. »</a:t>
            </a:r>
          </a:p>
          <a:p>
            <a:pPr marL="0" indent="0">
              <a:buNone/>
            </a:pPr>
            <a:r>
              <a:rPr lang="fr-FR" dirty="0">
                <a:effectLst>
                  <a:outerShdw blurRad="38100" dist="38100" dir="2700000" algn="tl">
                    <a:srgbClr val="000000">
                      <a:alpha val="43137"/>
                    </a:srgbClr>
                  </a:outerShdw>
                </a:effectLst>
              </a:rPr>
              <a:t>Avoir un intérêt à / à ce que : </a:t>
            </a:r>
            <a:r>
              <a:rPr lang="fr-FR" dirty="0"/>
              <a:t>Indique une motivation personnelle ou stratégique.</a:t>
            </a:r>
          </a:p>
          <a:p>
            <a:pPr marL="457200" lvl="1" indent="0">
              <a:buNone/>
            </a:pPr>
            <a:r>
              <a:rPr lang="fr-FR" i="1" dirty="0"/>
              <a:t>Exemple : </a:t>
            </a:r>
            <a:r>
              <a:rPr lang="fr-FR" dirty="0"/>
              <a:t>«</a:t>
            </a:r>
            <a:r>
              <a:rPr lang="fr-FR" i="1" dirty="0"/>
              <a:t> </a:t>
            </a:r>
            <a:r>
              <a:rPr lang="fr-FR" dirty="0"/>
              <a:t>J'ai tout </a:t>
            </a:r>
            <a:r>
              <a:rPr lang="fr-FR" b="1" dirty="0"/>
              <a:t>intérêt à</a:t>
            </a:r>
            <a:r>
              <a:rPr lang="fr-FR" dirty="0"/>
              <a:t> réussir ce concours pour mon avenir professionnel. »</a:t>
            </a:r>
          </a:p>
          <a:p>
            <a:pPr marL="0" indent="0">
              <a:buNone/>
            </a:pPr>
            <a:r>
              <a:rPr lang="fr-FR" dirty="0">
                <a:effectLst>
                  <a:outerShdw blurRad="38100" dist="38100" dir="2700000" algn="tl">
                    <a:srgbClr val="000000">
                      <a:alpha val="43137"/>
                    </a:srgbClr>
                  </a:outerShdw>
                </a:effectLst>
              </a:rPr>
              <a:t>Cela m'interpelle : </a:t>
            </a:r>
            <a:r>
              <a:rPr lang="fr-FR" dirty="0"/>
              <a:t>Plus souple, pour marquer l'impact qu'a un sujet sur soi.</a:t>
            </a:r>
          </a:p>
          <a:p>
            <a:pPr marL="457200" lvl="1" indent="0">
              <a:buNone/>
            </a:pPr>
            <a:r>
              <a:rPr lang="fr-FR" i="1" dirty="0"/>
              <a:t>Exemple : </a:t>
            </a:r>
            <a:r>
              <a:rPr lang="fr-FR" dirty="0"/>
              <a:t>«</a:t>
            </a:r>
            <a:r>
              <a:rPr lang="fr-FR" i="1" dirty="0"/>
              <a:t> </a:t>
            </a:r>
            <a:r>
              <a:rPr lang="fr-FR" dirty="0"/>
              <a:t>La question de l'empreinte carbone des entreprises </a:t>
            </a:r>
            <a:r>
              <a:rPr lang="fr-FR" b="1" dirty="0"/>
              <a:t>m'interpelle</a:t>
            </a:r>
            <a:r>
              <a:rPr lang="fr-FR" dirty="0"/>
              <a:t> beaucoup. »</a:t>
            </a:r>
          </a:p>
          <a:p>
            <a:pPr marL="0" indent="0">
              <a:buNone/>
            </a:pPr>
            <a:endParaRPr lang="fr-FR" dirty="0"/>
          </a:p>
        </p:txBody>
      </p:sp>
      <p:sp>
        <p:nvSpPr>
          <p:cNvPr id="2" name="Espace réservé du numéro de diapositive 1">
            <a:extLst>
              <a:ext uri="{FF2B5EF4-FFF2-40B4-BE49-F238E27FC236}">
                <a16:creationId xmlns:a16="http://schemas.microsoft.com/office/drawing/2014/main" id="{F2AFB097-BAF3-1481-D889-2A982623D1B9}"/>
              </a:ext>
            </a:extLst>
          </p:cNvPr>
          <p:cNvSpPr>
            <a:spLocks noGrp="1"/>
          </p:cNvSpPr>
          <p:nvPr>
            <p:ph type="sldNum" sz="quarter" idx="12"/>
          </p:nvPr>
        </p:nvSpPr>
        <p:spPr/>
        <p:txBody>
          <a:bodyPr/>
          <a:lstStyle/>
          <a:p>
            <a:fld id="{49DB4E91-02F2-4120-BFDC-D5317FE06960}" type="slidenum">
              <a:rPr lang="fr-FR" smtClean="0"/>
              <a:t>5</a:t>
            </a:fld>
            <a:endParaRPr lang="fr-FR"/>
          </a:p>
        </p:txBody>
      </p:sp>
    </p:spTree>
    <p:extLst>
      <p:ext uri="{BB962C8B-B14F-4D97-AF65-F5344CB8AC3E}">
        <p14:creationId xmlns:p14="http://schemas.microsoft.com/office/powerpoint/2010/main" val="3022691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A07BD9E-8EF8-DAC2-69EE-518B18D3FF14}"/>
              </a:ext>
            </a:extLst>
          </p:cNvPr>
          <p:cNvSpPr>
            <a:spLocks noGrp="1"/>
          </p:cNvSpPr>
          <p:nvPr>
            <p:ph idx="1"/>
          </p:nvPr>
        </p:nvSpPr>
        <p:spPr>
          <a:xfrm>
            <a:off x="838200" y="745588"/>
            <a:ext cx="10515600" cy="5431375"/>
          </a:xfrm>
        </p:spPr>
        <p:txBody>
          <a:bodyPr/>
          <a:lstStyle/>
          <a:p>
            <a:pPr marL="1028700" lvl="1" indent="-571500">
              <a:buFont typeface="+mj-lt"/>
              <a:buAutoNum type="romanLcPeriod" startAt="2"/>
            </a:pPr>
            <a:r>
              <a:rPr lang="fr-FR" sz="3000" dirty="0"/>
              <a:t>Commenter la place du travail dans la vie</a:t>
            </a:r>
          </a:p>
          <a:p>
            <a:pPr marL="0" indent="0">
              <a:buNone/>
            </a:pPr>
            <a:r>
              <a:rPr lang="fr-FR" dirty="0"/>
              <a:t>Dans une société en pleine mutation technologique, la place du travail n'est plus seulement une question de subsistance, mais un véritable </a:t>
            </a:r>
            <a:r>
              <a:rPr lang="fr-FR" b="1" dirty="0"/>
              <a:t>enjeu identitaire</a:t>
            </a:r>
            <a:r>
              <a:rPr lang="fr-FR" dirty="0"/>
              <a:t> et </a:t>
            </a:r>
            <a:r>
              <a:rPr lang="fr-FR" b="1" dirty="0"/>
              <a:t>existentiel</a:t>
            </a:r>
            <a:r>
              <a:rPr lang="fr-FR" dirty="0"/>
              <a:t>. Commenter cette thématique impose de naviguer entre la valeur traditionnelle de l'effort, l'aspiration à l'épanouissement personnel et les nouveaux paradigmes tels que le télétravail hybride ou l'automatisation. Il s'agit d'analyser si le travail demeure le pivot de la vie sociale ou s'il devient un simple outil au service d'une existence plus globale.</a:t>
            </a:r>
          </a:p>
        </p:txBody>
      </p:sp>
      <p:sp>
        <p:nvSpPr>
          <p:cNvPr id="2" name="Espace réservé du numéro de diapositive 1">
            <a:extLst>
              <a:ext uri="{FF2B5EF4-FFF2-40B4-BE49-F238E27FC236}">
                <a16:creationId xmlns:a16="http://schemas.microsoft.com/office/drawing/2014/main" id="{90517EC6-A2AF-CEF1-6BA9-548FE30C6483}"/>
              </a:ext>
            </a:extLst>
          </p:cNvPr>
          <p:cNvSpPr>
            <a:spLocks noGrp="1"/>
          </p:cNvSpPr>
          <p:nvPr>
            <p:ph type="sldNum" sz="quarter" idx="12"/>
          </p:nvPr>
        </p:nvSpPr>
        <p:spPr/>
        <p:txBody>
          <a:bodyPr/>
          <a:lstStyle/>
          <a:p>
            <a:fld id="{49DB4E91-02F2-4120-BFDC-D5317FE06960}" type="slidenum">
              <a:rPr lang="fr-FR" smtClean="0"/>
              <a:t>6</a:t>
            </a:fld>
            <a:endParaRPr lang="fr-FR"/>
          </a:p>
        </p:txBody>
      </p:sp>
    </p:spTree>
    <p:extLst>
      <p:ext uri="{BB962C8B-B14F-4D97-AF65-F5344CB8AC3E}">
        <p14:creationId xmlns:p14="http://schemas.microsoft.com/office/powerpoint/2010/main" val="1900064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3A4415F-93C1-36DA-FD00-98FB10B7AE12}"/>
              </a:ext>
            </a:extLst>
          </p:cNvPr>
          <p:cNvSpPr>
            <a:spLocks noGrp="1"/>
          </p:cNvSpPr>
          <p:nvPr>
            <p:ph idx="1"/>
          </p:nvPr>
        </p:nvSpPr>
        <p:spPr>
          <a:xfrm>
            <a:off x="838200" y="604911"/>
            <a:ext cx="10515600" cy="5572052"/>
          </a:xfrm>
        </p:spPr>
        <p:txBody>
          <a:bodyPr>
            <a:normAutofit lnSpcReduction="10000"/>
          </a:bodyPr>
          <a:lstStyle/>
          <a:p>
            <a:pPr marL="0" indent="0">
              <a:buNone/>
            </a:pPr>
            <a:r>
              <a:rPr lang="fr-FR" u="sng" dirty="0"/>
              <a:t>Le travail comme vecteur d’accomplissement (L’approche classique)</a:t>
            </a:r>
          </a:p>
          <a:p>
            <a:pPr marL="0" indent="0">
              <a:buNone/>
            </a:pPr>
            <a:r>
              <a:rPr lang="fr-FR" dirty="0"/>
              <a:t>Cette section regroupe le lexique de l'engagement et de la réalisation de soi par l'activité professionnelle.</a:t>
            </a:r>
          </a:p>
          <a:p>
            <a:pPr marL="0" indent="0">
              <a:buNone/>
            </a:pPr>
            <a:r>
              <a:rPr lang="fr-FR" dirty="0">
                <a:effectLst>
                  <a:outerShdw blurRad="38100" dist="38100" dir="2700000" algn="tl">
                    <a:srgbClr val="000000">
                      <a:alpha val="43137"/>
                    </a:srgbClr>
                  </a:outerShdw>
                </a:effectLst>
              </a:rPr>
              <a:t>Le dépassement de soi : </a:t>
            </a:r>
            <a:r>
              <a:rPr lang="fr-FR" dirty="0"/>
              <a:t>L'idée que le travail permet de repousser ses limites.</a:t>
            </a:r>
          </a:p>
          <a:p>
            <a:pPr marL="0" indent="0">
              <a:buNone/>
            </a:pPr>
            <a:r>
              <a:rPr lang="fr-FR" dirty="0">
                <a:effectLst>
                  <a:outerShdw blurRad="38100" dist="38100" dir="2700000" algn="tl">
                    <a:srgbClr val="000000">
                      <a:alpha val="43137"/>
                    </a:srgbClr>
                  </a:outerShdw>
                </a:effectLst>
              </a:rPr>
              <a:t>L'ascenseur social : </a:t>
            </a:r>
            <a:r>
              <a:rPr lang="fr-FR" dirty="0"/>
              <a:t>Le mécanisme par lequel le travail permet de progresser dans la hiérarchie sociale.</a:t>
            </a:r>
          </a:p>
          <a:p>
            <a:pPr marL="0" indent="0">
              <a:buNone/>
            </a:pPr>
            <a:r>
              <a:rPr lang="fr-FR" dirty="0">
                <a:effectLst>
                  <a:outerShdw blurRad="38100" dist="38100" dir="2700000" algn="tl">
                    <a:srgbClr val="000000">
                      <a:alpha val="43137"/>
                    </a:srgbClr>
                  </a:outerShdw>
                </a:effectLst>
              </a:rPr>
              <a:t>La vocation : </a:t>
            </a:r>
            <a:r>
              <a:rPr lang="fr-FR" dirty="0"/>
              <a:t>Un intérêt si fort pour une profession qu'elle se confond avec l'identité personnelle.</a:t>
            </a:r>
          </a:p>
          <a:p>
            <a:pPr marL="0" indent="0">
              <a:buNone/>
            </a:pPr>
            <a:r>
              <a:rPr lang="fr-FR" dirty="0">
                <a:effectLst>
                  <a:outerShdw blurRad="38100" dist="38100" dir="2700000" algn="tl">
                    <a:srgbClr val="000000">
                      <a:alpha val="43137"/>
                    </a:srgbClr>
                  </a:outerShdw>
                </a:effectLst>
              </a:rPr>
              <a:t>L'éthique du travail : </a:t>
            </a:r>
            <a:r>
              <a:rPr lang="fr-FR" dirty="0"/>
              <a:t>Ensemble de valeurs (rigueur, ponctualité, probité) qui placent le labeur au centre de la morale.</a:t>
            </a:r>
          </a:p>
          <a:p>
            <a:pPr marL="0" indent="0">
              <a:buNone/>
            </a:pPr>
            <a:r>
              <a:rPr lang="fr-FR" dirty="0">
                <a:effectLst>
                  <a:outerShdw blurRad="38100" dist="38100" dir="2700000" algn="tl">
                    <a:srgbClr val="000000">
                      <a:alpha val="43137"/>
                    </a:srgbClr>
                  </a:outerShdw>
                </a:effectLst>
              </a:rPr>
              <a:t>Donner du sens : </a:t>
            </a:r>
            <a:r>
              <a:rPr lang="fr-FR" dirty="0"/>
              <a:t>L'aspiration contemporaine à ce que l'activité professionnelle contribue au bien commun.</a:t>
            </a:r>
          </a:p>
          <a:p>
            <a:pPr marL="0" indent="0">
              <a:buNone/>
            </a:pPr>
            <a:endParaRPr lang="fr-FR" dirty="0"/>
          </a:p>
        </p:txBody>
      </p:sp>
      <p:sp>
        <p:nvSpPr>
          <p:cNvPr id="2" name="Espace réservé du numéro de diapositive 1">
            <a:extLst>
              <a:ext uri="{FF2B5EF4-FFF2-40B4-BE49-F238E27FC236}">
                <a16:creationId xmlns:a16="http://schemas.microsoft.com/office/drawing/2014/main" id="{23C719EF-69CE-828A-1FB6-56D03ACF9EA6}"/>
              </a:ext>
            </a:extLst>
          </p:cNvPr>
          <p:cNvSpPr>
            <a:spLocks noGrp="1"/>
          </p:cNvSpPr>
          <p:nvPr>
            <p:ph type="sldNum" sz="quarter" idx="12"/>
          </p:nvPr>
        </p:nvSpPr>
        <p:spPr/>
        <p:txBody>
          <a:bodyPr/>
          <a:lstStyle/>
          <a:p>
            <a:fld id="{49DB4E91-02F2-4120-BFDC-D5317FE06960}" type="slidenum">
              <a:rPr lang="fr-FR" smtClean="0"/>
              <a:t>7</a:t>
            </a:fld>
            <a:endParaRPr lang="fr-FR"/>
          </a:p>
        </p:txBody>
      </p:sp>
    </p:spTree>
    <p:extLst>
      <p:ext uri="{BB962C8B-B14F-4D97-AF65-F5344CB8AC3E}">
        <p14:creationId xmlns:p14="http://schemas.microsoft.com/office/powerpoint/2010/main" val="2670913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3879754-ECBD-5318-0362-3F508F49A776}"/>
              </a:ext>
            </a:extLst>
          </p:cNvPr>
          <p:cNvSpPr>
            <a:spLocks noGrp="1"/>
          </p:cNvSpPr>
          <p:nvPr>
            <p:ph idx="1"/>
          </p:nvPr>
        </p:nvSpPr>
        <p:spPr>
          <a:xfrm>
            <a:off x="838200" y="689317"/>
            <a:ext cx="10515600" cy="5487646"/>
          </a:xfrm>
        </p:spPr>
        <p:txBody>
          <a:bodyPr>
            <a:normAutofit fontScale="92500" lnSpcReduction="10000"/>
          </a:bodyPr>
          <a:lstStyle/>
          <a:p>
            <a:pPr marL="0" indent="0">
              <a:buNone/>
            </a:pPr>
            <a:r>
              <a:rPr lang="fr-FR" u="sng" dirty="0"/>
              <a:t>La remise en question et la quête d’équilibre (L’approche moderne)</a:t>
            </a:r>
          </a:p>
          <a:p>
            <a:pPr marL="0" indent="0">
              <a:buNone/>
            </a:pPr>
            <a:r>
              <a:rPr lang="fr-FR" dirty="0"/>
              <a:t>La notion de « déconnexion » et la frontière entre vie privée et vie professionnelle sont au cœur des débats sur la place du travail dans la vie.</a:t>
            </a:r>
          </a:p>
          <a:p>
            <a:pPr marL="0" indent="0">
              <a:buNone/>
            </a:pPr>
            <a:r>
              <a:rPr lang="fr-FR" dirty="0">
                <a:effectLst>
                  <a:outerShdw blurRad="38100" dist="38100" dir="2700000" algn="tl">
                    <a:srgbClr val="000000">
                      <a:alpha val="43137"/>
                    </a:srgbClr>
                  </a:outerShdw>
                </a:effectLst>
              </a:rPr>
              <a:t>L'équilibre vie pro-vie perso (Work-life balance) : </a:t>
            </a:r>
            <a:r>
              <a:rPr lang="fr-FR" dirty="0"/>
              <a:t>La recherche d'une harmonie entre les obligations et le temps libre.</a:t>
            </a:r>
          </a:p>
          <a:p>
            <a:pPr marL="0" indent="0">
              <a:buNone/>
            </a:pPr>
            <a:r>
              <a:rPr lang="fr-FR" dirty="0">
                <a:effectLst>
                  <a:outerShdw blurRad="38100" dist="38100" dir="2700000" algn="tl">
                    <a:srgbClr val="000000">
                      <a:alpha val="43137"/>
                    </a:srgbClr>
                  </a:outerShdw>
                </a:effectLst>
              </a:rPr>
              <a:t>Le désengagement (ou « Quiet </a:t>
            </a:r>
            <a:r>
              <a:rPr lang="fr-FR" dirty="0" err="1">
                <a:effectLst>
                  <a:outerShdw blurRad="38100" dist="38100" dir="2700000" algn="tl">
                    <a:srgbClr val="000000">
                      <a:alpha val="43137"/>
                    </a:srgbClr>
                  </a:outerShdw>
                </a:effectLst>
              </a:rPr>
              <a:t>Quitting</a:t>
            </a:r>
            <a:r>
              <a:rPr lang="fr-FR" dirty="0">
                <a:effectLst>
                  <a:outerShdw blurRad="38100" dist="38100" dir="2700000" algn="tl">
                    <a:srgbClr val="000000">
                      <a:alpha val="43137"/>
                    </a:srgbClr>
                  </a:outerShdw>
                </a:effectLst>
              </a:rPr>
              <a:t> ») : </a:t>
            </a:r>
            <a:r>
              <a:rPr lang="fr-FR" dirty="0"/>
              <a:t>Le fait de se limiter au strict nécessaire contractuel pour préserver sa santé mentale.</a:t>
            </a:r>
          </a:p>
          <a:p>
            <a:pPr marL="0" indent="0">
              <a:buNone/>
            </a:pPr>
            <a:r>
              <a:rPr lang="fr-FR" dirty="0">
                <a:effectLst>
                  <a:outerShdw blurRad="38100" dist="38100" dir="2700000" algn="tl">
                    <a:srgbClr val="000000">
                      <a:alpha val="43137"/>
                    </a:srgbClr>
                  </a:outerShdw>
                </a:effectLst>
              </a:rPr>
              <a:t>L'aliénation : </a:t>
            </a:r>
            <a:r>
              <a:rPr lang="fr-FR" dirty="0"/>
              <a:t>Terme philosophique désignant le moment où le travail dépossède l'individu de son humanité.</a:t>
            </a:r>
          </a:p>
          <a:p>
            <a:pPr marL="0" indent="0">
              <a:buNone/>
            </a:pPr>
            <a:r>
              <a:rPr lang="fr-FR" dirty="0">
                <a:effectLst>
                  <a:outerShdw blurRad="38100" dist="38100" dir="2700000" algn="tl">
                    <a:srgbClr val="000000">
                      <a:alpha val="43137"/>
                    </a:srgbClr>
                  </a:outerShdw>
                </a:effectLst>
              </a:rPr>
              <a:t>La valeur d'usage du temps : </a:t>
            </a:r>
            <a:r>
              <a:rPr lang="fr-FR" dirty="0"/>
              <a:t>Considérer que le temps libre a une valeur supérieure au gain financier supplémentaire.</a:t>
            </a:r>
          </a:p>
          <a:p>
            <a:pPr marL="0" indent="0">
              <a:buNone/>
            </a:pPr>
            <a:r>
              <a:rPr lang="fr-FR" dirty="0">
                <a:effectLst>
                  <a:outerShdw blurRad="38100" dist="38100" dir="2700000" algn="tl">
                    <a:srgbClr val="000000">
                      <a:alpha val="43137"/>
                    </a:srgbClr>
                  </a:outerShdw>
                </a:effectLst>
              </a:rPr>
              <a:t>Le droit à la déconnexion :</a:t>
            </a:r>
            <a:r>
              <a:rPr lang="fr-FR" dirty="0"/>
              <a:t> La protection juridique contre l'invasion des outils numériques (e-mails, messages) dans la vie privée.</a:t>
            </a:r>
          </a:p>
          <a:p>
            <a:pPr marL="0" indent="0">
              <a:buNone/>
            </a:pPr>
            <a:endParaRPr lang="fr-FR" dirty="0"/>
          </a:p>
        </p:txBody>
      </p:sp>
      <p:sp>
        <p:nvSpPr>
          <p:cNvPr id="2" name="Espace réservé du numéro de diapositive 1">
            <a:extLst>
              <a:ext uri="{FF2B5EF4-FFF2-40B4-BE49-F238E27FC236}">
                <a16:creationId xmlns:a16="http://schemas.microsoft.com/office/drawing/2014/main" id="{BAC391B0-A110-CABC-F247-CFCA34334344}"/>
              </a:ext>
            </a:extLst>
          </p:cNvPr>
          <p:cNvSpPr>
            <a:spLocks noGrp="1"/>
          </p:cNvSpPr>
          <p:nvPr>
            <p:ph type="sldNum" sz="quarter" idx="12"/>
          </p:nvPr>
        </p:nvSpPr>
        <p:spPr/>
        <p:txBody>
          <a:bodyPr/>
          <a:lstStyle/>
          <a:p>
            <a:fld id="{49DB4E91-02F2-4120-BFDC-D5317FE06960}" type="slidenum">
              <a:rPr lang="fr-FR" smtClean="0"/>
              <a:t>8</a:t>
            </a:fld>
            <a:endParaRPr lang="fr-FR"/>
          </a:p>
        </p:txBody>
      </p:sp>
    </p:spTree>
    <p:extLst>
      <p:ext uri="{BB962C8B-B14F-4D97-AF65-F5344CB8AC3E}">
        <p14:creationId xmlns:p14="http://schemas.microsoft.com/office/powerpoint/2010/main" val="1270703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D1F513A-4373-7941-11CD-FD7B0D09DAD6}"/>
              </a:ext>
            </a:extLst>
          </p:cNvPr>
          <p:cNvSpPr>
            <a:spLocks noGrp="1"/>
          </p:cNvSpPr>
          <p:nvPr>
            <p:ph idx="1"/>
          </p:nvPr>
        </p:nvSpPr>
        <p:spPr>
          <a:xfrm>
            <a:off x="838200" y="801858"/>
            <a:ext cx="10515600" cy="5375105"/>
          </a:xfrm>
        </p:spPr>
        <p:txBody>
          <a:bodyPr>
            <a:normAutofit lnSpcReduction="10000"/>
          </a:bodyPr>
          <a:lstStyle/>
          <a:p>
            <a:pPr marL="0" indent="0">
              <a:buNone/>
            </a:pPr>
            <a:r>
              <a:rPr lang="fr-FR" u="sng" dirty="0"/>
              <a:t>Les mutations technologiques et l’avenir (L’approche prospective)</a:t>
            </a:r>
          </a:p>
          <a:p>
            <a:pPr marL="0" indent="0">
              <a:buNone/>
            </a:pPr>
            <a:r>
              <a:rPr lang="fr-FR" dirty="0"/>
              <a:t>Pour des étudiants du cycle ingénieur, il est crucial d’intégrer l’impact de l’ingénierie sur la nature même du travail.</a:t>
            </a:r>
          </a:p>
          <a:p>
            <a:pPr marL="0" indent="0">
              <a:buNone/>
            </a:pPr>
            <a:r>
              <a:rPr lang="fr-FR" dirty="0">
                <a:effectLst>
                  <a:outerShdw blurRad="38100" dist="38100" dir="2700000" algn="tl">
                    <a:srgbClr val="000000">
                      <a:alpha val="43137"/>
                    </a:srgbClr>
                  </a:outerShdw>
                </a:effectLst>
              </a:rPr>
              <a:t>L'automatisation et l'obsolescence : </a:t>
            </a:r>
            <a:r>
              <a:rPr lang="fr-FR" dirty="0"/>
              <a:t>La crainte ou l'opportunité de voir des tâches humaines remplacées par l'intelligence artificielle.</a:t>
            </a:r>
          </a:p>
          <a:p>
            <a:pPr marL="0" indent="0">
              <a:buNone/>
            </a:pPr>
            <a:r>
              <a:rPr lang="fr-FR" dirty="0">
                <a:effectLst>
                  <a:outerShdw blurRad="38100" dist="38100" dir="2700000" algn="tl">
                    <a:srgbClr val="000000">
                      <a:alpha val="43137"/>
                    </a:srgbClr>
                  </a:outerShdw>
                </a:effectLst>
              </a:rPr>
              <a:t>La fin de la centralité du travail : </a:t>
            </a:r>
            <a:r>
              <a:rPr lang="fr-FR" dirty="0"/>
              <a:t>L'hypothèse selon laquelle le travail ne serait plus le seul mode de distribution des revenus (débat sur le revenu universel).</a:t>
            </a:r>
          </a:p>
          <a:p>
            <a:pPr marL="0" indent="0">
              <a:buNone/>
            </a:pPr>
            <a:r>
              <a:rPr lang="fr-FR" dirty="0">
                <a:effectLst>
                  <a:outerShdw blurRad="38100" dist="38100" dir="2700000" algn="tl">
                    <a:srgbClr val="000000">
                      <a:alpha val="43137"/>
                    </a:srgbClr>
                  </a:outerShdw>
                </a:effectLst>
              </a:rPr>
              <a:t>L'ubérisation de l'économie : </a:t>
            </a:r>
            <a:r>
              <a:rPr lang="fr-FR" dirty="0"/>
              <a:t>La transformation des salariés en prestataires de services indépendants, modifiant le rapport de subordination.</a:t>
            </a:r>
          </a:p>
          <a:p>
            <a:pPr marL="0" indent="0">
              <a:buNone/>
            </a:pPr>
            <a:r>
              <a:rPr lang="fr-FR" dirty="0">
                <a:effectLst>
                  <a:outerShdw blurRad="38100" dist="38100" dir="2700000" algn="tl">
                    <a:srgbClr val="000000">
                      <a:alpha val="43137"/>
                    </a:srgbClr>
                  </a:outerShdw>
                </a:effectLst>
              </a:rPr>
              <a:t>Le nomadisme numérique : </a:t>
            </a:r>
            <a:r>
              <a:rPr lang="fr-FR" dirty="0"/>
              <a:t>La possibilité de travailler de n'importe quel point du globe, dématérialisant le lieu de travail.</a:t>
            </a:r>
          </a:p>
          <a:p>
            <a:pPr marL="0" indent="0">
              <a:buNone/>
            </a:pPr>
            <a:endParaRPr lang="fr-FR" dirty="0"/>
          </a:p>
        </p:txBody>
      </p:sp>
      <p:sp>
        <p:nvSpPr>
          <p:cNvPr id="2" name="Espace réservé du numéro de diapositive 1">
            <a:extLst>
              <a:ext uri="{FF2B5EF4-FFF2-40B4-BE49-F238E27FC236}">
                <a16:creationId xmlns:a16="http://schemas.microsoft.com/office/drawing/2014/main" id="{F930BE7A-35D3-5C3A-25FE-B01E699CD995}"/>
              </a:ext>
            </a:extLst>
          </p:cNvPr>
          <p:cNvSpPr>
            <a:spLocks noGrp="1"/>
          </p:cNvSpPr>
          <p:nvPr>
            <p:ph type="sldNum" sz="quarter" idx="12"/>
          </p:nvPr>
        </p:nvSpPr>
        <p:spPr/>
        <p:txBody>
          <a:bodyPr/>
          <a:lstStyle/>
          <a:p>
            <a:fld id="{49DB4E91-02F2-4120-BFDC-D5317FE06960}" type="slidenum">
              <a:rPr lang="fr-FR" smtClean="0"/>
              <a:t>9</a:t>
            </a:fld>
            <a:endParaRPr lang="fr-FR"/>
          </a:p>
        </p:txBody>
      </p:sp>
    </p:spTree>
    <p:extLst>
      <p:ext uri="{BB962C8B-B14F-4D97-AF65-F5344CB8AC3E}">
        <p14:creationId xmlns:p14="http://schemas.microsoft.com/office/powerpoint/2010/main" val="2373708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29D7809-FF43-83B6-5677-C2587667D66A}"/>
              </a:ext>
            </a:extLst>
          </p:cNvPr>
          <p:cNvSpPr>
            <a:spLocks noGrp="1"/>
          </p:cNvSpPr>
          <p:nvPr>
            <p:ph idx="1"/>
          </p:nvPr>
        </p:nvSpPr>
        <p:spPr>
          <a:xfrm>
            <a:off x="838200" y="633046"/>
            <a:ext cx="10515600" cy="5543917"/>
          </a:xfrm>
        </p:spPr>
        <p:txBody>
          <a:bodyPr/>
          <a:lstStyle/>
          <a:p>
            <a:pPr marL="1028700" lvl="1" indent="-571500">
              <a:buFont typeface="+mj-lt"/>
              <a:buAutoNum type="romanLcPeriod" startAt="3"/>
            </a:pPr>
            <a:r>
              <a:rPr lang="fr-FR" sz="3000" dirty="0"/>
              <a:t>Faire des hypothèses</a:t>
            </a:r>
          </a:p>
          <a:p>
            <a:pPr marL="0" indent="0">
              <a:buNone/>
            </a:pPr>
            <a:r>
              <a:rPr lang="fr-FR" dirty="0"/>
              <a:t>L'hypothèse est une opération intellectuelle fondamentale en ingénierie et en sciences humaines. Elle permet de simuler des scénarios, d'anticiper des risques ou de reconstruire des événements. En français avancé, l'expression de l'hypothèse repose sur une étroite corrélation entre les modes (indicatif, conditionnel, subjonctif) et le degré de probabilité que le locuteur accorde à l'événement.</a:t>
            </a:r>
          </a:p>
          <a:p>
            <a:pPr marL="0" indent="0">
              <a:buNone/>
            </a:pPr>
            <a:r>
              <a:rPr lang="fr-FR" u="sng" dirty="0"/>
              <a:t>La graduation du possible (Les structures avec « Si »)</a:t>
            </a:r>
          </a:p>
          <a:p>
            <a:pPr marL="0" indent="0">
              <a:buNone/>
            </a:pPr>
            <a:r>
              <a:rPr lang="fr-FR" dirty="0">
                <a:effectLst>
                  <a:outerShdw blurRad="38100" dist="38100" dir="2700000" algn="tl">
                    <a:srgbClr val="000000">
                      <a:alpha val="43137"/>
                    </a:srgbClr>
                  </a:outerShdw>
                </a:effectLst>
              </a:rPr>
              <a:t>L'hypothèse réelle ou probable (Futurible) :</a:t>
            </a:r>
          </a:p>
          <a:p>
            <a:pPr marL="457200" lvl="1" indent="0">
              <a:buNone/>
            </a:pPr>
            <a:r>
              <a:rPr lang="fr-FR" dirty="0"/>
              <a:t>Structure : </a:t>
            </a:r>
            <a:r>
              <a:rPr lang="fr-FR" b="1" dirty="0"/>
              <a:t>Si + présent → futur simple</a:t>
            </a:r>
            <a:endParaRPr lang="fr-FR" dirty="0"/>
          </a:p>
          <a:p>
            <a:pPr marL="457200" lvl="1" indent="0">
              <a:buNone/>
            </a:pPr>
            <a:r>
              <a:rPr lang="fr-FR" dirty="0"/>
              <a:t>Usage : Pour une condition qui a de fortes chances de se réaliser.</a:t>
            </a:r>
          </a:p>
          <a:p>
            <a:pPr marL="457200" lvl="1" indent="0">
              <a:buNone/>
            </a:pPr>
            <a:r>
              <a:rPr lang="fr-FR" i="1" dirty="0"/>
              <a:t>Exemple :</a:t>
            </a:r>
            <a:r>
              <a:rPr lang="fr-FR" dirty="0"/>
              <a:t> « Si le coût de l'énergie </a:t>
            </a:r>
            <a:r>
              <a:rPr lang="fr-FR" b="1" dirty="0"/>
              <a:t>augmente</a:t>
            </a:r>
            <a:r>
              <a:rPr lang="fr-FR" dirty="0"/>
              <a:t>, les entreprises </a:t>
            </a:r>
            <a:r>
              <a:rPr lang="fr-FR" b="1" dirty="0"/>
              <a:t>devront</a:t>
            </a:r>
            <a:r>
              <a:rPr lang="fr-FR" dirty="0"/>
              <a:t> accélérer leur transition. »</a:t>
            </a:r>
          </a:p>
          <a:p>
            <a:pPr marL="0" indent="0">
              <a:buNone/>
            </a:pPr>
            <a:endParaRPr lang="fr-FR" dirty="0"/>
          </a:p>
        </p:txBody>
      </p:sp>
      <p:sp>
        <p:nvSpPr>
          <p:cNvPr id="2" name="Espace réservé du numéro de diapositive 1">
            <a:extLst>
              <a:ext uri="{FF2B5EF4-FFF2-40B4-BE49-F238E27FC236}">
                <a16:creationId xmlns:a16="http://schemas.microsoft.com/office/drawing/2014/main" id="{7A16B362-DF65-6634-2AB7-7EC496E28479}"/>
              </a:ext>
            </a:extLst>
          </p:cNvPr>
          <p:cNvSpPr>
            <a:spLocks noGrp="1"/>
          </p:cNvSpPr>
          <p:nvPr>
            <p:ph type="sldNum" sz="quarter" idx="12"/>
          </p:nvPr>
        </p:nvSpPr>
        <p:spPr/>
        <p:txBody>
          <a:bodyPr/>
          <a:lstStyle/>
          <a:p>
            <a:fld id="{49DB4E91-02F2-4120-BFDC-D5317FE06960}" type="slidenum">
              <a:rPr lang="fr-FR" smtClean="0"/>
              <a:t>10</a:t>
            </a:fld>
            <a:endParaRPr lang="fr-FR"/>
          </a:p>
        </p:txBody>
      </p:sp>
    </p:spTree>
    <p:extLst>
      <p:ext uri="{BB962C8B-B14F-4D97-AF65-F5344CB8AC3E}">
        <p14:creationId xmlns:p14="http://schemas.microsoft.com/office/powerpoint/2010/main" val="2837212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D30547B-3566-7B97-C5EC-3EBB2EF076E9}"/>
              </a:ext>
            </a:extLst>
          </p:cNvPr>
          <p:cNvSpPr>
            <a:spLocks noGrp="1"/>
          </p:cNvSpPr>
          <p:nvPr>
            <p:ph idx="1"/>
          </p:nvPr>
        </p:nvSpPr>
        <p:spPr>
          <a:xfrm>
            <a:off x="838200" y="717452"/>
            <a:ext cx="10515600" cy="5459511"/>
          </a:xfrm>
        </p:spPr>
        <p:txBody>
          <a:bodyPr>
            <a:normAutofit/>
          </a:bodyPr>
          <a:lstStyle/>
          <a:p>
            <a:pPr marL="0" indent="0">
              <a:buNone/>
            </a:pPr>
            <a:r>
              <a:rPr lang="fr-FR" dirty="0">
                <a:effectLst>
                  <a:outerShdw blurRad="38100" dist="38100" dir="2700000" algn="tl">
                    <a:srgbClr val="000000">
                      <a:alpha val="43137"/>
                    </a:srgbClr>
                  </a:outerShdw>
                </a:effectLst>
              </a:rPr>
              <a:t>L'hypothèse incertaine (L'irréel du présent) :</a:t>
            </a:r>
          </a:p>
          <a:p>
            <a:pPr marL="457200" lvl="1" indent="0">
              <a:buNone/>
            </a:pPr>
            <a:r>
              <a:rPr lang="fr-FR" dirty="0"/>
              <a:t>Structure : </a:t>
            </a:r>
            <a:r>
              <a:rPr lang="fr-FR" b="1" dirty="0"/>
              <a:t>Si + imparfait → conditionnel présent</a:t>
            </a:r>
            <a:endParaRPr lang="fr-FR" dirty="0"/>
          </a:p>
          <a:p>
            <a:pPr marL="457200" lvl="1" indent="0">
              <a:buNone/>
            </a:pPr>
            <a:r>
              <a:rPr lang="fr-FR" dirty="0"/>
              <a:t>Usage : Pour imaginer une situation contraire à la réalité actuelle ou très peu probable.</a:t>
            </a:r>
          </a:p>
          <a:p>
            <a:pPr marL="457200" lvl="1" indent="0">
              <a:buNone/>
            </a:pPr>
            <a:r>
              <a:rPr lang="fr-FR" i="1" dirty="0"/>
              <a:t>Exemple :</a:t>
            </a:r>
            <a:r>
              <a:rPr lang="fr-FR" dirty="0"/>
              <a:t> « Si nous </a:t>
            </a:r>
            <a:r>
              <a:rPr lang="fr-FR" b="1" dirty="0"/>
              <a:t>avions</a:t>
            </a:r>
            <a:r>
              <a:rPr lang="fr-FR" dirty="0"/>
              <a:t> un budget illimité, nous </a:t>
            </a:r>
            <a:r>
              <a:rPr lang="fr-FR" b="1" dirty="0"/>
              <a:t>développerions</a:t>
            </a:r>
            <a:r>
              <a:rPr lang="fr-FR" dirty="0"/>
              <a:t> ce prototype en un mois. »</a:t>
            </a:r>
          </a:p>
          <a:p>
            <a:pPr marL="0" indent="0">
              <a:buNone/>
            </a:pPr>
            <a:r>
              <a:rPr lang="fr-FR" dirty="0">
                <a:effectLst>
                  <a:outerShdw blurRad="38100" dist="38100" dir="2700000" algn="tl">
                    <a:srgbClr val="000000">
                      <a:alpha val="43137"/>
                    </a:srgbClr>
                  </a:outerShdw>
                </a:effectLst>
              </a:rPr>
              <a:t>Le regret ou le reproche (L'irréel du passé) :</a:t>
            </a:r>
          </a:p>
          <a:p>
            <a:pPr marL="457200" lvl="1" indent="0">
              <a:buNone/>
            </a:pPr>
            <a:r>
              <a:rPr lang="fr-FR" dirty="0"/>
              <a:t>Structure : </a:t>
            </a:r>
            <a:r>
              <a:rPr lang="fr-FR" b="1" dirty="0"/>
              <a:t>Si + plus-que-parfait → conditionnel passé</a:t>
            </a:r>
            <a:endParaRPr lang="fr-FR" dirty="0"/>
          </a:p>
          <a:p>
            <a:pPr marL="457200" lvl="1" indent="0">
              <a:buNone/>
            </a:pPr>
            <a:r>
              <a:rPr lang="fr-FR" dirty="0"/>
              <a:t>Usage : Pour un événement qui ne s'est pas produit.</a:t>
            </a:r>
          </a:p>
          <a:p>
            <a:pPr marL="457200" lvl="1" indent="0">
              <a:buNone/>
            </a:pPr>
            <a:r>
              <a:rPr lang="fr-FR" i="1" dirty="0"/>
              <a:t>Exemple :</a:t>
            </a:r>
            <a:r>
              <a:rPr lang="fr-FR" dirty="0"/>
              <a:t> « Si l'ingénieur </a:t>
            </a:r>
            <a:r>
              <a:rPr lang="fr-FR" b="1" dirty="0"/>
              <a:t>avait vérifié</a:t>
            </a:r>
            <a:r>
              <a:rPr lang="fr-FR" dirty="0"/>
              <a:t> les calculs, l'incident </a:t>
            </a:r>
            <a:r>
              <a:rPr lang="fr-FR" b="1" dirty="0"/>
              <a:t>aurait été évité</a:t>
            </a:r>
            <a:r>
              <a:rPr lang="fr-FR" dirty="0"/>
              <a:t>. »</a:t>
            </a:r>
          </a:p>
        </p:txBody>
      </p:sp>
      <p:sp>
        <p:nvSpPr>
          <p:cNvPr id="2" name="Espace réservé du numéro de diapositive 1">
            <a:extLst>
              <a:ext uri="{FF2B5EF4-FFF2-40B4-BE49-F238E27FC236}">
                <a16:creationId xmlns:a16="http://schemas.microsoft.com/office/drawing/2014/main" id="{43CE4F7B-1897-8A62-401D-7306142CB9C9}"/>
              </a:ext>
            </a:extLst>
          </p:cNvPr>
          <p:cNvSpPr>
            <a:spLocks noGrp="1"/>
          </p:cNvSpPr>
          <p:nvPr>
            <p:ph type="sldNum" sz="quarter" idx="12"/>
          </p:nvPr>
        </p:nvSpPr>
        <p:spPr/>
        <p:txBody>
          <a:bodyPr/>
          <a:lstStyle/>
          <a:p>
            <a:fld id="{49DB4E91-02F2-4120-BFDC-D5317FE06960}" type="slidenum">
              <a:rPr lang="fr-FR" smtClean="0"/>
              <a:t>11</a:t>
            </a:fld>
            <a:endParaRPr lang="fr-FR"/>
          </a:p>
        </p:txBody>
      </p:sp>
    </p:spTree>
    <p:extLst>
      <p:ext uri="{BB962C8B-B14F-4D97-AF65-F5344CB8AC3E}">
        <p14:creationId xmlns:p14="http://schemas.microsoft.com/office/powerpoint/2010/main" val="1107779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CE509A6-17DA-2632-6F08-04DC04941D1F}"/>
              </a:ext>
            </a:extLst>
          </p:cNvPr>
          <p:cNvSpPr>
            <a:spLocks noGrp="1"/>
          </p:cNvSpPr>
          <p:nvPr>
            <p:ph idx="1"/>
          </p:nvPr>
        </p:nvSpPr>
        <p:spPr>
          <a:xfrm>
            <a:off x="838200" y="633046"/>
            <a:ext cx="10515600" cy="5574571"/>
          </a:xfrm>
        </p:spPr>
        <p:txBody>
          <a:bodyPr>
            <a:normAutofit/>
          </a:bodyPr>
          <a:lstStyle/>
          <a:p>
            <a:pPr marL="1028700" lvl="1" indent="-571500">
              <a:buFont typeface="+mj-lt"/>
              <a:buAutoNum type="romanLcPeriod" startAt="4"/>
            </a:pPr>
            <a:r>
              <a:rPr lang="fr-FR" sz="3000" dirty="0"/>
              <a:t>Faire la promotion d’une entreprise </a:t>
            </a:r>
          </a:p>
          <a:p>
            <a:pPr marL="0" indent="0">
              <a:buNone/>
            </a:pPr>
            <a:r>
              <a:rPr lang="fr-FR" dirty="0"/>
              <a:t>Promouvoir une entreprise ne consiste plus seulement à vendre un produit, mais à valoriser un </a:t>
            </a:r>
            <a:r>
              <a:rPr lang="fr-FR" b="1" dirty="0"/>
              <a:t>écosystème</a:t>
            </a:r>
            <a:r>
              <a:rPr lang="fr-FR" dirty="0"/>
              <a:t>. Pour un ingénieur ou un manager, il s'agit de mettre en avant la </a:t>
            </a:r>
            <a:r>
              <a:rPr lang="fr-FR" b="1" dirty="0"/>
              <a:t>proposition de valeur</a:t>
            </a:r>
            <a:r>
              <a:rPr lang="fr-FR" dirty="0"/>
              <a:t>, l'éthique environnementale et la capacité d'innovation. L'argumentaire doit être structuré pour rassurer les investisseurs tout en séduisant les clients, en utilisant un ton qui oscille entre l'audace technologique et la fiabilité institutionnelle.</a:t>
            </a:r>
          </a:p>
          <a:p>
            <a:pPr marL="0" indent="0">
              <a:buNone/>
            </a:pPr>
            <a:endParaRPr lang="fr-FR" dirty="0"/>
          </a:p>
        </p:txBody>
      </p:sp>
      <p:sp>
        <p:nvSpPr>
          <p:cNvPr id="2" name="Espace réservé du numéro de diapositive 1">
            <a:extLst>
              <a:ext uri="{FF2B5EF4-FFF2-40B4-BE49-F238E27FC236}">
                <a16:creationId xmlns:a16="http://schemas.microsoft.com/office/drawing/2014/main" id="{746EE456-4556-AEE1-9875-2CBE71F89CAC}"/>
              </a:ext>
            </a:extLst>
          </p:cNvPr>
          <p:cNvSpPr>
            <a:spLocks noGrp="1"/>
          </p:cNvSpPr>
          <p:nvPr>
            <p:ph type="sldNum" sz="quarter" idx="12"/>
          </p:nvPr>
        </p:nvSpPr>
        <p:spPr/>
        <p:txBody>
          <a:bodyPr/>
          <a:lstStyle/>
          <a:p>
            <a:fld id="{49DB4E91-02F2-4120-BFDC-D5317FE06960}" type="slidenum">
              <a:rPr lang="fr-FR" smtClean="0"/>
              <a:t>12</a:t>
            </a:fld>
            <a:endParaRPr lang="fr-FR"/>
          </a:p>
        </p:txBody>
      </p:sp>
    </p:spTree>
    <p:extLst>
      <p:ext uri="{BB962C8B-B14F-4D97-AF65-F5344CB8AC3E}">
        <p14:creationId xmlns:p14="http://schemas.microsoft.com/office/powerpoint/2010/main" val="4001691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14984CB-420F-23DC-65BB-F930F0274070}"/>
              </a:ext>
            </a:extLst>
          </p:cNvPr>
          <p:cNvSpPr>
            <a:spLocks noGrp="1"/>
          </p:cNvSpPr>
          <p:nvPr>
            <p:ph idx="1"/>
          </p:nvPr>
        </p:nvSpPr>
        <p:spPr>
          <a:xfrm>
            <a:off x="838200" y="576775"/>
            <a:ext cx="10515600" cy="5600188"/>
          </a:xfrm>
        </p:spPr>
        <p:txBody>
          <a:bodyPr>
            <a:normAutofit fontScale="85000" lnSpcReduction="20000"/>
          </a:bodyPr>
          <a:lstStyle/>
          <a:p>
            <a:pPr marL="0" indent="0">
              <a:buNone/>
            </a:pPr>
            <a:r>
              <a:rPr lang="fr-FR" u="sng" dirty="0"/>
              <a:t>Valoriser l’expertise et l’innovation (Le savoir-faire)</a:t>
            </a:r>
          </a:p>
          <a:p>
            <a:pPr marL="0" indent="0">
              <a:buNone/>
            </a:pPr>
            <a:r>
              <a:rPr lang="fr-FR" dirty="0">
                <a:effectLst>
                  <a:outerShdw blurRad="38100" dist="38100" dir="2700000" algn="tl">
                    <a:srgbClr val="000000">
                      <a:alpha val="43137"/>
                    </a:srgbClr>
                  </a:outerShdw>
                </a:effectLst>
              </a:rPr>
              <a:t>Être à la pointe de / À l'avant-garde : </a:t>
            </a:r>
            <a:r>
              <a:rPr lang="fr-FR" dirty="0"/>
              <a:t>Occuper la première place dans un domaine technologique.</a:t>
            </a:r>
          </a:p>
          <a:p>
            <a:pPr marL="457200" lvl="1" indent="0">
              <a:buNone/>
            </a:pPr>
            <a:r>
              <a:rPr lang="fr-FR" i="1" dirty="0"/>
              <a:t>Exemple :</a:t>
            </a:r>
            <a:r>
              <a:rPr lang="fr-FR" dirty="0"/>
              <a:t> « Notre entreprise est </a:t>
            </a:r>
            <a:r>
              <a:rPr lang="fr-FR" b="1" dirty="0"/>
              <a:t>à la pointe de</a:t>
            </a:r>
            <a:r>
              <a:rPr lang="fr-FR" dirty="0"/>
              <a:t> la cybersécurité industrielle. »</a:t>
            </a:r>
          </a:p>
          <a:p>
            <a:pPr marL="0" indent="0">
              <a:buNone/>
            </a:pPr>
            <a:r>
              <a:rPr lang="fr-FR" dirty="0">
                <a:effectLst>
                  <a:outerShdw blurRad="38100" dist="38100" dir="2700000" algn="tl">
                    <a:srgbClr val="000000">
                      <a:alpha val="43137"/>
                    </a:srgbClr>
                  </a:outerShdw>
                </a:effectLst>
              </a:rPr>
              <a:t>Un savoir-faire disruptif : </a:t>
            </a:r>
            <a:r>
              <a:rPr lang="fr-FR" dirty="0"/>
              <a:t>Une compétence qui change radicalement les règles du marché.</a:t>
            </a:r>
          </a:p>
          <a:p>
            <a:pPr marL="457200" lvl="1" indent="0">
              <a:buNone/>
            </a:pPr>
            <a:r>
              <a:rPr lang="fr-FR" i="1" dirty="0"/>
              <a:t>Exemple :</a:t>
            </a:r>
            <a:r>
              <a:rPr lang="fr-FR" dirty="0"/>
              <a:t> « Grâce à un </a:t>
            </a:r>
            <a:r>
              <a:rPr lang="fr-FR" b="1" dirty="0"/>
              <a:t>savoir-faire disruptif</a:t>
            </a:r>
            <a:r>
              <a:rPr lang="fr-FR" dirty="0"/>
              <a:t> en intelligence artificielle, notre entreprise repense entièrement les processus traditionnels de gestion des données. »</a:t>
            </a:r>
          </a:p>
          <a:p>
            <a:pPr marL="0" indent="0">
              <a:buNone/>
            </a:pPr>
            <a:r>
              <a:rPr lang="fr-FR" dirty="0">
                <a:effectLst>
                  <a:outerShdw blurRad="38100" dist="38100" dir="2700000" algn="tl">
                    <a:srgbClr val="000000">
                      <a:alpha val="43137"/>
                    </a:srgbClr>
                  </a:outerShdw>
                </a:effectLst>
              </a:rPr>
              <a:t>L'ADN de l'entreprise : </a:t>
            </a:r>
            <a:r>
              <a:rPr lang="fr-FR" dirty="0"/>
              <a:t>Les valeurs fondamentales et l'identité qui dictent chaque décision.</a:t>
            </a:r>
          </a:p>
          <a:p>
            <a:pPr marL="457200" lvl="1" indent="0">
              <a:buNone/>
            </a:pPr>
            <a:r>
              <a:rPr lang="fr-FR" i="1" dirty="0"/>
              <a:t>Exemple </a:t>
            </a:r>
            <a:r>
              <a:rPr lang="fr-FR" dirty="0"/>
              <a:t>: « L’innovation responsable et l’excellence opérationnelle constituent </a:t>
            </a:r>
            <a:r>
              <a:rPr lang="fr-FR" b="1" dirty="0"/>
              <a:t>l’ADN de notre entreprise</a:t>
            </a:r>
            <a:r>
              <a:rPr lang="fr-FR" dirty="0"/>
              <a:t>, orientant chacune de nos décisions stratégiques. »</a:t>
            </a:r>
          </a:p>
          <a:p>
            <a:pPr marL="0" indent="0">
              <a:buNone/>
            </a:pPr>
            <a:r>
              <a:rPr lang="fr-FR" dirty="0">
                <a:effectLst>
                  <a:outerShdw blurRad="38100" dist="38100" dir="2700000" algn="tl">
                    <a:srgbClr val="000000">
                      <a:alpha val="43137"/>
                    </a:srgbClr>
                  </a:outerShdw>
                </a:effectLst>
              </a:rPr>
              <a:t>Relever les défis : </a:t>
            </a:r>
            <a:r>
              <a:rPr lang="fr-FR" dirty="0"/>
              <a:t>Montrer une capacité de résilience et d'adaptation.</a:t>
            </a:r>
          </a:p>
          <a:p>
            <a:pPr marL="457200" lvl="1" indent="0">
              <a:buNone/>
            </a:pPr>
            <a:r>
              <a:rPr lang="fr-FR" i="1" dirty="0"/>
              <a:t>Exemple</a:t>
            </a:r>
            <a:r>
              <a:rPr lang="fr-FR" dirty="0"/>
              <a:t> : « Dans un environnement en constante évolution, notre entreprise sait </a:t>
            </a:r>
            <a:r>
              <a:rPr lang="fr-FR" b="1" dirty="0"/>
              <a:t>relever les défis</a:t>
            </a:r>
            <a:r>
              <a:rPr lang="fr-FR" dirty="0"/>
              <a:t> en transformant les contraintes du marché en opportunités de croissance. »</a:t>
            </a:r>
          </a:p>
          <a:p>
            <a:pPr marL="0" indent="0">
              <a:buNone/>
            </a:pPr>
            <a:r>
              <a:rPr lang="fr-FR" dirty="0">
                <a:effectLst>
                  <a:outerShdw blurRad="38100" dist="38100" dir="2700000" algn="tl">
                    <a:srgbClr val="000000">
                      <a:alpha val="43137"/>
                    </a:srgbClr>
                  </a:outerShdw>
                </a:effectLst>
              </a:rPr>
              <a:t>Optimiser les performances : </a:t>
            </a:r>
            <a:r>
              <a:rPr lang="fr-FR" dirty="0"/>
              <a:t>Améliorer l'efficacité de manière quantifiable.</a:t>
            </a:r>
          </a:p>
          <a:p>
            <a:pPr marL="457200" lvl="1" indent="0">
              <a:buNone/>
            </a:pPr>
            <a:r>
              <a:rPr lang="fr-FR" i="1" dirty="0"/>
              <a:t>Exemple : </a:t>
            </a:r>
            <a:r>
              <a:rPr lang="fr-FR" dirty="0"/>
              <a:t>« Nos solutions permettent d’</a:t>
            </a:r>
            <a:r>
              <a:rPr lang="fr-FR" b="1" dirty="0"/>
              <a:t>optimiser les performances</a:t>
            </a:r>
            <a:r>
              <a:rPr lang="fr-FR" dirty="0"/>
              <a:t> de nos clients en réduisant leurs coûts opérationnels tout en augmentant leur productivité. »</a:t>
            </a:r>
            <a:endParaRPr lang="fr-FR" i="1" dirty="0"/>
          </a:p>
        </p:txBody>
      </p:sp>
      <p:sp>
        <p:nvSpPr>
          <p:cNvPr id="2" name="Espace réservé du numéro de diapositive 1">
            <a:extLst>
              <a:ext uri="{FF2B5EF4-FFF2-40B4-BE49-F238E27FC236}">
                <a16:creationId xmlns:a16="http://schemas.microsoft.com/office/drawing/2014/main" id="{12C91C5C-E708-9AB1-2E57-CCF2BB9E79C8}"/>
              </a:ext>
            </a:extLst>
          </p:cNvPr>
          <p:cNvSpPr>
            <a:spLocks noGrp="1"/>
          </p:cNvSpPr>
          <p:nvPr>
            <p:ph type="sldNum" sz="quarter" idx="12"/>
          </p:nvPr>
        </p:nvSpPr>
        <p:spPr/>
        <p:txBody>
          <a:bodyPr/>
          <a:lstStyle/>
          <a:p>
            <a:fld id="{49DB4E91-02F2-4120-BFDC-D5317FE06960}" type="slidenum">
              <a:rPr lang="fr-FR" smtClean="0"/>
              <a:t>13</a:t>
            </a:fld>
            <a:endParaRPr lang="fr-FR"/>
          </a:p>
        </p:txBody>
      </p:sp>
    </p:spTree>
    <p:extLst>
      <p:ext uri="{BB962C8B-B14F-4D97-AF65-F5344CB8AC3E}">
        <p14:creationId xmlns:p14="http://schemas.microsoft.com/office/powerpoint/2010/main" val="2761059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88F1222-07D7-C1E7-A5F2-42E2367D7F05}"/>
              </a:ext>
            </a:extLst>
          </p:cNvPr>
          <p:cNvSpPr>
            <a:spLocks noGrp="1"/>
          </p:cNvSpPr>
          <p:nvPr>
            <p:ph idx="1"/>
          </p:nvPr>
        </p:nvSpPr>
        <p:spPr>
          <a:xfrm>
            <a:off x="838200" y="562708"/>
            <a:ext cx="10515600" cy="5793642"/>
          </a:xfrm>
        </p:spPr>
        <p:txBody>
          <a:bodyPr>
            <a:normAutofit fontScale="77500" lnSpcReduction="20000"/>
          </a:bodyPr>
          <a:lstStyle/>
          <a:p>
            <a:pPr marL="0" indent="0">
              <a:buNone/>
            </a:pPr>
            <a:r>
              <a:rPr lang="fr-FR" u="sng" dirty="0"/>
              <a:t>L’argumentaire de confiance et de crédibilité (La crédibilité)</a:t>
            </a:r>
          </a:p>
          <a:p>
            <a:pPr marL="0" indent="0">
              <a:buNone/>
            </a:pPr>
            <a:r>
              <a:rPr lang="fr-FR" dirty="0"/>
              <a:t>Promouvoir, c'est aussi garantir la stabilité et la qualité sur le long terme.</a:t>
            </a:r>
          </a:p>
          <a:p>
            <a:pPr marL="0" indent="0">
              <a:buNone/>
            </a:pPr>
            <a:r>
              <a:rPr lang="fr-FR" dirty="0">
                <a:effectLst>
                  <a:outerShdw blurRad="38100" dist="38100" dir="2700000" algn="tl">
                    <a:srgbClr val="000000">
                      <a:alpha val="43137"/>
                    </a:srgbClr>
                  </a:outerShdw>
                </a:effectLst>
              </a:rPr>
              <a:t>Une expertise reconnue : </a:t>
            </a:r>
            <a:r>
              <a:rPr lang="fr-FR" dirty="0"/>
              <a:t>Jouir d'une légitimité établie par les pairs ou les certifications (ISO, etc.).</a:t>
            </a:r>
          </a:p>
          <a:p>
            <a:pPr marL="457200" lvl="1" indent="0">
              <a:buNone/>
            </a:pPr>
            <a:r>
              <a:rPr lang="fr-FR" i="1" dirty="0"/>
              <a:t>Exemple : </a:t>
            </a:r>
            <a:r>
              <a:rPr lang="fr-FR" dirty="0"/>
              <a:t>« Forte d’une </a:t>
            </a:r>
            <a:r>
              <a:rPr lang="fr-FR" b="1" dirty="0"/>
              <a:t>expertise reconnue</a:t>
            </a:r>
            <a:r>
              <a:rPr lang="fr-FR" dirty="0"/>
              <a:t>, notre entreprise s’appuie sur des certifications internationales et sur la confiance renouvelée de partenaires de renom. »</a:t>
            </a:r>
          </a:p>
          <a:p>
            <a:pPr marL="0" indent="0">
              <a:buNone/>
            </a:pPr>
            <a:r>
              <a:rPr lang="fr-FR" dirty="0">
                <a:effectLst>
                  <a:outerShdw blurRad="38100" dist="38100" dir="2700000" algn="tl">
                    <a:srgbClr val="000000">
                      <a:alpha val="43137"/>
                    </a:srgbClr>
                  </a:outerShdw>
                </a:effectLst>
              </a:rPr>
              <a:t>L'excellence opérationnelle : </a:t>
            </a:r>
            <a:r>
              <a:rPr lang="fr-FR" dirty="0"/>
              <a:t>Viser la perfection dans l'exécution des processus.</a:t>
            </a:r>
          </a:p>
          <a:p>
            <a:pPr marL="457200" lvl="1" indent="0">
              <a:buNone/>
            </a:pPr>
            <a:r>
              <a:rPr lang="fr-FR" i="1" dirty="0"/>
              <a:t>Exemple : </a:t>
            </a:r>
            <a:r>
              <a:rPr lang="fr-FR" dirty="0"/>
              <a:t>« Notre engagement en faveur de </a:t>
            </a:r>
            <a:r>
              <a:rPr lang="fr-FR" b="1" dirty="0"/>
              <a:t>l’excellence opérationnelle</a:t>
            </a:r>
            <a:r>
              <a:rPr lang="fr-FR" dirty="0"/>
              <a:t> se traduit par des processus rigoureux garantissant qualité, fiabilité et respect des délais. »</a:t>
            </a:r>
          </a:p>
          <a:p>
            <a:pPr marL="0" indent="0">
              <a:buNone/>
            </a:pPr>
            <a:r>
              <a:rPr lang="fr-FR" dirty="0">
                <a:effectLst>
                  <a:outerShdw blurRad="38100" dist="38100" dir="2700000" algn="tl">
                    <a:srgbClr val="000000">
                      <a:alpha val="43137"/>
                    </a:srgbClr>
                  </a:outerShdw>
                </a:effectLst>
              </a:rPr>
              <a:t>Un partenaire de référence : </a:t>
            </a:r>
            <a:r>
              <a:rPr lang="fr-FR" dirty="0"/>
              <a:t>S'imposer comme le choix évident dans son secteur.</a:t>
            </a:r>
          </a:p>
          <a:p>
            <a:pPr marL="457200" lvl="1" indent="0">
              <a:buNone/>
            </a:pPr>
            <a:r>
              <a:rPr lang="fr-FR" i="1" dirty="0"/>
              <a:t>Exemple : </a:t>
            </a:r>
            <a:r>
              <a:rPr lang="fr-FR" dirty="0"/>
              <a:t>« Grâce à la constance de nos résultats et à la qualité de nos prestations, nous sommes aujourd’hui reconnus comme </a:t>
            </a:r>
            <a:r>
              <a:rPr lang="fr-FR" b="1" dirty="0"/>
              <a:t>un partenaire de référence</a:t>
            </a:r>
            <a:r>
              <a:rPr lang="fr-FR" dirty="0"/>
              <a:t> par nos clients et collaborateurs. »</a:t>
            </a:r>
          </a:p>
          <a:p>
            <a:pPr marL="0" indent="0">
              <a:buNone/>
            </a:pPr>
            <a:r>
              <a:rPr lang="fr-FR" dirty="0">
                <a:effectLst>
                  <a:outerShdw blurRad="38100" dist="38100" dir="2700000" algn="tl">
                    <a:srgbClr val="000000">
                      <a:alpha val="43137"/>
                    </a:srgbClr>
                  </a:outerShdw>
                </a:effectLst>
              </a:rPr>
              <a:t>Placer le client au cœur de la stratégie : </a:t>
            </a:r>
            <a:r>
              <a:rPr lang="fr-FR" dirty="0"/>
              <a:t>Utiliser l'approche « User-</a:t>
            </a:r>
            <a:r>
              <a:rPr lang="fr-FR" dirty="0" err="1"/>
              <a:t>Centric</a:t>
            </a:r>
            <a:r>
              <a:rPr lang="fr-FR" dirty="0"/>
              <a:t> » pour démontrer l'écoute et l'adaptabilité.</a:t>
            </a:r>
          </a:p>
          <a:p>
            <a:pPr marL="457200" lvl="1" indent="0">
              <a:buNone/>
            </a:pPr>
            <a:r>
              <a:rPr lang="fr-FR" i="1" dirty="0"/>
              <a:t>Exemple : </a:t>
            </a:r>
            <a:r>
              <a:rPr lang="fr-FR" dirty="0"/>
              <a:t>« En plaçant le client au cœur de notre stratégie, nous concevons des solutions sur mesure, adaptées aux besoins réels et évolutifs de chaque organisation. »</a:t>
            </a:r>
          </a:p>
          <a:p>
            <a:pPr marL="0" indent="0">
              <a:buNone/>
            </a:pPr>
            <a:r>
              <a:rPr lang="fr-FR" dirty="0">
                <a:effectLst>
                  <a:outerShdw blurRad="38100" dist="38100" dir="2700000" algn="tl">
                    <a:srgbClr val="000000">
                      <a:alpha val="43137"/>
                    </a:srgbClr>
                  </a:outerShdw>
                </a:effectLst>
              </a:rPr>
              <a:t>Gager sur la transparence : </a:t>
            </a:r>
            <a:r>
              <a:rPr lang="fr-FR" dirty="0"/>
              <a:t>Un argument fort de nos jours pour instaurer une relation de confiance durable.</a:t>
            </a:r>
          </a:p>
          <a:p>
            <a:pPr marL="457200" lvl="1" indent="0">
              <a:buNone/>
            </a:pPr>
            <a:r>
              <a:rPr lang="fr-FR" i="1" dirty="0"/>
              <a:t>Exemple : </a:t>
            </a:r>
            <a:r>
              <a:rPr lang="fr-FR" dirty="0"/>
              <a:t>« Nous avons fait le choix de </a:t>
            </a:r>
            <a:r>
              <a:rPr lang="fr-FR" b="1" dirty="0"/>
              <a:t>gager sur la transparence</a:t>
            </a:r>
            <a:r>
              <a:rPr lang="fr-FR" dirty="0"/>
              <a:t>, en privilégiant une communication claire, des engagements mesurables et une relation de confiance durable avec nos partenaires. »</a:t>
            </a:r>
          </a:p>
          <a:p>
            <a:pPr marL="0" indent="0">
              <a:buNone/>
            </a:pPr>
            <a:endParaRPr lang="fr-FR" dirty="0"/>
          </a:p>
        </p:txBody>
      </p:sp>
      <p:sp>
        <p:nvSpPr>
          <p:cNvPr id="2" name="Espace réservé du numéro de diapositive 1">
            <a:extLst>
              <a:ext uri="{FF2B5EF4-FFF2-40B4-BE49-F238E27FC236}">
                <a16:creationId xmlns:a16="http://schemas.microsoft.com/office/drawing/2014/main" id="{EF347624-D7DA-FEEB-DE32-AFD1A0F8DE69}"/>
              </a:ext>
            </a:extLst>
          </p:cNvPr>
          <p:cNvSpPr>
            <a:spLocks noGrp="1"/>
          </p:cNvSpPr>
          <p:nvPr>
            <p:ph type="sldNum" sz="quarter" idx="12"/>
          </p:nvPr>
        </p:nvSpPr>
        <p:spPr/>
        <p:txBody>
          <a:bodyPr/>
          <a:lstStyle/>
          <a:p>
            <a:fld id="{49DB4E91-02F2-4120-BFDC-D5317FE06960}" type="slidenum">
              <a:rPr lang="fr-FR" smtClean="0"/>
              <a:t>14</a:t>
            </a:fld>
            <a:endParaRPr lang="fr-FR"/>
          </a:p>
        </p:txBody>
      </p:sp>
    </p:spTree>
    <p:extLst>
      <p:ext uri="{BB962C8B-B14F-4D97-AF65-F5344CB8AC3E}">
        <p14:creationId xmlns:p14="http://schemas.microsoft.com/office/powerpoint/2010/main" val="1915844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79FBF35-66BC-37E5-66F7-2637A950F861}"/>
              </a:ext>
            </a:extLst>
          </p:cNvPr>
          <p:cNvSpPr>
            <a:spLocks noGrp="1"/>
          </p:cNvSpPr>
          <p:nvPr>
            <p:ph idx="1"/>
          </p:nvPr>
        </p:nvSpPr>
        <p:spPr>
          <a:xfrm>
            <a:off x="838200" y="647114"/>
            <a:ext cx="10515600" cy="5418835"/>
          </a:xfrm>
        </p:spPr>
        <p:txBody>
          <a:bodyPr>
            <a:normAutofit fontScale="92500" lnSpcReduction="20000"/>
          </a:bodyPr>
          <a:lstStyle/>
          <a:p>
            <a:pPr marL="0" indent="0">
              <a:buNone/>
            </a:pPr>
            <a:r>
              <a:rPr lang="fr-FR" sz="2400" u="sng" dirty="0"/>
              <a:t>La responsabilité sociétale et environnementale (RSE)</a:t>
            </a:r>
          </a:p>
          <a:p>
            <a:pPr marL="0" indent="0">
              <a:buNone/>
            </a:pPr>
            <a:r>
              <a:rPr lang="fr-FR" sz="2400" dirty="0"/>
              <a:t>Une promotion efficace est indissociable de l'impact positif de l'entreprise.</a:t>
            </a:r>
          </a:p>
          <a:p>
            <a:pPr marL="0" indent="0">
              <a:buNone/>
            </a:pPr>
            <a:r>
              <a:rPr lang="fr-FR" sz="2400" dirty="0">
                <a:effectLst>
                  <a:outerShdw blurRad="38100" dist="38100" dir="2700000" algn="tl">
                    <a:srgbClr val="000000">
                      <a:alpha val="43137"/>
                    </a:srgbClr>
                  </a:outerShdw>
                </a:effectLst>
              </a:rPr>
              <a:t>La décarbonation des activités : </a:t>
            </a:r>
            <a:r>
              <a:rPr lang="fr-FR" sz="2400" dirty="0"/>
              <a:t>Réduire activement l'empreinte carbone.</a:t>
            </a:r>
          </a:p>
          <a:p>
            <a:pPr marL="457200" lvl="1" indent="0">
              <a:buNone/>
            </a:pPr>
            <a:r>
              <a:rPr lang="fr-FR" sz="1800" dirty="0"/>
              <a:t>Exemple : « Notre stratégie de </a:t>
            </a:r>
            <a:r>
              <a:rPr lang="fr-FR" sz="1800" b="1" dirty="0"/>
              <a:t>décarbonation des activités</a:t>
            </a:r>
            <a:r>
              <a:rPr lang="fr-FR" sz="1800" dirty="0"/>
              <a:t> repose sur l’optimisation énergétique de nos infrastructures et sur l’intégration de solutions technologiques à faible impact environnemental. »</a:t>
            </a:r>
          </a:p>
          <a:p>
            <a:pPr marL="0" indent="0">
              <a:buNone/>
            </a:pPr>
            <a:r>
              <a:rPr lang="fr-FR" sz="2400" dirty="0">
                <a:effectLst>
                  <a:outerShdw blurRad="38100" dist="38100" dir="2700000" algn="tl">
                    <a:srgbClr val="000000">
                      <a:alpha val="43137"/>
                    </a:srgbClr>
                  </a:outerShdw>
                </a:effectLst>
              </a:rPr>
              <a:t>Un engagement écoresponsable : </a:t>
            </a:r>
            <a:r>
              <a:rPr lang="fr-FR" sz="2400" dirty="0"/>
              <a:t>Intégrer le respect de l'environnement dans le modèle économique.</a:t>
            </a:r>
          </a:p>
          <a:p>
            <a:pPr marL="457200" lvl="1" indent="0">
              <a:buNone/>
            </a:pPr>
            <a:r>
              <a:rPr lang="fr-FR" sz="1800" dirty="0"/>
              <a:t>Exemple : « À travers un </a:t>
            </a:r>
            <a:r>
              <a:rPr lang="fr-FR" sz="1800" b="1" dirty="0"/>
              <a:t>engagement écoresponsable</a:t>
            </a:r>
            <a:r>
              <a:rPr lang="fr-FR" sz="1800" dirty="0"/>
              <a:t> fort, notre entreprise intègre les principes du développement durable dans l’ensemble de sa chaîne de valeur. »</a:t>
            </a:r>
          </a:p>
          <a:p>
            <a:pPr marL="0" indent="0">
              <a:buNone/>
            </a:pPr>
            <a:r>
              <a:rPr lang="fr-FR" sz="2400" dirty="0">
                <a:effectLst>
                  <a:outerShdw blurRad="38100" dist="38100" dir="2700000" algn="tl">
                    <a:srgbClr val="000000">
                      <a:alpha val="43137"/>
                    </a:srgbClr>
                  </a:outerShdw>
                </a:effectLst>
              </a:rPr>
              <a:t>L'éthique des affaires </a:t>
            </a:r>
            <a:r>
              <a:rPr lang="fr-FR" sz="2400" b="1" dirty="0"/>
              <a:t>:</a:t>
            </a:r>
            <a:r>
              <a:rPr lang="fr-FR" sz="2400" dirty="0"/>
              <a:t> Agir avec intégrité vis-à-vis des parties prenantes.</a:t>
            </a:r>
          </a:p>
          <a:p>
            <a:pPr marL="457200" lvl="1" indent="0">
              <a:buNone/>
            </a:pPr>
            <a:r>
              <a:rPr lang="fr-FR" sz="1800" dirty="0"/>
              <a:t>Exemple : « L’</a:t>
            </a:r>
            <a:r>
              <a:rPr lang="fr-FR" sz="1800" b="1" dirty="0"/>
              <a:t>éthique des affaires</a:t>
            </a:r>
            <a:r>
              <a:rPr lang="fr-FR" sz="1800" dirty="0"/>
              <a:t> constitue un pilier fondamental de notre gouvernance, garantissant des relations transparentes et équitables avec nos collaborateurs, clients et partenaires. »</a:t>
            </a:r>
          </a:p>
          <a:p>
            <a:pPr marL="0" indent="0">
              <a:buNone/>
            </a:pPr>
            <a:r>
              <a:rPr lang="fr-FR" sz="2400" dirty="0">
                <a:effectLst>
                  <a:outerShdw blurRad="38100" dist="38100" dir="2700000" algn="tl">
                    <a:srgbClr val="000000">
                      <a:alpha val="43137"/>
                    </a:srgbClr>
                  </a:outerShdw>
                </a:effectLst>
              </a:rPr>
              <a:t>L'innovation sociale : </a:t>
            </a:r>
            <a:r>
              <a:rPr lang="fr-FR" sz="2400" dirty="0"/>
              <a:t>Développer des solutions qui améliorent les conditions de vie ou de travail.</a:t>
            </a:r>
          </a:p>
          <a:p>
            <a:pPr marL="457200" lvl="1" indent="0">
              <a:buNone/>
            </a:pPr>
            <a:r>
              <a:rPr lang="fr-FR" sz="1800" dirty="0"/>
              <a:t>Exemple : « En misant sur l’</a:t>
            </a:r>
            <a:r>
              <a:rPr lang="fr-FR" sz="1800" b="1" dirty="0"/>
              <a:t>innovation sociale</a:t>
            </a:r>
            <a:r>
              <a:rPr lang="fr-FR" sz="1800" dirty="0"/>
              <a:t>, nous concevons des solutions technologiques qui favorisent l’inclusion, le bien-être au travail et l’amélioration durable des conditions professionnelles. »</a:t>
            </a:r>
          </a:p>
          <a:p>
            <a:pPr marL="0" indent="0">
              <a:buNone/>
            </a:pPr>
            <a:r>
              <a:rPr lang="fr-FR" sz="2400" dirty="0">
                <a:effectLst>
                  <a:outerShdw blurRad="38100" dist="38100" dir="2700000" algn="tl">
                    <a:srgbClr val="000000">
                      <a:alpha val="43137"/>
                    </a:srgbClr>
                  </a:outerShdw>
                </a:effectLst>
              </a:rPr>
              <a:t>Le rayonnement international : </a:t>
            </a:r>
            <a:r>
              <a:rPr lang="fr-FR" sz="2400" dirty="0"/>
              <a:t>Souligner l'influence et la présence globale de la marque. </a:t>
            </a:r>
          </a:p>
          <a:p>
            <a:pPr marL="457200" lvl="1" indent="0">
              <a:buNone/>
            </a:pPr>
            <a:r>
              <a:rPr lang="fr-FR" sz="1800" dirty="0"/>
              <a:t>Exemple : « Fort de son </a:t>
            </a:r>
            <a:r>
              <a:rPr lang="fr-FR" sz="1800" b="1" dirty="0"/>
              <a:t>rayonnement international</a:t>
            </a:r>
            <a:r>
              <a:rPr lang="fr-FR" sz="1800" dirty="0"/>
              <a:t>, notre groupe accompagne ses clients à l’échelle mondiale grâce à une présence active sur plusieurs marchés stratégiques. »</a:t>
            </a:r>
          </a:p>
        </p:txBody>
      </p:sp>
      <p:sp>
        <p:nvSpPr>
          <p:cNvPr id="2" name="Espace réservé du numéro de diapositive 1">
            <a:extLst>
              <a:ext uri="{FF2B5EF4-FFF2-40B4-BE49-F238E27FC236}">
                <a16:creationId xmlns:a16="http://schemas.microsoft.com/office/drawing/2014/main" id="{D7AC7992-8F6D-75EE-F4FC-8C60FFD048A5}"/>
              </a:ext>
            </a:extLst>
          </p:cNvPr>
          <p:cNvSpPr>
            <a:spLocks noGrp="1"/>
          </p:cNvSpPr>
          <p:nvPr>
            <p:ph type="sldNum" sz="quarter" idx="12"/>
          </p:nvPr>
        </p:nvSpPr>
        <p:spPr/>
        <p:txBody>
          <a:bodyPr/>
          <a:lstStyle/>
          <a:p>
            <a:fld id="{49DB4E91-02F2-4120-BFDC-D5317FE06960}" type="slidenum">
              <a:rPr lang="fr-FR" smtClean="0"/>
              <a:t>15</a:t>
            </a:fld>
            <a:endParaRPr lang="fr-FR"/>
          </a:p>
        </p:txBody>
      </p:sp>
    </p:spTree>
    <p:extLst>
      <p:ext uri="{BB962C8B-B14F-4D97-AF65-F5344CB8AC3E}">
        <p14:creationId xmlns:p14="http://schemas.microsoft.com/office/powerpoint/2010/main" val="1356395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35B50B0-A468-EAA7-04E0-9103E56574C3}"/>
              </a:ext>
            </a:extLst>
          </p:cNvPr>
          <p:cNvSpPr>
            <a:spLocks noGrp="1"/>
          </p:cNvSpPr>
          <p:nvPr>
            <p:ph idx="1"/>
          </p:nvPr>
        </p:nvSpPr>
        <p:spPr>
          <a:xfrm>
            <a:off x="838200" y="633046"/>
            <a:ext cx="10515600" cy="5543917"/>
          </a:xfrm>
        </p:spPr>
        <p:txBody>
          <a:bodyPr>
            <a:normAutofit fontScale="85000" lnSpcReduction="20000"/>
          </a:bodyPr>
          <a:lstStyle/>
          <a:p>
            <a:pPr marL="1028700" lvl="1" indent="-571500">
              <a:buFont typeface="+mj-lt"/>
              <a:buAutoNum type="romanLcPeriod" startAt="5"/>
            </a:pPr>
            <a:r>
              <a:rPr lang="fr-FR" sz="3100" dirty="0"/>
              <a:t>Répondre à une offre d’emploi</a:t>
            </a:r>
          </a:p>
          <a:p>
            <a:pPr marL="0" indent="0">
              <a:buNone/>
            </a:pPr>
            <a:r>
              <a:rPr lang="fr-FR" dirty="0"/>
              <a:t>Répondre à une offre d'emploi exige une structure rigoureuse qui articule votre </a:t>
            </a:r>
            <a:r>
              <a:rPr lang="fr-FR" b="1" dirty="0"/>
              <a:t>parcours académique</a:t>
            </a:r>
            <a:r>
              <a:rPr lang="fr-FR" dirty="0"/>
              <a:t> avec les </a:t>
            </a:r>
            <a:r>
              <a:rPr lang="fr-FR" b="1" dirty="0"/>
              <a:t>besoins stratégiques</a:t>
            </a:r>
            <a:r>
              <a:rPr lang="fr-FR" dirty="0"/>
              <a:t> de l'entreprise.</a:t>
            </a:r>
          </a:p>
          <a:p>
            <a:pPr marL="0" indent="0">
              <a:buNone/>
            </a:pPr>
            <a:r>
              <a:rPr lang="fr-FR" u="sng" dirty="0"/>
              <a:t>La structure de l’argumentaire (Vous – Moi – Nous)</a:t>
            </a:r>
          </a:p>
          <a:p>
            <a:pPr marL="0" indent="0">
              <a:buNone/>
            </a:pPr>
            <a:r>
              <a:rPr lang="fr-FR" dirty="0"/>
              <a:t>Pour convaincre un recruteur, votre réponse doit suivre une progression logique et valorisante :</a:t>
            </a:r>
          </a:p>
          <a:p>
            <a:pPr marL="0" indent="0">
              <a:buNone/>
            </a:pPr>
            <a:r>
              <a:rPr lang="fr-FR" dirty="0">
                <a:effectLst>
                  <a:outerShdw blurRad="38100" dist="38100" dir="2700000" algn="tl">
                    <a:srgbClr val="000000">
                      <a:alpha val="43137"/>
                    </a:srgbClr>
                  </a:outerShdw>
                </a:effectLst>
              </a:rPr>
              <a:t>L'accroche (Le « Vous ») : </a:t>
            </a:r>
            <a:r>
              <a:rPr lang="fr-FR" dirty="0"/>
              <a:t>Démontrez votre compréhension des enjeux de l'entreprise.</a:t>
            </a:r>
          </a:p>
          <a:p>
            <a:pPr marL="457200" lvl="1" indent="0">
              <a:buNone/>
            </a:pPr>
            <a:r>
              <a:rPr lang="fr-FR" i="1" dirty="0"/>
              <a:t>Expression :</a:t>
            </a:r>
            <a:r>
              <a:rPr lang="fr-FR" dirty="0"/>
              <a:t> « Très attentif au développement de votre groupe dans le secteur de [secteur], j'ai relevé avec un vif intérêt votre offre pour le poste de... »</a:t>
            </a:r>
          </a:p>
          <a:p>
            <a:pPr marL="0" indent="0">
              <a:buNone/>
            </a:pPr>
            <a:r>
              <a:rPr lang="fr-FR" dirty="0">
                <a:effectLst>
                  <a:outerShdw blurRad="38100" dist="38100" dir="2700000" algn="tl">
                    <a:srgbClr val="000000">
                      <a:alpha val="43137"/>
                    </a:srgbClr>
                  </a:outerShdw>
                </a:effectLst>
              </a:rPr>
              <a:t>La proposition de valeur (Le « Moi ») : </a:t>
            </a:r>
            <a:r>
              <a:rPr lang="fr-FR" dirty="0"/>
              <a:t>Mettez en avant vos compétences techniques (Hard </a:t>
            </a:r>
            <a:r>
              <a:rPr lang="fr-FR" dirty="0" err="1"/>
              <a:t>Skills</a:t>
            </a:r>
            <a:r>
              <a:rPr lang="fr-FR" dirty="0"/>
              <a:t>) et comportementales (Soft </a:t>
            </a:r>
            <a:r>
              <a:rPr lang="fr-FR" dirty="0" err="1"/>
              <a:t>Skills</a:t>
            </a:r>
            <a:r>
              <a:rPr lang="fr-FR" dirty="0"/>
              <a:t>).</a:t>
            </a:r>
          </a:p>
          <a:p>
            <a:pPr marL="457200" lvl="1" indent="0">
              <a:buNone/>
            </a:pPr>
            <a:r>
              <a:rPr lang="fr-FR" i="1" dirty="0"/>
              <a:t>Expression :</a:t>
            </a:r>
            <a:r>
              <a:rPr lang="fr-FR" dirty="0"/>
              <a:t> « Fort d'une formation d'ingénieur d'excellence à l'EMSI, j'ai acquis une solide expertise en [compétence]. Mon stage chez [Entreprise] m'a permis de </a:t>
            </a:r>
            <a:r>
              <a:rPr lang="fr-FR" b="1" dirty="0"/>
              <a:t>piloter</a:t>
            </a:r>
            <a:r>
              <a:rPr lang="fr-FR" dirty="0"/>
              <a:t> des projets complexes en toute autonomie. »</a:t>
            </a:r>
          </a:p>
          <a:p>
            <a:pPr marL="0" indent="0">
              <a:buNone/>
            </a:pPr>
            <a:r>
              <a:rPr lang="fr-FR" dirty="0">
                <a:effectLst>
                  <a:outerShdw blurRad="38100" dist="38100" dir="2700000" algn="tl">
                    <a:srgbClr val="000000">
                      <a:alpha val="43137"/>
                    </a:srgbClr>
                  </a:outerShdw>
                </a:effectLst>
              </a:rPr>
              <a:t>La projection (Le « Nous ») : </a:t>
            </a:r>
            <a:r>
              <a:rPr lang="fr-FR" dirty="0"/>
              <a:t>Expliquez ce que vous allez apporter concrètement.</a:t>
            </a:r>
          </a:p>
          <a:p>
            <a:pPr marL="457200" lvl="1" indent="0">
              <a:buNone/>
            </a:pPr>
            <a:r>
              <a:rPr lang="fr-FR" i="1" dirty="0"/>
              <a:t>Expression :</a:t>
            </a:r>
            <a:r>
              <a:rPr lang="fr-FR" dirty="0"/>
              <a:t> « Je suis convaincu que ma capacité d'adaptation et mon goût pour l'innovation technique sauront </a:t>
            </a:r>
            <a:r>
              <a:rPr lang="fr-FR" b="1" dirty="0"/>
              <a:t>contribuer au rayonnement</a:t>
            </a:r>
            <a:r>
              <a:rPr lang="fr-FR" dirty="0"/>
              <a:t> de votre département R&amp;D. »</a:t>
            </a:r>
          </a:p>
          <a:p>
            <a:pPr marL="0" indent="0">
              <a:buNone/>
            </a:pPr>
            <a:endParaRPr lang="fr-FR" dirty="0"/>
          </a:p>
        </p:txBody>
      </p:sp>
      <p:sp>
        <p:nvSpPr>
          <p:cNvPr id="2" name="Espace réservé du numéro de diapositive 1">
            <a:extLst>
              <a:ext uri="{FF2B5EF4-FFF2-40B4-BE49-F238E27FC236}">
                <a16:creationId xmlns:a16="http://schemas.microsoft.com/office/drawing/2014/main" id="{DA586B0F-F7EA-8F8F-9DD5-DF3FDE20ACE3}"/>
              </a:ext>
            </a:extLst>
          </p:cNvPr>
          <p:cNvSpPr>
            <a:spLocks noGrp="1"/>
          </p:cNvSpPr>
          <p:nvPr>
            <p:ph type="sldNum" sz="quarter" idx="12"/>
          </p:nvPr>
        </p:nvSpPr>
        <p:spPr/>
        <p:txBody>
          <a:bodyPr/>
          <a:lstStyle/>
          <a:p>
            <a:fld id="{49DB4E91-02F2-4120-BFDC-D5317FE06960}" type="slidenum">
              <a:rPr lang="fr-FR" smtClean="0"/>
              <a:t>16</a:t>
            </a:fld>
            <a:endParaRPr lang="fr-FR"/>
          </a:p>
        </p:txBody>
      </p:sp>
    </p:spTree>
    <p:extLst>
      <p:ext uri="{BB962C8B-B14F-4D97-AF65-F5344CB8AC3E}">
        <p14:creationId xmlns:p14="http://schemas.microsoft.com/office/powerpoint/2010/main" val="3373457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94B613B-1226-5B89-5ED4-54D1B9428C8A}"/>
              </a:ext>
            </a:extLst>
          </p:cNvPr>
          <p:cNvSpPr>
            <a:spLocks noGrp="1"/>
          </p:cNvSpPr>
          <p:nvPr>
            <p:ph idx="1"/>
          </p:nvPr>
        </p:nvSpPr>
        <p:spPr>
          <a:xfrm>
            <a:off x="838200" y="633046"/>
            <a:ext cx="10515600" cy="5543917"/>
          </a:xfrm>
        </p:spPr>
        <p:txBody>
          <a:bodyPr/>
          <a:lstStyle/>
          <a:p>
            <a:pPr marL="0" indent="0">
              <a:buNone/>
            </a:pPr>
            <a:r>
              <a:rPr lang="fr-FR" u="sng" dirty="0"/>
              <a:t>Formules de politesse et lexique de l’engagement</a:t>
            </a:r>
          </a:p>
          <a:p>
            <a:pPr marL="0" indent="0">
              <a:buNone/>
            </a:pPr>
            <a:r>
              <a:rPr lang="fr-FR" dirty="0"/>
              <a:t>En fin de candidature, le ton doit être proactif et formel pour inciter à l'action.</a:t>
            </a:r>
          </a:p>
          <a:p>
            <a:pPr marL="0" indent="0">
              <a:buNone/>
            </a:pPr>
            <a:r>
              <a:rPr lang="fr-FR" dirty="0">
                <a:effectLst>
                  <a:outerShdw blurRad="38100" dist="38100" dir="2700000" algn="tl">
                    <a:srgbClr val="000000">
                      <a:alpha val="43137"/>
                    </a:srgbClr>
                  </a:outerShdw>
                </a:effectLst>
              </a:rPr>
              <a:t>Solliciter l'entretien : </a:t>
            </a:r>
            <a:r>
              <a:rPr lang="fr-FR" dirty="0"/>
              <a:t>« Je me tiens à votre entière disposition pour convenir d'un entretien afin de vous exposer de vive voix mes motivations. »</a:t>
            </a:r>
          </a:p>
          <a:p>
            <a:pPr marL="0" indent="0">
              <a:buNone/>
            </a:pPr>
            <a:r>
              <a:rPr lang="fr-FR" dirty="0">
                <a:effectLst>
                  <a:outerShdw blurRad="38100" dist="38100" dir="2700000" algn="tl">
                    <a:srgbClr val="000000">
                      <a:alpha val="43137"/>
                    </a:srgbClr>
                  </a:outerShdw>
                </a:effectLst>
              </a:rPr>
              <a:t>La prise de congé : </a:t>
            </a:r>
            <a:r>
              <a:rPr lang="fr-FR" dirty="0"/>
              <a:t>Évitez les formules trop lourdes. Préférez : « Dans l'attente de votre retour, je vous prie d'agréer, Madame, Monsieur, l'expression de mes salutations distinguées. »</a:t>
            </a:r>
          </a:p>
          <a:p>
            <a:pPr marL="0" indent="0">
              <a:buNone/>
            </a:pPr>
            <a:r>
              <a:rPr lang="fr-FR" dirty="0">
                <a:effectLst>
                  <a:outerShdw blurRad="38100" dist="38100" dir="2700000" algn="tl">
                    <a:srgbClr val="000000">
                      <a:alpha val="43137"/>
                    </a:srgbClr>
                  </a:outerShdw>
                </a:effectLst>
              </a:rPr>
              <a:t>Verbes d'action clés : </a:t>
            </a:r>
            <a:r>
              <a:rPr lang="fr-FR" i="1" dirty="0"/>
              <a:t>Optimiser, structurer, mettre en œuvre, coordonner, assurer la pérennité.</a:t>
            </a:r>
            <a:r>
              <a:rPr lang="fr-FR" dirty="0"/>
              <a:t> </a:t>
            </a:r>
          </a:p>
          <a:p>
            <a:pPr marL="0" indent="0">
              <a:buNone/>
            </a:pPr>
            <a:endParaRPr lang="fr-FR" dirty="0"/>
          </a:p>
        </p:txBody>
      </p:sp>
      <p:sp>
        <p:nvSpPr>
          <p:cNvPr id="2" name="Espace réservé du numéro de diapositive 1">
            <a:extLst>
              <a:ext uri="{FF2B5EF4-FFF2-40B4-BE49-F238E27FC236}">
                <a16:creationId xmlns:a16="http://schemas.microsoft.com/office/drawing/2014/main" id="{9D64A0C1-1C59-4BD6-5883-CFB46C9423EB}"/>
              </a:ext>
            </a:extLst>
          </p:cNvPr>
          <p:cNvSpPr>
            <a:spLocks noGrp="1"/>
          </p:cNvSpPr>
          <p:nvPr>
            <p:ph type="sldNum" sz="quarter" idx="12"/>
          </p:nvPr>
        </p:nvSpPr>
        <p:spPr/>
        <p:txBody>
          <a:bodyPr/>
          <a:lstStyle/>
          <a:p>
            <a:fld id="{49DB4E91-02F2-4120-BFDC-D5317FE06960}" type="slidenum">
              <a:rPr lang="fr-FR" smtClean="0"/>
              <a:t>17</a:t>
            </a:fld>
            <a:endParaRPr lang="fr-FR"/>
          </a:p>
        </p:txBody>
      </p:sp>
    </p:spTree>
    <p:extLst>
      <p:ext uri="{BB962C8B-B14F-4D97-AF65-F5344CB8AC3E}">
        <p14:creationId xmlns:p14="http://schemas.microsoft.com/office/powerpoint/2010/main" val="1737938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542CA92-3D0B-AAE1-15EC-B2BF1C935DEA}"/>
              </a:ext>
            </a:extLst>
          </p:cNvPr>
          <p:cNvSpPr>
            <a:spLocks noGrp="1"/>
          </p:cNvSpPr>
          <p:nvPr>
            <p:ph idx="1"/>
          </p:nvPr>
        </p:nvSpPr>
        <p:spPr>
          <a:xfrm>
            <a:off x="838200" y="633046"/>
            <a:ext cx="10515600" cy="5543917"/>
          </a:xfrm>
        </p:spPr>
        <p:txBody>
          <a:bodyPr>
            <a:normAutofit lnSpcReduction="10000"/>
          </a:bodyPr>
          <a:lstStyle/>
          <a:p>
            <a:pPr marL="1028700" lvl="1" indent="-571500">
              <a:buFont typeface="+mj-lt"/>
              <a:buAutoNum type="romanLcPeriod" startAt="6"/>
            </a:pPr>
            <a:r>
              <a:rPr lang="fr-FR" sz="3000" dirty="0"/>
              <a:t>Préparer un entretien d’embauche</a:t>
            </a:r>
          </a:p>
          <a:p>
            <a:pPr marL="0" indent="0">
              <a:buNone/>
            </a:pPr>
            <a:r>
              <a:rPr lang="fr-FR" dirty="0"/>
              <a:t>La préparation d'un entretien d'embauche ne consiste pas seulement à répondre à des questions, mais à </a:t>
            </a:r>
            <a:r>
              <a:rPr lang="fr-FR" b="1" dirty="0">
                <a:effectLst/>
              </a:rPr>
              <a:t>scénariser une expertise</a:t>
            </a:r>
            <a:r>
              <a:rPr lang="fr-FR" dirty="0"/>
              <a:t>. Dans un marché où l'intelligence artificielle redéfinit les rôles, l'entretien est le moment de démontrer votre </a:t>
            </a:r>
            <a:r>
              <a:rPr lang="fr-FR" b="1" dirty="0"/>
              <a:t>valeur ajoutée humaine</a:t>
            </a:r>
            <a:r>
              <a:rPr lang="fr-FR" dirty="0"/>
              <a:t> et votre esprit d'analyse.</a:t>
            </a:r>
          </a:p>
          <a:p>
            <a:pPr marL="0" indent="0">
              <a:buNone/>
            </a:pPr>
            <a:r>
              <a:rPr lang="fr-FR" u="sng" dirty="0"/>
              <a:t>Stratégie de communication et lexique de l’expertise</a:t>
            </a:r>
          </a:p>
          <a:p>
            <a:pPr marL="0" indent="0">
              <a:buNone/>
            </a:pPr>
            <a:r>
              <a:rPr lang="fr-FR" dirty="0"/>
              <a:t>L'enjeu est de transformer chaque réponse en une preuve de compétence, en utilisant des structures verbales qui marquent la maturité professionnelle.</a:t>
            </a:r>
          </a:p>
          <a:p>
            <a:pPr marL="0" indent="0">
              <a:buNone/>
            </a:pPr>
            <a:r>
              <a:rPr lang="fr-FR" dirty="0">
                <a:effectLst>
                  <a:outerShdw blurRad="38100" dist="38100" dir="2700000" algn="tl">
                    <a:srgbClr val="000000">
                      <a:alpha val="43137"/>
                    </a:srgbClr>
                  </a:outerShdw>
                </a:effectLst>
              </a:rPr>
              <a:t>L'analyse du besoin : </a:t>
            </a:r>
            <a:r>
              <a:rPr lang="fr-FR" dirty="0"/>
              <a:t>Montrez que vous avez étudié l'entreprise.</a:t>
            </a:r>
          </a:p>
          <a:p>
            <a:pPr lvl="1"/>
            <a:r>
              <a:rPr lang="fr-FR" i="1" dirty="0"/>
              <a:t>Expression :</a:t>
            </a:r>
            <a:r>
              <a:rPr lang="fr-FR" dirty="0"/>
              <a:t> « J'ai analysé vos récents défis en matière de </a:t>
            </a:r>
            <a:r>
              <a:rPr lang="fr-FR" b="1" dirty="0"/>
              <a:t>transformation digitale</a:t>
            </a:r>
            <a:r>
              <a:rPr lang="fr-FR" dirty="0"/>
              <a:t>... »</a:t>
            </a:r>
          </a:p>
          <a:p>
            <a:pPr marL="0" indent="0">
              <a:buNone/>
            </a:pPr>
            <a:endParaRPr lang="fr-FR" dirty="0"/>
          </a:p>
        </p:txBody>
      </p:sp>
      <p:sp>
        <p:nvSpPr>
          <p:cNvPr id="2" name="Espace réservé du numéro de diapositive 1">
            <a:extLst>
              <a:ext uri="{FF2B5EF4-FFF2-40B4-BE49-F238E27FC236}">
                <a16:creationId xmlns:a16="http://schemas.microsoft.com/office/drawing/2014/main" id="{AF4726E2-CB11-B9E4-DD2B-03217C587B0A}"/>
              </a:ext>
            </a:extLst>
          </p:cNvPr>
          <p:cNvSpPr>
            <a:spLocks noGrp="1"/>
          </p:cNvSpPr>
          <p:nvPr>
            <p:ph type="sldNum" sz="quarter" idx="12"/>
          </p:nvPr>
        </p:nvSpPr>
        <p:spPr/>
        <p:txBody>
          <a:bodyPr/>
          <a:lstStyle/>
          <a:p>
            <a:fld id="{49DB4E91-02F2-4120-BFDC-D5317FE06960}" type="slidenum">
              <a:rPr lang="fr-FR" smtClean="0"/>
              <a:t>18</a:t>
            </a:fld>
            <a:endParaRPr lang="fr-FR"/>
          </a:p>
        </p:txBody>
      </p:sp>
    </p:spTree>
    <p:extLst>
      <p:ext uri="{BB962C8B-B14F-4D97-AF65-F5344CB8AC3E}">
        <p14:creationId xmlns:p14="http://schemas.microsoft.com/office/powerpoint/2010/main" val="2939400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277EE1A-4C93-B920-6CBA-D0EFF90F70FB}"/>
              </a:ext>
            </a:extLst>
          </p:cNvPr>
          <p:cNvSpPr>
            <a:spLocks noGrp="1"/>
          </p:cNvSpPr>
          <p:nvPr>
            <p:ph idx="1"/>
          </p:nvPr>
        </p:nvSpPr>
        <p:spPr>
          <a:xfrm>
            <a:off x="838200" y="689317"/>
            <a:ext cx="10515600" cy="5487646"/>
          </a:xfrm>
        </p:spPr>
        <p:txBody>
          <a:bodyPr/>
          <a:lstStyle/>
          <a:p>
            <a:pPr marL="0" indent="0">
              <a:buNone/>
            </a:pPr>
            <a:r>
              <a:rPr lang="fr-FR" dirty="0">
                <a:effectLst>
                  <a:outerShdw blurRad="38100" dist="38100" dir="2700000" algn="tl">
                    <a:srgbClr val="000000">
                      <a:alpha val="43137"/>
                    </a:srgbClr>
                  </a:outerShdw>
                </a:effectLst>
              </a:rPr>
              <a:t>La méthode STAR (Situation, Tâche, Action, Résultat) : </a:t>
            </a:r>
            <a:r>
              <a:rPr lang="fr-FR" dirty="0"/>
              <a:t>Pour illustrer vos succès de manière structurée.</a:t>
            </a:r>
          </a:p>
          <a:p>
            <a:pPr marL="457200" lvl="1" indent="0">
              <a:buNone/>
            </a:pPr>
            <a:r>
              <a:rPr lang="fr-FR" i="1" dirty="0"/>
              <a:t>Expression :</a:t>
            </a:r>
            <a:r>
              <a:rPr lang="fr-FR" dirty="0"/>
              <a:t> « Face à cette problématique, j'ai pris l'initiative de </a:t>
            </a:r>
            <a:r>
              <a:rPr lang="fr-FR" b="1" dirty="0"/>
              <a:t>coordonner</a:t>
            </a:r>
            <a:r>
              <a:rPr lang="fr-FR" dirty="0"/>
              <a:t> les ressources afin d'</a:t>
            </a:r>
            <a:r>
              <a:rPr lang="fr-FR" b="1" dirty="0"/>
              <a:t>optimiser</a:t>
            </a:r>
            <a:r>
              <a:rPr lang="fr-FR" dirty="0"/>
              <a:t> les processus de production. »</a:t>
            </a:r>
          </a:p>
          <a:p>
            <a:pPr marL="0" indent="0">
              <a:buNone/>
            </a:pPr>
            <a:r>
              <a:rPr lang="fr-FR" dirty="0">
                <a:effectLst>
                  <a:outerShdw blurRad="38100" dist="38100" dir="2700000" algn="tl">
                    <a:srgbClr val="000000">
                      <a:alpha val="43137"/>
                    </a:srgbClr>
                  </a:outerShdw>
                </a:effectLst>
              </a:rPr>
              <a:t>Valoriser les « Soft </a:t>
            </a:r>
            <a:r>
              <a:rPr lang="fr-FR" dirty="0" err="1">
                <a:effectLst>
                  <a:outerShdw blurRad="38100" dist="38100" dir="2700000" algn="tl">
                    <a:srgbClr val="000000">
                      <a:alpha val="43137"/>
                    </a:srgbClr>
                  </a:outerShdw>
                </a:effectLst>
              </a:rPr>
              <a:t>Skills</a:t>
            </a:r>
            <a:r>
              <a:rPr lang="fr-FR" dirty="0">
                <a:effectLst>
                  <a:outerShdw blurRad="38100" dist="38100" dir="2700000" algn="tl">
                    <a:srgbClr val="000000">
                      <a:alpha val="43137"/>
                    </a:srgbClr>
                  </a:outerShdw>
                </a:effectLst>
              </a:rPr>
              <a:t> » : </a:t>
            </a:r>
            <a:r>
              <a:rPr lang="fr-FR" dirty="0"/>
              <a:t>Très recherchées de nos jours.</a:t>
            </a:r>
          </a:p>
          <a:p>
            <a:pPr marL="457200" lvl="1" indent="0">
              <a:buNone/>
            </a:pPr>
            <a:r>
              <a:rPr lang="fr-FR" i="1" dirty="0"/>
              <a:t>Mots-clés :</a:t>
            </a:r>
            <a:r>
              <a:rPr lang="fr-FR" dirty="0"/>
              <a:t> Agilité, intelligence émotionnelle, pensée critique, capacité de négociation, leadership collaboratif.</a:t>
            </a:r>
          </a:p>
          <a:p>
            <a:pPr marL="0" indent="0">
              <a:buNone/>
            </a:pPr>
            <a:r>
              <a:rPr lang="fr-FR" dirty="0">
                <a:effectLst>
                  <a:outerShdw blurRad="38100" dist="38100" dir="2700000" algn="tl">
                    <a:srgbClr val="000000">
                      <a:alpha val="43137"/>
                    </a:srgbClr>
                  </a:outerShdw>
                </a:effectLst>
              </a:rPr>
              <a:t>Gérer ses points faibles : </a:t>
            </a:r>
            <a:r>
              <a:rPr lang="fr-FR" dirty="0"/>
              <a:t>Ne parlez pas de défauts, mais d'axes de progression.</a:t>
            </a:r>
          </a:p>
          <a:p>
            <a:pPr marL="457200" lvl="1" indent="0">
              <a:buNone/>
            </a:pPr>
            <a:r>
              <a:rPr lang="fr-FR" i="1" dirty="0"/>
              <a:t>Expression :</a:t>
            </a:r>
            <a:r>
              <a:rPr lang="fr-FR" dirty="0"/>
              <a:t> « Je travaille activement à </a:t>
            </a:r>
            <a:r>
              <a:rPr lang="fr-FR" b="1" dirty="0"/>
              <a:t>perfectionner</a:t>
            </a:r>
            <a:r>
              <a:rPr lang="fr-FR" dirty="0"/>
              <a:t> ma maîtrise de [compétence] par une formation continue. »</a:t>
            </a:r>
          </a:p>
          <a:p>
            <a:pPr marL="0" indent="0">
              <a:buNone/>
            </a:pPr>
            <a:endParaRPr lang="fr-FR" dirty="0"/>
          </a:p>
        </p:txBody>
      </p:sp>
      <p:sp>
        <p:nvSpPr>
          <p:cNvPr id="2" name="Espace réservé du numéro de diapositive 1">
            <a:extLst>
              <a:ext uri="{FF2B5EF4-FFF2-40B4-BE49-F238E27FC236}">
                <a16:creationId xmlns:a16="http://schemas.microsoft.com/office/drawing/2014/main" id="{4DA0A450-86DD-59BB-06F9-0CFB027489E0}"/>
              </a:ext>
            </a:extLst>
          </p:cNvPr>
          <p:cNvSpPr>
            <a:spLocks noGrp="1"/>
          </p:cNvSpPr>
          <p:nvPr>
            <p:ph type="sldNum" sz="quarter" idx="12"/>
          </p:nvPr>
        </p:nvSpPr>
        <p:spPr/>
        <p:txBody>
          <a:bodyPr/>
          <a:lstStyle/>
          <a:p>
            <a:fld id="{49DB4E91-02F2-4120-BFDC-D5317FE06960}" type="slidenum">
              <a:rPr lang="fr-FR" smtClean="0"/>
              <a:t>19</a:t>
            </a:fld>
            <a:endParaRPr lang="fr-FR"/>
          </a:p>
        </p:txBody>
      </p:sp>
    </p:spTree>
    <p:extLst>
      <p:ext uri="{BB962C8B-B14F-4D97-AF65-F5344CB8AC3E}">
        <p14:creationId xmlns:p14="http://schemas.microsoft.com/office/powerpoint/2010/main" val="820657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AFABBD6-78AA-184D-3AD2-F5FC269D9416}"/>
              </a:ext>
            </a:extLst>
          </p:cNvPr>
          <p:cNvSpPr>
            <a:spLocks noGrp="1"/>
          </p:cNvSpPr>
          <p:nvPr>
            <p:ph idx="1"/>
          </p:nvPr>
        </p:nvSpPr>
        <p:spPr>
          <a:xfrm>
            <a:off x="838200" y="661182"/>
            <a:ext cx="10515600" cy="5515781"/>
          </a:xfrm>
        </p:spPr>
        <p:txBody>
          <a:bodyPr>
            <a:normAutofit fontScale="92500"/>
          </a:bodyPr>
          <a:lstStyle/>
          <a:p>
            <a:pPr marL="1028700" lvl="1" indent="-571500">
              <a:buFont typeface="+mj-lt"/>
              <a:buAutoNum type="romanLcPeriod" startAt="7"/>
            </a:pPr>
            <a:r>
              <a:rPr lang="fr-FR" sz="3000" dirty="0"/>
              <a:t>Analyser l’adéquation entre le profil de poste donné et le profil d’un candidat</a:t>
            </a:r>
          </a:p>
          <a:p>
            <a:pPr marL="0" indent="0">
              <a:buNone/>
            </a:pPr>
            <a:r>
              <a:rPr lang="fr-FR" dirty="0"/>
              <a:t>L'analyse de l'adéquation (ou « </a:t>
            </a:r>
            <a:r>
              <a:rPr lang="fr-FR" dirty="0" err="1"/>
              <a:t>matching</a:t>
            </a:r>
            <a:r>
              <a:rPr lang="fr-FR" dirty="0"/>
              <a:t> ») entre un poste et un candidat est un exercice de synthèse critique fondamental pour les futurs cadres d’une entreprise. Cette démarche ne se limite plus à une simple comparaison de CV ; elle exige d'évaluer la synergie entre les </a:t>
            </a:r>
            <a:r>
              <a:rPr lang="fr-FR" b="1" dirty="0"/>
              <a:t>exigences techniques</a:t>
            </a:r>
            <a:r>
              <a:rPr lang="fr-FR" dirty="0"/>
              <a:t>, les </a:t>
            </a:r>
            <a:r>
              <a:rPr lang="fr-FR" b="1" dirty="0"/>
              <a:t>aspirations culturelles</a:t>
            </a:r>
            <a:r>
              <a:rPr lang="fr-FR" dirty="0"/>
              <a:t> et les </a:t>
            </a:r>
            <a:r>
              <a:rPr lang="fr-FR" b="1" dirty="0"/>
              <a:t>enjeux prospectifs</a:t>
            </a:r>
            <a:r>
              <a:rPr lang="fr-FR" dirty="0"/>
              <a:t> de l'entreprise.</a:t>
            </a:r>
          </a:p>
          <a:p>
            <a:pPr marL="0" indent="0">
              <a:buNone/>
            </a:pPr>
            <a:r>
              <a:rPr lang="fr-FR" u="sng" dirty="0"/>
              <a:t>La méthodologie du « bilan de concordance »</a:t>
            </a:r>
          </a:p>
          <a:p>
            <a:pPr marL="0" indent="0">
              <a:buNone/>
            </a:pPr>
            <a:r>
              <a:rPr lang="fr-FR" dirty="0"/>
              <a:t>Pour structurer votre analyse, vous devez confronter trois dimensions clés .</a:t>
            </a:r>
          </a:p>
          <a:p>
            <a:pPr marL="0" indent="0">
              <a:buNone/>
            </a:pPr>
            <a:r>
              <a:rPr lang="fr-FR" dirty="0">
                <a:effectLst>
                  <a:outerShdw blurRad="38100" dist="38100" dir="2700000" algn="tl">
                    <a:srgbClr val="000000">
                      <a:alpha val="43137"/>
                    </a:srgbClr>
                  </a:outerShdw>
                </a:effectLst>
              </a:rPr>
              <a:t>Le diagnostic des « Hard </a:t>
            </a:r>
            <a:r>
              <a:rPr lang="fr-FR" dirty="0" err="1">
                <a:effectLst>
                  <a:outerShdw blurRad="38100" dist="38100" dir="2700000" algn="tl">
                    <a:srgbClr val="000000">
                      <a:alpha val="43137"/>
                    </a:srgbClr>
                  </a:outerShdw>
                </a:effectLst>
              </a:rPr>
              <a:t>Skills</a:t>
            </a:r>
            <a:r>
              <a:rPr lang="fr-FR" dirty="0">
                <a:effectLst>
                  <a:outerShdw blurRad="38100" dist="38100" dir="2700000" algn="tl">
                    <a:srgbClr val="000000">
                      <a:alpha val="43137"/>
                    </a:srgbClr>
                  </a:outerShdw>
                </a:effectLst>
              </a:rPr>
              <a:t> » : </a:t>
            </a:r>
            <a:r>
              <a:rPr lang="fr-FR" dirty="0"/>
              <a:t>Vérifiez si le socle technique du candidat correspond au cœur de métier du poste.</a:t>
            </a:r>
          </a:p>
          <a:p>
            <a:pPr marL="457200" lvl="1" indent="0">
              <a:buNone/>
            </a:pPr>
            <a:r>
              <a:rPr lang="fr-FR" i="1" dirty="0"/>
              <a:t>Expression :</a:t>
            </a:r>
            <a:r>
              <a:rPr lang="fr-FR" dirty="0"/>
              <a:t> « On observe une </a:t>
            </a:r>
            <a:r>
              <a:rPr lang="fr-FR" b="1" dirty="0"/>
              <a:t>corrélation étroite</a:t>
            </a:r>
            <a:r>
              <a:rPr lang="fr-FR" dirty="0"/>
              <a:t> entre l'expertise en ingénierie de données du candidat et les impératifs technologiques du poste. »</a:t>
            </a:r>
          </a:p>
          <a:p>
            <a:pPr marL="0" indent="0">
              <a:buNone/>
            </a:pPr>
            <a:endParaRPr lang="fr-FR" dirty="0"/>
          </a:p>
          <a:p>
            <a:pPr marL="0" indent="0">
              <a:buNone/>
            </a:pPr>
            <a:endParaRPr lang="fr-FR" dirty="0"/>
          </a:p>
        </p:txBody>
      </p:sp>
      <p:sp>
        <p:nvSpPr>
          <p:cNvPr id="2" name="Espace réservé du numéro de diapositive 1">
            <a:extLst>
              <a:ext uri="{FF2B5EF4-FFF2-40B4-BE49-F238E27FC236}">
                <a16:creationId xmlns:a16="http://schemas.microsoft.com/office/drawing/2014/main" id="{57B3403A-441B-6602-691B-1D94C5BC327E}"/>
              </a:ext>
            </a:extLst>
          </p:cNvPr>
          <p:cNvSpPr>
            <a:spLocks noGrp="1"/>
          </p:cNvSpPr>
          <p:nvPr>
            <p:ph type="sldNum" sz="quarter" idx="12"/>
          </p:nvPr>
        </p:nvSpPr>
        <p:spPr/>
        <p:txBody>
          <a:bodyPr/>
          <a:lstStyle/>
          <a:p>
            <a:fld id="{49DB4E91-02F2-4120-BFDC-D5317FE06960}" type="slidenum">
              <a:rPr lang="fr-FR" smtClean="0"/>
              <a:t>20</a:t>
            </a:fld>
            <a:endParaRPr lang="fr-FR"/>
          </a:p>
        </p:txBody>
      </p:sp>
    </p:spTree>
    <p:extLst>
      <p:ext uri="{BB962C8B-B14F-4D97-AF65-F5344CB8AC3E}">
        <p14:creationId xmlns:p14="http://schemas.microsoft.com/office/powerpoint/2010/main" val="950691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E3FFE57-7BFE-DDA1-EC07-95C85DA6A089}"/>
              </a:ext>
            </a:extLst>
          </p:cNvPr>
          <p:cNvSpPr>
            <a:spLocks noGrp="1"/>
          </p:cNvSpPr>
          <p:nvPr>
            <p:ph idx="1"/>
          </p:nvPr>
        </p:nvSpPr>
        <p:spPr>
          <a:xfrm>
            <a:off x="838200" y="872197"/>
            <a:ext cx="10515600" cy="5304766"/>
          </a:xfrm>
        </p:spPr>
        <p:txBody>
          <a:bodyPr>
            <a:normAutofit lnSpcReduction="10000"/>
          </a:bodyPr>
          <a:lstStyle/>
          <a:p>
            <a:pPr marL="0" indent="0">
              <a:buNone/>
            </a:pPr>
            <a:r>
              <a:rPr lang="fr-FR" dirty="0">
                <a:effectLst>
                  <a:outerShdw blurRad="38100" dist="38100" dir="2700000" algn="tl">
                    <a:srgbClr val="000000">
                      <a:alpha val="43137"/>
                    </a:srgbClr>
                  </a:outerShdw>
                </a:effectLst>
              </a:rPr>
              <a:t>L'examen des « Soft </a:t>
            </a:r>
            <a:r>
              <a:rPr lang="fr-FR" dirty="0" err="1">
                <a:effectLst>
                  <a:outerShdw blurRad="38100" dist="38100" dir="2700000" algn="tl">
                    <a:srgbClr val="000000">
                      <a:alpha val="43137"/>
                    </a:srgbClr>
                  </a:outerShdw>
                </a:effectLst>
              </a:rPr>
              <a:t>Skills</a:t>
            </a:r>
            <a:r>
              <a:rPr lang="fr-FR" dirty="0">
                <a:effectLst>
                  <a:outerShdw blurRad="38100" dist="38100" dir="2700000" algn="tl">
                    <a:srgbClr val="000000">
                      <a:alpha val="43137"/>
                    </a:srgbClr>
                  </a:outerShdw>
                </a:effectLst>
              </a:rPr>
              <a:t> » et du potentiel : </a:t>
            </a:r>
            <a:r>
              <a:rPr lang="fr-FR" dirty="0"/>
              <a:t>Évaluez si les aptitudes comportementales (leadership, agilité) répondent aux défis managériaux.</a:t>
            </a:r>
          </a:p>
          <a:p>
            <a:pPr marL="457200" lvl="1" indent="0">
              <a:buNone/>
            </a:pPr>
            <a:r>
              <a:rPr lang="fr-FR" i="1" dirty="0"/>
              <a:t>Expression :</a:t>
            </a:r>
            <a:r>
              <a:rPr lang="fr-FR" dirty="0"/>
              <a:t> « Bien que le candidat possède les compétences requises, on peut noter un </a:t>
            </a:r>
            <a:r>
              <a:rPr lang="fr-FR" b="1" dirty="0"/>
              <a:t>décalage</a:t>
            </a:r>
            <a:r>
              <a:rPr lang="fr-FR" dirty="0"/>
              <a:t> entre son profil de chercheur et le besoin de </a:t>
            </a:r>
            <a:r>
              <a:rPr lang="fr-FR" b="1" dirty="0"/>
              <a:t>réactivité opérationnelle</a:t>
            </a:r>
            <a:r>
              <a:rPr lang="fr-FR" dirty="0"/>
              <a:t> du poste. »</a:t>
            </a:r>
          </a:p>
          <a:p>
            <a:pPr marL="0" indent="0">
              <a:buNone/>
            </a:pPr>
            <a:r>
              <a:rPr lang="fr-FR" dirty="0">
                <a:effectLst>
                  <a:outerShdw blurRad="38100" dist="38100" dir="2700000" algn="tl">
                    <a:srgbClr val="000000">
                      <a:alpha val="43137"/>
                    </a:srgbClr>
                  </a:outerShdw>
                </a:effectLst>
              </a:rPr>
              <a:t>La mesure de l'appétence culturelle (Cultural Fit) : </a:t>
            </a:r>
            <a:r>
              <a:rPr lang="fr-FR" dirty="0"/>
              <a:t>L'alignement des valeurs personnelles avec la RSE de l'entreprise.</a:t>
            </a:r>
          </a:p>
          <a:p>
            <a:pPr marL="457200" lvl="1" indent="0">
              <a:buNone/>
            </a:pPr>
            <a:r>
              <a:rPr lang="fr-FR" i="1" dirty="0"/>
              <a:t>Expression :</a:t>
            </a:r>
            <a:r>
              <a:rPr lang="fr-FR" dirty="0"/>
              <a:t> « L'engagement écoresponsable du candidat entre en </a:t>
            </a:r>
            <a:r>
              <a:rPr lang="fr-FR" b="1" dirty="0"/>
              <a:t>résonance parfaite</a:t>
            </a:r>
            <a:r>
              <a:rPr lang="fr-FR" dirty="0"/>
              <a:t> avec les engagements de décarbonation de l'entreprise. »</a:t>
            </a:r>
          </a:p>
          <a:p>
            <a:pPr marL="0" indent="0">
              <a:buNone/>
            </a:pPr>
            <a:r>
              <a:rPr lang="fr-FR" u="sng" dirty="0"/>
              <a:t>Le lexique de la nuance et de la décision</a:t>
            </a:r>
          </a:p>
          <a:p>
            <a:pPr marL="0" indent="0">
              <a:buNone/>
            </a:pPr>
            <a:r>
              <a:rPr lang="fr-FR" dirty="0"/>
              <a:t>Votre conclusion doit être nuancée et argumentée pour éclairer une prise de décision.</a:t>
            </a:r>
          </a:p>
        </p:txBody>
      </p:sp>
      <p:sp>
        <p:nvSpPr>
          <p:cNvPr id="2" name="Espace réservé du numéro de diapositive 1">
            <a:extLst>
              <a:ext uri="{FF2B5EF4-FFF2-40B4-BE49-F238E27FC236}">
                <a16:creationId xmlns:a16="http://schemas.microsoft.com/office/drawing/2014/main" id="{573F145B-A2C3-4BA6-114B-49D044D337D1}"/>
              </a:ext>
            </a:extLst>
          </p:cNvPr>
          <p:cNvSpPr>
            <a:spLocks noGrp="1"/>
          </p:cNvSpPr>
          <p:nvPr>
            <p:ph type="sldNum" sz="quarter" idx="12"/>
          </p:nvPr>
        </p:nvSpPr>
        <p:spPr/>
        <p:txBody>
          <a:bodyPr/>
          <a:lstStyle/>
          <a:p>
            <a:fld id="{49DB4E91-02F2-4120-BFDC-D5317FE06960}" type="slidenum">
              <a:rPr lang="fr-FR" smtClean="0"/>
              <a:t>21</a:t>
            </a:fld>
            <a:endParaRPr lang="fr-FR"/>
          </a:p>
        </p:txBody>
      </p:sp>
    </p:spTree>
    <p:extLst>
      <p:ext uri="{BB962C8B-B14F-4D97-AF65-F5344CB8AC3E}">
        <p14:creationId xmlns:p14="http://schemas.microsoft.com/office/powerpoint/2010/main" val="2347249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30DB802-7403-D0AB-C746-2B022B1B6F75}"/>
              </a:ext>
            </a:extLst>
          </p:cNvPr>
          <p:cNvSpPr>
            <a:spLocks noGrp="1"/>
          </p:cNvSpPr>
          <p:nvPr>
            <p:ph idx="1"/>
          </p:nvPr>
        </p:nvSpPr>
        <p:spPr>
          <a:xfrm>
            <a:off x="838200" y="633046"/>
            <a:ext cx="10515600" cy="5543917"/>
          </a:xfrm>
        </p:spPr>
        <p:txBody>
          <a:bodyPr>
            <a:normAutofit/>
          </a:bodyPr>
          <a:lstStyle/>
          <a:p>
            <a:r>
              <a:rPr lang="fr-FR" dirty="0">
                <a:effectLst>
                  <a:outerShdw blurRad="38100" dist="38100" dir="2700000" algn="tl">
                    <a:srgbClr val="000000">
                      <a:alpha val="43137"/>
                    </a:srgbClr>
                  </a:outerShdw>
                </a:effectLst>
              </a:rPr>
              <a:t>Exprimer la parfaite adéquation : </a:t>
            </a:r>
            <a:r>
              <a:rPr lang="fr-FR" dirty="0"/>
              <a:t>« Le profil est </a:t>
            </a:r>
            <a:r>
              <a:rPr lang="fr-FR" b="1" dirty="0"/>
              <a:t>en phase</a:t>
            </a:r>
            <a:r>
              <a:rPr lang="fr-FR" dirty="0"/>
              <a:t> avec les attentes du recruteur », « Le candidat présente une </a:t>
            </a:r>
            <a:r>
              <a:rPr lang="fr-FR" b="1" dirty="0"/>
              <a:t>synergie évidente</a:t>
            </a:r>
            <a:r>
              <a:rPr lang="fr-FR" dirty="0"/>
              <a:t> avec les objectifs stratégiques ».</a:t>
            </a:r>
          </a:p>
          <a:p>
            <a:r>
              <a:rPr lang="fr-FR" dirty="0">
                <a:effectLst>
                  <a:outerShdw blurRad="38100" dist="38100" dir="2700000" algn="tl">
                    <a:srgbClr val="000000">
                      <a:alpha val="43137"/>
                    </a:srgbClr>
                  </a:outerShdw>
                </a:effectLst>
              </a:rPr>
              <a:t>Exprimer des réserves ou des lacunes : </a:t>
            </a:r>
            <a:r>
              <a:rPr lang="fr-FR" dirty="0"/>
              <a:t>« Il subsiste une </a:t>
            </a:r>
            <a:r>
              <a:rPr lang="fr-FR" b="1" dirty="0"/>
              <a:t>marge de progression</a:t>
            </a:r>
            <a:r>
              <a:rPr lang="fr-FR" dirty="0"/>
              <a:t> sur l'aspect managérial », « On relève un </a:t>
            </a:r>
            <a:r>
              <a:rPr lang="fr-FR" b="1" dirty="0"/>
              <a:t>déficit d'expérience</a:t>
            </a:r>
            <a:r>
              <a:rPr lang="fr-FR" dirty="0"/>
              <a:t> sur les marchés internationaux ».</a:t>
            </a:r>
          </a:p>
          <a:p>
            <a:r>
              <a:rPr lang="fr-FR" dirty="0">
                <a:effectLst>
                  <a:outerShdw blurRad="38100" dist="38100" dir="2700000" algn="tl">
                    <a:srgbClr val="000000">
                      <a:alpha val="43137"/>
                    </a:srgbClr>
                  </a:outerShdw>
                </a:effectLst>
              </a:rPr>
              <a:t>Proposer une solution de compensation : </a:t>
            </a:r>
            <a:r>
              <a:rPr lang="fr-FR" dirty="0"/>
              <a:t>« Ce manque de pratique pourrait être </a:t>
            </a:r>
            <a:r>
              <a:rPr lang="fr-FR" b="1" dirty="0"/>
              <a:t>pallié par</a:t>
            </a:r>
            <a:r>
              <a:rPr lang="fr-FR" dirty="0"/>
              <a:t> un accompagnement ciblé ou un programme de formation intensive. »</a:t>
            </a:r>
          </a:p>
          <a:p>
            <a:r>
              <a:rPr lang="fr-FR" dirty="0">
                <a:effectLst>
                  <a:outerShdw blurRad="38100" dist="38100" dir="2700000" algn="tl">
                    <a:srgbClr val="000000">
                      <a:alpha val="43137"/>
                    </a:srgbClr>
                  </a:outerShdw>
                </a:effectLst>
              </a:rPr>
              <a:t>Verdict final : </a:t>
            </a:r>
            <a:r>
              <a:rPr lang="fr-FR" b="1" dirty="0"/>
              <a:t> </a:t>
            </a:r>
            <a:r>
              <a:rPr lang="fr-FR" dirty="0"/>
              <a:t>« En définitive, le profil apparaît comme </a:t>
            </a:r>
            <a:r>
              <a:rPr lang="fr-FR" b="1" dirty="0"/>
              <a:t>idoine</a:t>
            </a:r>
            <a:r>
              <a:rPr lang="fr-FR" dirty="0"/>
              <a:t> pour relever les défis de ce poste, malgré quelques ajustements mineurs à prévoir. »</a:t>
            </a:r>
          </a:p>
          <a:p>
            <a:pPr marL="0" indent="0">
              <a:buNone/>
            </a:pPr>
            <a:endParaRPr lang="fr-FR" dirty="0"/>
          </a:p>
        </p:txBody>
      </p:sp>
      <p:sp>
        <p:nvSpPr>
          <p:cNvPr id="2" name="Espace réservé du numéro de diapositive 1">
            <a:extLst>
              <a:ext uri="{FF2B5EF4-FFF2-40B4-BE49-F238E27FC236}">
                <a16:creationId xmlns:a16="http://schemas.microsoft.com/office/drawing/2014/main" id="{4606BE52-BC36-361E-7045-5FB6438C0460}"/>
              </a:ext>
            </a:extLst>
          </p:cNvPr>
          <p:cNvSpPr>
            <a:spLocks noGrp="1"/>
          </p:cNvSpPr>
          <p:nvPr>
            <p:ph type="sldNum" sz="quarter" idx="12"/>
          </p:nvPr>
        </p:nvSpPr>
        <p:spPr/>
        <p:txBody>
          <a:bodyPr/>
          <a:lstStyle/>
          <a:p>
            <a:fld id="{49DB4E91-02F2-4120-BFDC-D5317FE06960}" type="slidenum">
              <a:rPr lang="fr-FR" smtClean="0"/>
              <a:t>22</a:t>
            </a:fld>
            <a:endParaRPr lang="fr-FR"/>
          </a:p>
        </p:txBody>
      </p:sp>
    </p:spTree>
    <p:extLst>
      <p:ext uri="{BB962C8B-B14F-4D97-AF65-F5344CB8AC3E}">
        <p14:creationId xmlns:p14="http://schemas.microsoft.com/office/powerpoint/2010/main" val="12556491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B69D971-0715-F68C-F9F3-0554DF07F542}"/>
              </a:ext>
            </a:extLst>
          </p:cNvPr>
          <p:cNvSpPr>
            <a:spLocks noGrp="1"/>
          </p:cNvSpPr>
          <p:nvPr>
            <p:ph idx="1"/>
          </p:nvPr>
        </p:nvSpPr>
        <p:spPr>
          <a:xfrm>
            <a:off x="838200" y="647114"/>
            <a:ext cx="10515600" cy="5529849"/>
          </a:xfrm>
        </p:spPr>
        <p:txBody>
          <a:bodyPr/>
          <a:lstStyle/>
          <a:p>
            <a:pPr marL="1028700" lvl="1" indent="-571500">
              <a:buFont typeface="+mj-lt"/>
              <a:buAutoNum type="romanLcPeriod" startAt="8"/>
            </a:pPr>
            <a:r>
              <a:rPr lang="fr-FR" sz="3000" dirty="0"/>
              <a:t>Donner son avis sur la répartition du temps de travail en France et dans d’autres pays</a:t>
            </a:r>
          </a:p>
          <a:p>
            <a:pPr marL="0" indent="0">
              <a:buNone/>
            </a:pPr>
            <a:r>
              <a:rPr lang="fr-FR" dirty="0"/>
              <a:t>L'analyse de la répartition du temps de travail nécessite de confronter le modèle historique français aux nouvelles tendances mondiales, marquées par la recherche de </a:t>
            </a:r>
            <a:r>
              <a:rPr lang="fr-FR" b="1" dirty="0">
                <a:effectLst/>
              </a:rPr>
              <a:t>productivité durable</a:t>
            </a:r>
            <a:r>
              <a:rPr lang="fr-FR" dirty="0"/>
              <a:t> et d'</a:t>
            </a:r>
            <a:r>
              <a:rPr lang="fr-FR" b="1" dirty="0">
                <a:effectLst/>
              </a:rPr>
              <a:t>équilibre existentiel</a:t>
            </a:r>
            <a:r>
              <a:rPr lang="fr-FR" dirty="0"/>
              <a:t>.</a:t>
            </a:r>
          </a:p>
          <a:p>
            <a:pPr marL="0" indent="0">
              <a:buNone/>
            </a:pPr>
            <a:r>
              <a:rPr lang="fr-FR" u="sng" dirty="0"/>
              <a:t>Le modèle français face à la flexibilité mondiale</a:t>
            </a:r>
          </a:p>
          <a:p>
            <a:pPr marL="0" indent="0">
              <a:buNone/>
            </a:pPr>
            <a:r>
              <a:rPr lang="fr-FR" dirty="0"/>
              <a:t>En France, le débat reste structuré par l'héritage des 35 heures, mais il évolue vers une personnalisation accrue du temps de travail.</a:t>
            </a:r>
          </a:p>
          <a:p>
            <a:pPr marL="0" indent="0">
              <a:buNone/>
            </a:pPr>
            <a:r>
              <a:rPr lang="fr-FR" dirty="0">
                <a:effectLst>
                  <a:outerShdw blurRad="38100" dist="38100" dir="2700000" algn="tl">
                    <a:srgbClr val="000000">
                      <a:alpha val="43137"/>
                    </a:srgbClr>
                  </a:outerShdw>
                </a:effectLst>
              </a:rPr>
              <a:t>La rigidité apparente : </a:t>
            </a:r>
            <a:r>
              <a:rPr lang="fr-FR" dirty="0"/>
              <a:t>Bien que la durée légale reste une référence, la France se distingue par un recours massif au forfait jours pour les cadres, favorisant l'autonomie mais risquant le </a:t>
            </a:r>
            <a:r>
              <a:rPr lang="fr-FR" b="1" dirty="0"/>
              <a:t>surmenage</a:t>
            </a:r>
            <a:r>
              <a:rPr lang="fr-FR" dirty="0"/>
              <a:t>.</a:t>
            </a:r>
          </a:p>
          <a:p>
            <a:pPr marL="0" indent="0">
              <a:buNone/>
            </a:pPr>
            <a:endParaRPr lang="fr-FR" dirty="0"/>
          </a:p>
        </p:txBody>
      </p:sp>
      <p:sp>
        <p:nvSpPr>
          <p:cNvPr id="2" name="Espace réservé du numéro de diapositive 1">
            <a:extLst>
              <a:ext uri="{FF2B5EF4-FFF2-40B4-BE49-F238E27FC236}">
                <a16:creationId xmlns:a16="http://schemas.microsoft.com/office/drawing/2014/main" id="{178205E7-86D8-C4CB-39CC-E079B61A2E1D}"/>
              </a:ext>
            </a:extLst>
          </p:cNvPr>
          <p:cNvSpPr>
            <a:spLocks noGrp="1"/>
          </p:cNvSpPr>
          <p:nvPr>
            <p:ph type="sldNum" sz="quarter" idx="12"/>
          </p:nvPr>
        </p:nvSpPr>
        <p:spPr/>
        <p:txBody>
          <a:bodyPr/>
          <a:lstStyle/>
          <a:p>
            <a:fld id="{49DB4E91-02F2-4120-BFDC-D5317FE06960}" type="slidenum">
              <a:rPr lang="fr-FR" smtClean="0"/>
              <a:t>23</a:t>
            </a:fld>
            <a:endParaRPr lang="fr-FR"/>
          </a:p>
        </p:txBody>
      </p:sp>
    </p:spTree>
    <p:extLst>
      <p:ext uri="{BB962C8B-B14F-4D97-AF65-F5344CB8AC3E}">
        <p14:creationId xmlns:p14="http://schemas.microsoft.com/office/powerpoint/2010/main" val="955502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479A634-915E-306D-DA79-96596DC1B541}"/>
              </a:ext>
            </a:extLst>
          </p:cNvPr>
          <p:cNvSpPr>
            <a:spLocks noGrp="1"/>
          </p:cNvSpPr>
          <p:nvPr>
            <p:ph idx="1"/>
          </p:nvPr>
        </p:nvSpPr>
        <p:spPr>
          <a:xfrm>
            <a:off x="838200" y="731520"/>
            <a:ext cx="10515600" cy="5445443"/>
          </a:xfrm>
        </p:spPr>
        <p:txBody>
          <a:bodyPr/>
          <a:lstStyle/>
          <a:p>
            <a:pPr marL="0" indent="0">
              <a:buNone/>
            </a:pPr>
            <a:r>
              <a:rPr lang="fr-FR" dirty="0">
                <a:effectLst>
                  <a:outerShdw blurRad="38100" dist="38100" dir="2700000" algn="tl">
                    <a:srgbClr val="000000">
                      <a:alpha val="43137"/>
                    </a:srgbClr>
                  </a:outerShdw>
                </a:effectLst>
              </a:rPr>
              <a:t>Le</a:t>
            </a:r>
            <a:r>
              <a:rPr lang="fr-FR" b="1" dirty="0"/>
              <a:t> </a:t>
            </a:r>
            <a:r>
              <a:rPr lang="fr-FR" dirty="0">
                <a:effectLst>
                  <a:outerShdw blurRad="38100" dist="38100" dir="2700000" algn="tl">
                    <a:srgbClr val="000000">
                      <a:alpha val="43137"/>
                    </a:srgbClr>
                  </a:outerShdw>
                </a:effectLst>
              </a:rPr>
              <a:t>modèle anglo-saxon et asiatique : </a:t>
            </a:r>
            <a:r>
              <a:rPr lang="fr-FR" dirty="0"/>
              <a:t>À l'inverse, des pays comme les États-Unis ou la Corée du Sud conservent un volume horaire élevé, souvent perçu en France comme un frein à la </a:t>
            </a:r>
            <a:r>
              <a:rPr lang="fr-FR" b="1" dirty="0"/>
              <a:t>santé mentale</a:t>
            </a:r>
            <a:r>
              <a:rPr lang="fr-FR" dirty="0"/>
              <a:t> et à la créativité sur le long terme.</a:t>
            </a:r>
          </a:p>
          <a:p>
            <a:pPr marL="0" indent="0">
              <a:buNone/>
            </a:pPr>
            <a:r>
              <a:rPr lang="fr-FR" dirty="0">
                <a:effectLst>
                  <a:outerShdw blurRad="38100" dist="38100" dir="2700000" algn="tl">
                    <a:srgbClr val="000000">
                      <a:alpha val="43137"/>
                    </a:srgbClr>
                  </a:outerShdw>
                </a:effectLst>
              </a:rPr>
              <a:t>La productivité horaire : </a:t>
            </a:r>
            <a:r>
              <a:rPr lang="fr-FR" dirty="0"/>
              <a:t>Il est crucial de noter qu’</a:t>
            </a:r>
            <a:r>
              <a:rPr lang="fr-FR" dirty="0" err="1"/>
              <a:t>ajourd’hui</a:t>
            </a:r>
            <a:r>
              <a:rPr lang="fr-FR" dirty="0"/>
              <a:t>, la France reste parmi les leaders mondiaux de la productivité par heure travaillée, prouvant qu'une durée hebdomadaire plus courte peut être compensée par une </a:t>
            </a:r>
            <a:r>
              <a:rPr lang="fr-FR" b="1" dirty="0"/>
              <a:t>efficacité accrue</a:t>
            </a:r>
            <a:r>
              <a:rPr lang="fr-FR" dirty="0"/>
              <a:t>.</a:t>
            </a:r>
          </a:p>
          <a:p>
            <a:pPr marL="0" indent="0">
              <a:buNone/>
            </a:pPr>
            <a:r>
              <a:rPr lang="fr-FR" u="sng" dirty="0"/>
              <a:t>Lexique pour argumenter</a:t>
            </a:r>
          </a:p>
          <a:p>
            <a:pPr marL="0" indent="0">
              <a:buNone/>
            </a:pPr>
            <a:r>
              <a:rPr lang="fr-FR" dirty="0"/>
              <a:t>Pour structurer votre avis lors d'une colle ou d'une dissertation, utilisez ces termes techniques :</a:t>
            </a:r>
          </a:p>
          <a:p>
            <a:pPr marL="0" indent="0">
              <a:buNone/>
            </a:pPr>
            <a:r>
              <a:rPr lang="fr-FR" dirty="0">
                <a:effectLst>
                  <a:outerShdw blurRad="38100" dist="38100" dir="2700000" algn="tl">
                    <a:srgbClr val="000000">
                      <a:alpha val="43137"/>
                    </a:srgbClr>
                  </a:outerShdw>
                </a:effectLst>
              </a:rPr>
              <a:t>Le droit à la déconnexion : </a:t>
            </a:r>
            <a:r>
              <a:rPr lang="fr-FR" dirty="0"/>
              <a:t>Impératif légal pour protéger la vie privée.</a:t>
            </a:r>
          </a:p>
          <a:p>
            <a:pPr marL="0" indent="0">
              <a:buNone/>
            </a:pPr>
            <a:endParaRPr lang="fr-FR" dirty="0"/>
          </a:p>
        </p:txBody>
      </p:sp>
      <p:sp>
        <p:nvSpPr>
          <p:cNvPr id="2" name="Espace réservé du numéro de diapositive 1">
            <a:extLst>
              <a:ext uri="{FF2B5EF4-FFF2-40B4-BE49-F238E27FC236}">
                <a16:creationId xmlns:a16="http://schemas.microsoft.com/office/drawing/2014/main" id="{14A56FA4-C99C-B611-FA4C-EDB3B464005F}"/>
              </a:ext>
            </a:extLst>
          </p:cNvPr>
          <p:cNvSpPr>
            <a:spLocks noGrp="1"/>
          </p:cNvSpPr>
          <p:nvPr>
            <p:ph type="sldNum" sz="quarter" idx="12"/>
          </p:nvPr>
        </p:nvSpPr>
        <p:spPr/>
        <p:txBody>
          <a:bodyPr/>
          <a:lstStyle/>
          <a:p>
            <a:fld id="{49DB4E91-02F2-4120-BFDC-D5317FE06960}" type="slidenum">
              <a:rPr lang="fr-FR" smtClean="0"/>
              <a:t>24</a:t>
            </a:fld>
            <a:endParaRPr lang="fr-FR"/>
          </a:p>
        </p:txBody>
      </p:sp>
    </p:spTree>
    <p:extLst>
      <p:ext uri="{BB962C8B-B14F-4D97-AF65-F5344CB8AC3E}">
        <p14:creationId xmlns:p14="http://schemas.microsoft.com/office/powerpoint/2010/main" val="11139400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6013B23-FA03-83BF-B33D-6796C829FCFA}"/>
              </a:ext>
            </a:extLst>
          </p:cNvPr>
          <p:cNvSpPr>
            <a:spLocks noGrp="1"/>
          </p:cNvSpPr>
          <p:nvPr>
            <p:ph idx="1"/>
          </p:nvPr>
        </p:nvSpPr>
        <p:spPr>
          <a:xfrm>
            <a:off x="838200" y="717452"/>
            <a:ext cx="10515600" cy="5459511"/>
          </a:xfrm>
        </p:spPr>
        <p:txBody>
          <a:bodyPr>
            <a:normAutofit/>
          </a:bodyPr>
          <a:lstStyle/>
          <a:p>
            <a:pPr marL="0" indent="0">
              <a:buNone/>
            </a:pPr>
            <a:r>
              <a:rPr lang="fr-FR" dirty="0">
                <a:effectLst>
                  <a:outerShdw blurRad="38100" dist="38100" dir="2700000" algn="tl">
                    <a:srgbClr val="000000">
                      <a:alpha val="43137"/>
                    </a:srgbClr>
                  </a:outerShdw>
                </a:effectLst>
              </a:rPr>
              <a:t>La porosité des temps : </a:t>
            </a:r>
            <a:r>
              <a:rPr lang="fr-FR" dirty="0"/>
              <a:t>Le mélange entre vie pro et vie perso dû aux outils numériques.</a:t>
            </a:r>
          </a:p>
          <a:p>
            <a:pPr marL="0" indent="0">
              <a:buNone/>
            </a:pPr>
            <a:r>
              <a:rPr lang="fr-FR" dirty="0">
                <a:effectLst>
                  <a:outerShdw blurRad="38100" dist="38100" dir="2700000" algn="tl">
                    <a:srgbClr val="000000">
                      <a:alpha val="43137"/>
                    </a:srgbClr>
                  </a:outerShdw>
                </a:effectLst>
              </a:rPr>
              <a:t>Le temps partagé : </a:t>
            </a:r>
            <a:r>
              <a:rPr lang="fr-FR" dirty="0"/>
              <a:t>Travailler pour plusieurs employeurs afin de diversifier ses compétences.</a:t>
            </a:r>
          </a:p>
          <a:p>
            <a:pPr marL="0" indent="0">
              <a:buNone/>
            </a:pPr>
            <a:r>
              <a:rPr lang="fr-FR" dirty="0">
                <a:effectLst>
                  <a:outerShdw blurRad="38100" dist="38100" dir="2700000" algn="tl">
                    <a:srgbClr val="000000">
                      <a:alpha val="43137"/>
                    </a:srgbClr>
                  </a:outerShdw>
                </a:effectLst>
              </a:rPr>
              <a:t>La semaine asymétrique : </a:t>
            </a:r>
            <a:r>
              <a:rPr lang="fr-FR" dirty="0"/>
              <a:t>Répartir les heures de manière inégale selon les besoins de production.</a:t>
            </a:r>
          </a:p>
        </p:txBody>
      </p:sp>
      <p:sp>
        <p:nvSpPr>
          <p:cNvPr id="2" name="Espace réservé du numéro de diapositive 1">
            <a:extLst>
              <a:ext uri="{FF2B5EF4-FFF2-40B4-BE49-F238E27FC236}">
                <a16:creationId xmlns:a16="http://schemas.microsoft.com/office/drawing/2014/main" id="{8D153856-8F4D-BCA0-D65E-EFA04EA44E88}"/>
              </a:ext>
            </a:extLst>
          </p:cNvPr>
          <p:cNvSpPr>
            <a:spLocks noGrp="1"/>
          </p:cNvSpPr>
          <p:nvPr>
            <p:ph type="sldNum" sz="quarter" idx="12"/>
          </p:nvPr>
        </p:nvSpPr>
        <p:spPr/>
        <p:txBody>
          <a:bodyPr/>
          <a:lstStyle/>
          <a:p>
            <a:fld id="{49DB4E91-02F2-4120-BFDC-D5317FE06960}" type="slidenum">
              <a:rPr lang="fr-FR" smtClean="0"/>
              <a:t>25</a:t>
            </a:fld>
            <a:endParaRPr lang="fr-FR"/>
          </a:p>
        </p:txBody>
      </p:sp>
    </p:spTree>
    <p:extLst>
      <p:ext uri="{BB962C8B-B14F-4D97-AF65-F5344CB8AC3E}">
        <p14:creationId xmlns:p14="http://schemas.microsoft.com/office/powerpoint/2010/main" val="2851571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6013B23-FA03-83BF-B33D-6796C829FCFA}"/>
              </a:ext>
            </a:extLst>
          </p:cNvPr>
          <p:cNvSpPr>
            <a:spLocks noGrp="1"/>
          </p:cNvSpPr>
          <p:nvPr>
            <p:ph idx="1"/>
          </p:nvPr>
        </p:nvSpPr>
        <p:spPr>
          <a:xfrm>
            <a:off x="838200" y="717452"/>
            <a:ext cx="10515600" cy="5459511"/>
          </a:xfrm>
        </p:spPr>
        <p:txBody>
          <a:bodyPr>
            <a:normAutofit/>
          </a:bodyPr>
          <a:lstStyle/>
          <a:p>
            <a:pPr marL="1028700" lvl="1" indent="-571500">
              <a:buFont typeface="+mj-lt"/>
              <a:buAutoNum type="romanLcPeriod" startAt="9"/>
            </a:pPr>
            <a:r>
              <a:rPr lang="fr-FR" sz="3000" dirty="0"/>
              <a:t>Débattre les conditions de bien-être au travail</a:t>
            </a:r>
          </a:p>
          <a:p>
            <a:pPr marL="0" indent="0">
              <a:buNone/>
            </a:pPr>
            <a:r>
              <a:rPr lang="fr-FR" dirty="0"/>
              <a:t>Débattre du bien-être au travail pour un futur ingénieur, c'est analyser l'intersection entre </a:t>
            </a:r>
            <a:r>
              <a:rPr lang="fr-FR" b="1" dirty="0"/>
              <a:t>performance organisationnelle</a:t>
            </a:r>
            <a:r>
              <a:rPr lang="fr-FR" dirty="0"/>
              <a:t> et </a:t>
            </a:r>
            <a:r>
              <a:rPr lang="fr-FR" b="1" dirty="0"/>
              <a:t>santé globale</a:t>
            </a:r>
            <a:r>
              <a:rPr lang="fr-FR" dirty="0"/>
              <a:t>. Le débat dépasse désormais le cadre des simples avantages matériels pour toucher à la structure même du lien social en entreprise.</a:t>
            </a:r>
          </a:p>
        </p:txBody>
      </p:sp>
      <p:sp>
        <p:nvSpPr>
          <p:cNvPr id="2" name="Espace réservé du numéro de diapositive 1">
            <a:extLst>
              <a:ext uri="{FF2B5EF4-FFF2-40B4-BE49-F238E27FC236}">
                <a16:creationId xmlns:a16="http://schemas.microsoft.com/office/drawing/2014/main" id="{8D153856-8F4D-BCA0-D65E-EFA04EA44E88}"/>
              </a:ext>
            </a:extLst>
          </p:cNvPr>
          <p:cNvSpPr>
            <a:spLocks noGrp="1"/>
          </p:cNvSpPr>
          <p:nvPr>
            <p:ph type="sldNum" sz="quarter" idx="12"/>
          </p:nvPr>
        </p:nvSpPr>
        <p:spPr/>
        <p:txBody>
          <a:bodyPr/>
          <a:lstStyle/>
          <a:p>
            <a:fld id="{49DB4E91-02F2-4120-BFDC-D5317FE06960}" type="slidenum">
              <a:rPr lang="fr-FR" smtClean="0"/>
              <a:t>26</a:t>
            </a:fld>
            <a:endParaRPr lang="fr-FR"/>
          </a:p>
        </p:txBody>
      </p:sp>
    </p:spTree>
    <p:extLst>
      <p:ext uri="{BB962C8B-B14F-4D97-AF65-F5344CB8AC3E}">
        <p14:creationId xmlns:p14="http://schemas.microsoft.com/office/powerpoint/2010/main" val="42426075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65F18CE-88BA-3D74-923E-C38ECC65DC0A}"/>
              </a:ext>
            </a:extLst>
          </p:cNvPr>
          <p:cNvSpPr>
            <a:spLocks noGrp="1"/>
          </p:cNvSpPr>
          <p:nvPr>
            <p:ph idx="1"/>
          </p:nvPr>
        </p:nvSpPr>
        <p:spPr>
          <a:xfrm>
            <a:off x="838200" y="731520"/>
            <a:ext cx="10515600" cy="5445443"/>
          </a:xfrm>
        </p:spPr>
        <p:txBody>
          <a:bodyPr>
            <a:normAutofit lnSpcReduction="10000"/>
          </a:bodyPr>
          <a:lstStyle/>
          <a:p>
            <a:pPr marL="0" indent="0">
              <a:buNone/>
            </a:pPr>
            <a:r>
              <a:rPr lang="fr-FR" u="sng" dirty="0"/>
              <a:t>La qualité de vie et des conditions de travail (QVCT) : Un enjeu stratégique</a:t>
            </a:r>
          </a:p>
          <a:p>
            <a:pPr marL="0" indent="0">
              <a:buNone/>
            </a:pPr>
            <a:r>
              <a:rPr lang="fr-FR" dirty="0"/>
              <a:t>Loin d'être une simple préoccupation humaniste, le bien-être est aujourd'hui un levier de </a:t>
            </a:r>
            <a:r>
              <a:rPr lang="fr-FR" b="1" dirty="0"/>
              <a:t>rétention des talents</a:t>
            </a:r>
            <a:r>
              <a:rPr lang="fr-FR" dirty="0"/>
              <a:t>.</a:t>
            </a:r>
          </a:p>
          <a:p>
            <a:pPr marL="0" indent="0">
              <a:buNone/>
            </a:pPr>
            <a:r>
              <a:rPr lang="fr-FR" dirty="0">
                <a:effectLst>
                  <a:outerShdw blurRad="38100" dist="38100" dir="2700000" algn="tl">
                    <a:srgbClr val="000000">
                      <a:alpha val="43137"/>
                    </a:srgbClr>
                  </a:outerShdw>
                </a:effectLst>
              </a:rPr>
              <a:t>La quête de sens (</a:t>
            </a:r>
            <a:r>
              <a:rPr lang="fr-FR" dirty="0" err="1">
                <a:effectLst>
                  <a:outerShdw blurRad="38100" dist="38100" dir="2700000" algn="tl">
                    <a:srgbClr val="000000">
                      <a:alpha val="43137"/>
                    </a:srgbClr>
                  </a:outerShdw>
                </a:effectLst>
              </a:rPr>
              <a:t>Purpose</a:t>
            </a:r>
            <a:r>
              <a:rPr lang="fr-FR" dirty="0">
                <a:effectLst>
                  <a:outerShdw blurRad="38100" dist="38100" dir="2700000" algn="tl">
                    <a:srgbClr val="000000">
                      <a:alpha val="43137"/>
                    </a:srgbClr>
                  </a:outerShdw>
                </a:effectLst>
              </a:rPr>
              <a:t>) : </a:t>
            </a:r>
            <a:r>
              <a:rPr lang="fr-FR" dirty="0"/>
              <a:t>Un collaborateur s'épanouit s'il comprend l'utilité de ses missions.</a:t>
            </a:r>
          </a:p>
          <a:p>
            <a:pPr marL="457200" lvl="1" indent="0">
              <a:buNone/>
            </a:pPr>
            <a:r>
              <a:rPr lang="fr-FR" i="1" dirty="0"/>
              <a:t>Argument :</a:t>
            </a:r>
            <a:r>
              <a:rPr lang="fr-FR" dirty="0"/>
              <a:t> « Le bien-être découle d'abord de la </a:t>
            </a:r>
            <a:r>
              <a:rPr lang="fr-FR" b="1" dirty="0"/>
              <a:t>cohérence</a:t>
            </a:r>
            <a:r>
              <a:rPr lang="fr-FR" dirty="0"/>
              <a:t> entre les valeurs de l'ingénieur et les projets qu'il mène. »</a:t>
            </a:r>
          </a:p>
          <a:p>
            <a:pPr marL="0" indent="0">
              <a:buNone/>
            </a:pPr>
            <a:r>
              <a:rPr lang="fr-FR" dirty="0">
                <a:effectLst>
                  <a:outerShdw blurRad="38100" dist="38100" dir="2700000" algn="tl">
                    <a:srgbClr val="000000">
                      <a:alpha val="43137"/>
                    </a:srgbClr>
                  </a:outerShdw>
                </a:effectLst>
              </a:rPr>
              <a:t>L'ergonomie et l'environnement capacitant : </a:t>
            </a:r>
            <a:r>
              <a:rPr lang="fr-FR" dirty="0"/>
              <a:t>L'espace de travail (physique ou virtuel) doit réduire la charge cognitive.</a:t>
            </a:r>
          </a:p>
          <a:p>
            <a:pPr marL="457200" lvl="1" indent="0">
              <a:buNone/>
            </a:pPr>
            <a:r>
              <a:rPr lang="fr-FR" i="1" dirty="0"/>
              <a:t>Mots-clés :</a:t>
            </a:r>
            <a:r>
              <a:rPr lang="fr-FR" dirty="0"/>
              <a:t> </a:t>
            </a:r>
            <a:r>
              <a:rPr lang="fr-FR" b="1" dirty="0"/>
              <a:t>Flex-office</a:t>
            </a:r>
            <a:r>
              <a:rPr lang="fr-FR" dirty="0"/>
              <a:t>, acoustique, luminosité, outils numériques intuitifs.</a:t>
            </a:r>
          </a:p>
          <a:p>
            <a:pPr marL="0" indent="0">
              <a:buNone/>
            </a:pPr>
            <a:r>
              <a:rPr lang="fr-FR" dirty="0">
                <a:effectLst>
                  <a:outerShdw blurRad="38100" dist="38100" dir="2700000" algn="tl">
                    <a:srgbClr val="000000">
                      <a:alpha val="43137"/>
                    </a:srgbClr>
                  </a:outerShdw>
                </a:effectLst>
              </a:rPr>
              <a:t>La reconnaissance : </a:t>
            </a:r>
            <a:r>
              <a:rPr lang="fr-FR" dirty="0"/>
              <a:t>Elle ne doit pas être seulement financière, mais aussi symbolique et managériale. </a:t>
            </a:r>
          </a:p>
          <a:p>
            <a:pPr marL="0" indent="0">
              <a:buNone/>
            </a:pPr>
            <a:endParaRPr lang="fr-FR" dirty="0"/>
          </a:p>
        </p:txBody>
      </p:sp>
      <p:sp>
        <p:nvSpPr>
          <p:cNvPr id="2" name="Espace réservé du numéro de diapositive 1">
            <a:extLst>
              <a:ext uri="{FF2B5EF4-FFF2-40B4-BE49-F238E27FC236}">
                <a16:creationId xmlns:a16="http://schemas.microsoft.com/office/drawing/2014/main" id="{A6642A5C-CAB5-ABBF-972A-77DE268637E2}"/>
              </a:ext>
            </a:extLst>
          </p:cNvPr>
          <p:cNvSpPr>
            <a:spLocks noGrp="1"/>
          </p:cNvSpPr>
          <p:nvPr>
            <p:ph type="sldNum" sz="quarter" idx="12"/>
          </p:nvPr>
        </p:nvSpPr>
        <p:spPr/>
        <p:txBody>
          <a:bodyPr/>
          <a:lstStyle/>
          <a:p>
            <a:fld id="{49DB4E91-02F2-4120-BFDC-D5317FE06960}" type="slidenum">
              <a:rPr lang="fr-FR" smtClean="0"/>
              <a:t>27</a:t>
            </a:fld>
            <a:endParaRPr lang="fr-FR"/>
          </a:p>
        </p:txBody>
      </p:sp>
    </p:spTree>
    <p:extLst>
      <p:ext uri="{BB962C8B-B14F-4D97-AF65-F5344CB8AC3E}">
        <p14:creationId xmlns:p14="http://schemas.microsoft.com/office/powerpoint/2010/main" val="3761276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4141183-BE1C-904C-CD58-BF8EF5A72F1B}"/>
              </a:ext>
            </a:extLst>
          </p:cNvPr>
          <p:cNvSpPr>
            <a:spLocks noGrp="1"/>
          </p:cNvSpPr>
          <p:nvPr>
            <p:ph idx="1"/>
          </p:nvPr>
        </p:nvSpPr>
        <p:spPr>
          <a:xfrm>
            <a:off x="838200" y="703385"/>
            <a:ext cx="10515600" cy="5473578"/>
          </a:xfrm>
        </p:spPr>
        <p:txBody>
          <a:bodyPr/>
          <a:lstStyle/>
          <a:p>
            <a:pPr marL="0" indent="0">
              <a:buNone/>
            </a:pPr>
            <a:r>
              <a:rPr lang="fr-FR" u="sng" dirty="0"/>
              <a:t>Les nouveaux risques et la santé mentale</a:t>
            </a:r>
          </a:p>
          <a:p>
            <a:pPr marL="0" indent="0">
              <a:buNone/>
            </a:pPr>
            <a:r>
              <a:rPr lang="fr-FR" dirty="0"/>
              <a:t>Le bien-être se définit aussi par l'absence de pathologies liées au travail, dans un contexte de haute technologie.</a:t>
            </a:r>
          </a:p>
          <a:p>
            <a:pPr marL="0" indent="0">
              <a:buNone/>
            </a:pPr>
            <a:r>
              <a:rPr lang="fr-FR" dirty="0">
                <a:effectLst>
                  <a:outerShdw blurRad="38100" dist="38100" dir="2700000" algn="tl">
                    <a:srgbClr val="000000">
                      <a:alpha val="43137"/>
                    </a:srgbClr>
                  </a:outerShdw>
                </a:effectLst>
              </a:rPr>
              <a:t>La prévention du burn-out : </a:t>
            </a:r>
            <a:r>
              <a:rPr lang="fr-FR" dirty="0"/>
              <a:t>Identifier les signaux faibles d'épuisement professionnel.</a:t>
            </a:r>
          </a:p>
          <a:p>
            <a:pPr marL="0" indent="0">
              <a:buNone/>
            </a:pPr>
            <a:r>
              <a:rPr lang="fr-FR" dirty="0">
                <a:effectLst>
                  <a:outerShdw blurRad="38100" dist="38100" dir="2700000" algn="tl">
                    <a:srgbClr val="000000">
                      <a:alpha val="43137"/>
                    </a:srgbClr>
                  </a:outerShdw>
                </a:effectLst>
              </a:rPr>
              <a:t>Le technostress : </a:t>
            </a:r>
            <a:r>
              <a:rPr lang="fr-FR" dirty="0"/>
              <a:t>L'anxiété générée par l'obligation de s'adapter sans cesse à de nouveaux logiciels ou à l'IA.</a:t>
            </a:r>
          </a:p>
          <a:p>
            <a:pPr marL="457200" lvl="1" indent="0">
              <a:buNone/>
            </a:pPr>
            <a:r>
              <a:rPr lang="fr-FR" i="1" dirty="0"/>
              <a:t>Contre-argument :</a:t>
            </a:r>
            <a:r>
              <a:rPr lang="fr-FR" dirty="0"/>
              <a:t> « La multiplication des outils de communication peut nuire à la </a:t>
            </a:r>
            <a:r>
              <a:rPr lang="fr-FR" b="1" dirty="0"/>
              <a:t>concentration profonde</a:t>
            </a:r>
            <a:r>
              <a:rPr lang="fr-FR" dirty="0"/>
              <a:t> (Deep Work) et générer une fatigue mentale invisible. »</a:t>
            </a:r>
          </a:p>
          <a:p>
            <a:pPr marL="0" indent="0">
              <a:buNone/>
            </a:pPr>
            <a:r>
              <a:rPr lang="fr-FR" dirty="0">
                <a:effectLst>
                  <a:outerShdw blurRad="38100" dist="38100" dir="2700000" algn="tl">
                    <a:srgbClr val="000000">
                      <a:alpha val="43137"/>
                    </a:srgbClr>
                  </a:outerShdw>
                </a:effectLst>
              </a:rPr>
              <a:t>La sécurité psychologique : </a:t>
            </a:r>
            <a:r>
              <a:rPr lang="fr-FR" dirty="0"/>
              <a:t>La liberté de pouvoir exprimer une erreur ou un doute sans crainte de sanction, pilier de l'innovation.</a:t>
            </a:r>
          </a:p>
          <a:p>
            <a:pPr marL="0" indent="0">
              <a:buNone/>
            </a:pPr>
            <a:endParaRPr lang="fr-FR" u="sng" dirty="0"/>
          </a:p>
        </p:txBody>
      </p:sp>
      <p:sp>
        <p:nvSpPr>
          <p:cNvPr id="2" name="Espace réservé du numéro de diapositive 1">
            <a:extLst>
              <a:ext uri="{FF2B5EF4-FFF2-40B4-BE49-F238E27FC236}">
                <a16:creationId xmlns:a16="http://schemas.microsoft.com/office/drawing/2014/main" id="{1690F30A-B592-23F9-8190-C88B5ED61BE1}"/>
              </a:ext>
            </a:extLst>
          </p:cNvPr>
          <p:cNvSpPr>
            <a:spLocks noGrp="1"/>
          </p:cNvSpPr>
          <p:nvPr>
            <p:ph type="sldNum" sz="quarter" idx="12"/>
          </p:nvPr>
        </p:nvSpPr>
        <p:spPr/>
        <p:txBody>
          <a:bodyPr/>
          <a:lstStyle/>
          <a:p>
            <a:fld id="{49DB4E91-02F2-4120-BFDC-D5317FE06960}" type="slidenum">
              <a:rPr lang="fr-FR" smtClean="0"/>
              <a:t>28</a:t>
            </a:fld>
            <a:endParaRPr lang="fr-FR"/>
          </a:p>
        </p:txBody>
      </p:sp>
    </p:spTree>
    <p:extLst>
      <p:ext uri="{BB962C8B-B14F-4D97-AF65-F5344CB8AC3E}">
        <p14:creationId xmlns:p14="http://schemas.microsoft.com/office/powerpoint/2010/main" val="12084569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0945B9F-26A1-DC4E-A5F3-3080C07C13A8}"/>
              </a:ext>
            </a:extLst>
          </p:cNvPr>
          <p:cNvSpPr>
            <a:spLocks noGrp="1"/>
          </p:cNvSpPr>
          <p:nvPr>
            <p:ph idx="1"/>
          </p:nvPr>
        </p:nvSpPr>
        <p:spPr>
          <a:xfrm>
            <a:off x="838200" y="731520"/>
            <a:ext cx="10515600" cy="5445443"/>
          </a:xfrm>
        </p:spPr>
        <p:txBody>
          <a:bodyPr>
            <a:normAutofit/>
          </a:bodyPr>
          <a:lstStyle/>
          <a:p>
            <a:pPr marL="1028700" lvl="1" indent="-571500">
              <a:buFont typeface="+mj-lt"/>
              <a:buAutoNum type="romanLcPeriod" startAt="10"/>
            </a:pPr>
            <a:r>
              <a:rPr lang="fr-FR" sz="3000" dirty="0"/>
              <a:t>Présenter une œuvre d’art</a:t>
            </a:r>
          </a:p>
          <a:p>
            <a:pPr marL="0" indent="0">
              <a:buNone/>
            </a:pPr>
            <a:r>
              <a:rPr lang="fr-FR" dirty="0"/>
              <a:t>Présenter une œuvre d'art demande de conjuguer </a:t>
            </a:r>
            <a:r>
              <a:rPr lang="fr-FR" b="1" dirty="0"/>
              <a:t>analyse technique</a:t>
            </a:r>
            <a:r>
              <a:rPr lang="fr-FR" dirty="0"/>
              <a:t>, </a:t>
            </a:r>
            <a:r>
              <a:rPr lang="fr-FR" b="1" dirty="0"/>
              <a:t>contexte historique</a:t>
            </a:r>
            <a:r>
              <a:rPr lang="fr-FR" dirty="0"/>
              <a:t> et </a:t>
            </a:r>
            <a:r>
              <a:rPr lang="fr-FR" b="1" dirty="0"/>
              <a:t>ressenti esthétique</a:t>
            </a:r>
            <a:r>
              <a:rPr lang="fr-FR" dirty="0"/>
              <a:t>. L'objectif est de démontrer une capacité à décrypter un message visuel complexe.</a:t>
            </a:r>
          </a:p>
          <a:p>
            <a:pPr marL="0" indent="0">
              <a:buNone/>
            </a:pPr>
            <a:r>
              <a:rPr lang="fr-FR" u="sng" dirty="0"/>
              <a:t>L’identification et la contextualisation</a:t>
            </a:r>
          </a:p>
          <a:p>
            <a:pPr marL="0" indent="0">
              <a:buNone/>
            </a:pPr>
            <a:r>
              <a:rPr lang="fr-FR" dirty="0"/>
              <a:t>Avant toute analyse, il est crucial de poser le cadre de l'œuvre avec précision.</a:t>
            </a:r>
          </a:p>
          <a:p>
            <a:pPr marL="0" indent="0">
              <a:buNone/>
            </a:pPr>
            <a:r>
              <a:rPr lang="fr-FR" dirty="0">
                <a:effectLst>
                  <a:outerShdw blurRad="38100" dist="38100" dir="2700000" algn="tl">
                    <a:srgbClr val="000000">
                      <a:alpha val="43137"/>
                    </a:srgbClr>
                  </a:outerShdw>
                </a:effectLst>
              </a:rPr>
              <a:t>Les</a:t>
            </a:r>
            <a:r>
              <a:rPr lang="fr-FR" b="1" dirty="0"/>
              <a:t> </a:t>
            </a:r>
            <a:r>
              <a:rPr lang="fr-FR" dirty="0">
                <a:effectLst>
                  <a:outerShdw blurRad="38100" dist="38100" dir="2700000" algn="tl">
                    <a:srgbClr val="000000">
                      <a:alpha val="43137"/>
                    </a:srgbClr>
                  </a:outerShdw>
                </a:effectLst>
              </a:rPr>
              <a:t>données techniques : </a:t>
            </a:r>
            <a:r>
              <a:rPr lang="fr-FR" dirty="0"/>
              <a:t>Précisez le support et la matière (Ex: une huile sur toile, une sculpture en bronze, une installation numérique).</a:t>
            </a:r>
          </a:p>
          <a:p>
            <a:pPr marL="0" indent="0">
              <a:buNone/>
            </a:pPr>
            <a:r>
              <a:rPr lang="fr-FR" dirty="0">
                <a:effectLst>
                  <a:outerShdw blurRad="38100" dist="38100" dir="2700000" algn="tl">
                    <a:srgbClr val="000000">
                      <a:alpha val="43137"/>
                    </a:srgbClr>
                  </a:outerShdw>
                </a:effectLst>
              </a:rPr>
              <a:t>L'ancrage historique : </a:t>
            </a:r>
            <a:r>
              <a:rPr lang="fr-FR" dirty="0"/>
              <a:t>Situez l'œuvre dans son mouvement (Ex: le cubisme, le surréalisme, le bio-art contemporain).</a:t>
            </a:r>
          </a:p>
        </p:txBody>
      </p:sp>
      <p:sp>
        <p:nvSpPr>
          <p:cNvPr id="2" name="Espace réservé du numéro de diapositive 1">
            <a:extLst>
              <a:ext uri="{FF2B5EF4-FFF2-40B4-BE49-F238E27FC236}">
                <a16:creationId xmlns:a16="http://schemas.microsoft.com/office/drawing/2014/main" id="{7DA7BC6D-CC87-FF9D-A669-354CB812218E}"/>
              </a:ext>
            </a:extLst>
          </p:cNvPr>
          <p:cNvSpPr>
            <a:spLocks noGrp="1"/>
          </p:cNvSpPr>
          <p:nvPr>
            <p:ph type="sldNum" sz="quarter" idx="12"/>
          </p:nvPr>
        </p:nvSpPr>
        <p:spPr/>
        <p:txBody>
          <a:bodyPr/>
          <a:lstStyle/>
          <a:p>
            <a:fld id="{49DB4E91-02F2-4120-BFDC-D5317FE06960}" type="slidenum">
              <a:rPr lang="fr-FR" smtClean="0"/>
              <a:t>29</a:t>
            </a:fld>
            <a:endParaRPr lang="fr-FR"/>
          </a:p>
        </p:txBody>
      </p:sp>
    </p:spTree>
    <p:extLst>
      <p:ext uri="{BB962C8B-B14F-4D97-AF65-F5344CB8AC3E}">
        <p14:creationId xmlns:p14="http://schemas.microsoft.com/office/powerpoint/2010/main" val="35044893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1CF4DBA-66AE-A9F5-51B5-F09EB6CA28E2}"/>
              </a:ext>
            </a:extLst>
          </p:cNvPr>
          <p:cNvSpPr>
            <a:spLocks noGrp="1"/>
          </p:cNvSpPr>
          <p:nvPr>
            <p:ph idx="1"/>
          </p:nvPr>
        </p:nvSpPr>
        <p:spPr>
          <a:xfrm>
            <a:off x="838200" y="675249"/>
            <a:ext cx="10515600" cy="5501714"/>
          </a:xfrm>
        </p:spPr>
        <p:txBody>
          <a:bodyPr>
            <a:normAutofit fontScale="92500" lnSpcReduction="10000"/>
          </a:bodyPr>
          <a:lstStyle/>
          <a:p>
            <a:pPr marL="0" indent="0">
              <a:buNone/>
            </a:pPr>
            <a:r>
              <a:rPr lang="fr-FR" dirty="0">
                <a:effectLst>
                  <a:outerShdw blurRad="38100" dist="38100" dir="2700000" algn="tl">
                    <a:srgbClr val="000000">
                      <a:alpha val="43137"/>
                    </a:srgbClr>
                  </a:outerShdw>
                </a:effectLst>
              </a:rPr>
              <a:t>La genèse : </a:t>
            </a:r>
            <a:r>
              <a:rPr lang="fr-FR" dirty="0"/>
              <a:t>Pourquoi et pour qui l'œuvre a-t-elle été créée ?</a:t>
            </a:r>
          </a:p>
          <a:p>
            <a:pPr marL="0" indent="0">
              <a:buNone/>
            </a:pPr>
            <a:r>
              <a:rPr lang="fr-FR" i="1" dirty="0"/>
              <a:t>	Expression :</a:t>
            </a:r>
            <a:r>
              <a:rPr lang="fr-FR" dirty="0"/>
              <a:t> « Cette œuvre </a:t>
            </a:r>
            <a:r>
              <a:rPr lang="fr-FR" b="1" dirty="0"/>
              <a:t>s'inscrit dans</a:t>
            </a:r>
            <a:r>
              <a:rPr lang="fr-FR" dirty="0"/>
              <a:t> la mouvance de l'abstraction 	lyrique et </a:t>
            </a:r>
            <a:r>
              <a:rPr lang="fr-FR" b="1" dirty="0"/>
              <a:t>témoigne de</a:t>
            </a:r>
            <a:r>
              <a:rPr lang="fr-FR" dirty="0"/>
              <a:t> la rupture esthétique de l'après-guerre. »</a:t>
            </a:r>
          </a:p>
          <a:p>
            <a:pPr marL="0" indent="0">
              <a:buNone/>
            </a:pPr>
            <a:r>
              <a:rPr lang="fr-FR" u="sng" dirty="0"/>
              <a:t>La description analytique et plastique</a:t>
            </a:r>
          </a:p>
          <a:p>
            <a:pPr marL="0" indent="0">
              <a:buNone/>
            </a:pPr>
            <a:r>
              <a:rPr lang="fr-FR" dirty="0"/>
              <a:t>Il s'agit ici de « faire voir » l'œuvre à votre interlocuteur en utilisant un lexique géométrique et chromatique.</a:t>
            </a:r>
          </a:p>
          <a:p>
            <a:pPr marL="0" indent="0">
              <a:buNone/>
            </a:pPr>
            <a:r>
              <a:rPr lang="fr-FR" dirty="0">
                <a:effectLst>
                  <a:outerShdw blurRad="38100" dist="38100" dir="2700000" algn="tl">
                    <a:srgbClr val="000000">
                      <a:alpha val="43137"/>
                    </a:srgbClr>
                  </a:outerShdw>
                </a:effectLst>
              </a:rPr>
              <a:t>La composition : </a:t>
            </a:r>
            <a:r>
              <a:rPr lang="fr-FR" dirty="0"/>
              <a:t>Analysez les lignes de force, l'équilibre et la perspective.</a:t>
            </a:r>
          </a:p>
          <a:p>
            <a:pPr marL="457200" lvl="1" indent="0">
              <a:buNone/>
            </a:pPr>
            <a:r>
              <a:rPr lang="fr-FR" i="1" dirty="0"/>
              <a:t>Expression :</a:t>
            </a:r>
            <a:r>
              <a:rPr lang="fr-FR" dirty="0"/>
              <a:t> « La composition est </a:t>
            </a:r>
            <a:r>
              <a:rPr lang="fr-FR" b="1" dirty="0"/>
              <a:t>structurée par</a:t>
            </a:r>
            <a:r>
              <a:rPr lang="fr-FR" dirty="0"/>
              <a:t> une diagonale qui crée une tension dramatique entre le premier plan et l'arrière-plan. »</a:t>
            </a:r>
          </a:p>
          <a:p>
            <a:pPr marL="0" indent="0">
              <a:buNone/>
            </a:pPr>
            <a:r>
              <a:rPr lang="fr-FR" dirty="0">
                <a:effectLst>
                  <a:outerShdw blurRad="38100" dist="38100" dir="2700000" algn="tl">
                    <a:srgbClr val="000000">
                      <a:alpha val="43137"/>
                    </a:srgbClr>
                  </a:outerShdw>
                </a:effectLst>
              </a:rPr>
              <a:t>La palette chromatique et la lumière : </a:t>
            </a:r>
            <a:r>
              <a:rPr lang="fr-FR" dirty="0"/>
              <a:t>Parlez des contrastes, des nuances et du clair-obscur.</a:t>
            </a:r>
          </a:p>
          <a:p>
            <a:pPr marL="457200" lvl="1" indent="0">
              <a:buNone/>
            </a:pPr>
            <a:r>
              <a:rPr lang="fr-FR" i="1" dirty="0"/>
              <a:t>Lexique :</a:t>
            </a:r>
            <a:r>
              <a:rPr lang="fr-FR" dirty="0"/>
              <a:t> Tons chauds/froids, couleurs saturées, lumière zénithale, empâtements.</a:t>
            </a:r>
          </a:p>
          <a:p>
            <a:pPr marL="0" indent="0">
              <a:buNone/>
            </a:pPr>
            <a:r>
              <a:rPr lang="fr-FR" dirty="0">
                <a:effectLst>
                  <a:outerShdw blurRad="38100" dist="38100" dir="2700000" algn="tl">
                    <a:srgbClr val="000000">
                      <a:alpha val="43137"/>
                    </a:srgbClr>
                  </a:outerShdw>
                </a:effectLst>
              </a:rPr>
              <a:t>La facture : </a:t>
            </a:r>
            <a:r>
              <a:rPr lang="fr-FR" dirty="0"/>
              <a:t>La manière dont l'artiste a travaillé la matière (Ex: une touche nerveuse, un fini lisse, un rendu granuleux).</a:t>
            </a:r>
          </a:p>
          <a:p>
            <a:pPr marL="0" indent="0">
              <a:buNone/>
            </a:pPr>
            <a:endParaRPr lang="fr-FR" dirty="0"/>
          </a:p>
          <a:p>
            <a:pPr marL="0" indent="0">
              <a:buNone/>
            </a:pPr>
            <a:endParaRPr lang="fr-FR" dirty="0"/>
          </a:p>
        </p:txBody>
      </p:sp>
      <p:sp>
        <p:nvSpPr>
          <p:cNvPr id="2" name="Espace réservé du numéro de diapositive 1">
            <a:extLst>
              <a:ext uri="{FF2B5EF4-FFF2-40B4-BE49-F238E27FC236}">
                <a16:creationId xmlns:a16="http://schemas.microsoft.com/office/drawing/2014/main" id="{8BCF7BA4-711E-5B7D-8AEC-663DCB7646BB}"/>
              </a:ext>
            </a:extLst>
          </p:cNvPr>
          <p:cNvSpPr>
            <a:spLocks noGrp="1"/>
          </p:cNvSpPr>
          <p:nvPr>
            <p:ph type="sldNum" sz="quarter" idx="12"/>
          </p:nvPr>
        </p:nvSpPr>
        <p:spPr/>
        <p:txBody>
          <a:bodyPr/>
          <a:lstStyle/>
          <a:p>
            <a:fld id="{49DB4E91-02F2-4120-BFDC-D5317FE06960}" type="slidenum">
              <a:rPr lang="fr-FR" smtClean="0"/>
              <a:t>30</a:t>
            </a:fld>
            <a:endParaRPr lang="fr-FR"/>
          </a:p>
        </p:txBody>
      </p:sp>
    </p:spTree>
    <p:extLst>
      <p:ext uri="{BB962C8B-B14F-4D97-AF65-F5344CB8AC3E}">
        <p14:creationId xmlns:p14="http://schemas.microsoft.com/office/powerpoint/2010/main" val="17089185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E632876-D0E3-89A3-0880-79DB55A1AE31}"/>
              </a:ext>
            </a:extLst>
          </p:cNvPr>
          <p:cNvSpPr>
            <a:spLocks noGrp="1"/>
          </p:cNvSpPr>
          <p:nvPr>
            <p:ph idx="1"/>
          </p:nvPr>
        </p:nvSpPr>
        <p:spPr>
          <a:xfrm>
            <a:off x="707801" y="1265586"/>
            <a:ext cx="2613338" cy="5016758"/>
          </a:xfrm>
        </p:spPr>
        <p:txBody>
          <a:bodyPr>
            <a:noAutofit/>
          </a:bodyPr>
          <a:lstStyle/>
          <a:p>
            <a:pPr marL="0" indent="0">
              <a:buNone/>
            </a:pPr>
            <a:r>
              <a:rPr lang="fr-FR" sz="2000" dirty="0">
                <a:effectLst>
                  <a:outerShdw blurRad="38100" dist="38100" dir="2700000" algn="tl">
                    <a:srgbClr val="000000">
                      <a:alpha val="43137"/>
                    </a:srgbClr>
                  </a:outerShdw>
                </a:effectLst>
              </a:rPr>
              <a:t>La symbolique et les archétypes</a:t>
            </a:r>
          </a:p>
          <a:p>
            <a:pPr marL="0" indent="0">
              <a:buNone/>
            </a:pPr>
            <a:endParaRPr lang="fr-FR" sz="2000" dirty="0">
              <a:effectLst>
                <a:outerShdw blurRad="38100" dist="38100" dir="2700000" algn="tl">
                  <a:srgbClr val="000000">
                    <a:alpha val="43137"/>
                  </a:srgbClr>
                </a:outerShdw>
              </a:effectLst>
            </a:endParaRPr>
          </a:p>
          <a:p>
            <a:pPr marL="0" indent="0">
              <a:buNone/>
            </a:pPr>
            <a:r>
              <a:rPr lang="fr-FR" sz="2000" b="1" dirty="0"/>
              <a:t>Interroger :</a:t>
            </a:r>
          </a:p>
          <a:p>
            <a:r>
              <a:rPr lang="fr-FR" sz="2000" dirty="0"/>
              <a:t>Les symboles universels (l’eau, la lumière, le labyrinthe…)</a:t>
            </a:r>
          </a:p>
          <a:p>
            <a:r>
              <a:rPr lang="fr-FR" sz="2000" dirty="0"/>
              <a:t>Les mythes</a:t>
            </a:r>
          </a:p>
          <a:p>
            <a:r>
              <a:rPr lang="fr-FR" sz="2000" dirty="0"/>
              <a:t>Les références religieuses ou scientifiques</a:t>
            </a:r>
          </a:p>
          <a:p>
            <a:endParaRPr lang="fr-FR" sz="2000" dirty="0"/>
          </a:p>
          <a:p>
            <a:pPr marL="0" indent="0">
              <a:buNone/>
            </a:pPr>
            <a:r>
              <a:rPr lang="fr-FR" sz="2000" i="1" dirty="0"/>
              <a:t>Insistez :</a:t>
            </a:r>
            <a:br>
              <a:rPr lang="fr-FR" sz="2000" i="1" dirty="0"/>
            </a:br>
            <a:r>
              <a:rPr lang="fr-FR" sz="2000" i="1" dirty="0"/>
              <a:t>Toute interprétation doit s’appuyer sur des éléments visibles.</a:t>
            </a:r>
          </a:p>
          <a:p>
            <a:pPr marL="0" indent="0">
              <a:buNone/>
            </a:pPr>
            <a:br>
              <a:rPr lang="fr-FR" sz="2000" dirty="0"/>
            </a:br>
            <a:endParaRPr lang="fr-FR" sz="2000" dirty="0"/>
          </a:p>
          <a:p>
            <a:pPr marL="0" indent="0">
              <a:buNone/>
            </a:pPr>
            <a:endParaRPr lang="fr-FR" sz="2000" dirty="0"/>
          </a:p>
          <a:p>
            <a:pPr marL="0" indent="0">
              <a:buNone/>
            </a:pPr>
            <a:endParaRPr lang="fr-FR" sz="2000" dirty="0"/>
          </a:p>
        </p:txBody>
      </p:sp>
      <p:sp>
        <p:nvSpPr>
          <p:cNvPr id="4" name="Espace réservé du numéro de diapositive 3">
            <a:extLst>
              <a:ext uri="{FF2B5EF4-FFF2-40B4-BE49-F238E27FC236}">
                <a16:creationId xmlns:a16="http://schemas.microsoft.com/office/drawing/2014/main" id="{85C2E9E9-19D3-7F49-B126-5671797DA64C}"/>
              </a:ext>
            </a:extLst>
          </p:cNvPr>
          <p:cNvSpPr>
            <a:spLocks noGrp="1"/>
          </p:cNvSpPr>
          <p:nvPr>
            <p:ph type="sldNum" sz="quarter" idx="12"/>
          </p:nvPr>
        </p:nvSpPr>
        <p:spPr/>
        <p:txBody>
          <a:bodyPr/>
          <a:lstStyle/>
          <a:p>
            <a:fld id="{49DB4E91-02F2-4120-BFDC-D5317FE06960}" type="slidenum">
              <a:rPr lang="fr-FR" smtClean="0"/>
              <a:t>31</a:t>
            </a:fld>
            <a:endParaRPr lang="fr-FR"/>
          </a:p>
        </p:txBody>
      </p:sp>
      <p:sp>
        <p:nvSpPr>
          <p:cNvPr id="6" name="ZoneTexte 5">
            <a:extLst>
              <a:ext uri="{FF2B5EF4-FFF2-40B4-BE49-F238E27FC236}">
                <a16:creationId xmlns:a16="http://schemas.microsoft.com/office/drawing/2014/main" id="{7A9172B1-FA06-B785-114C-C1618F1B72BD}"/>
              </a:ext>
            </a:extLst>
          </p:cNvPr>
          <p:cNvSpPr txBox="1"/>
          <p:nvPr/>
        </p:nvSpPr>
        <p:spPr>
          <a:xfrm>
            <a:off x="4072003" y="1265586"/>
            <a:ext cx="2852940" cy="5016758"/>
          </a:xfrm>
          <a:prstGeom prst="rect">
            <a:avLst/>
          </a:prstGeom>
          <a:noFill/>
        </p:spPr>
        <p:txBody>
          <a:bodyPr wrap="square" rtlCol="0">
            <a:spAutoFit/>
          </a:bodyPr>
          <a:lstStyle/>
          <a:p>
            <a:r>
              <a:rPr lang="fr-FR" sz="2000" dirty="0">
                <a:effectLst>
                  <a:outerShdw blurRad="38100" dist="38100" dir="2700000" algn="tl">
                    <a:srgbClr val="000000">
                      <a:alpha val="43137"/>
                    </a:srgbClr>
                  </a:outerShdw>
                </a:effectLst>
              </a:rPr>
              <a:t> L’intention de l’artiste</a:t>
            </a:r>
          </a:p>
          <a:p>
            <a:endParaRPr lang="fr-FR" sz="2000" dirty="0">
              <a:effectLst>
                <a:outerShdw blurRad="38100" dist="38100" dir="2700000" algn="tl">
                  <a:srgbClr val="000000">
                    <a:alpha val="43137"/>
                  </a:srgbClr>
                </a:outerShdw>
              </a:effectLst>
            </a:endParaRPr>
          </a:p>
          <a:p>
            <a:r>
              <a:rPr lang="fr-FR" sz="2000" b="1" dirty="0"/>
              <a:t>Sans psychologiser excessivement :</a:t>
            </a:r>
          </a:p>
          <a:p>
            <a:pPr marL="342900" indent="-342900">
              <a:buFont typeface="Arial" panose="020B0604020202020204" pitchFamily="34" charset="0"/>
              <a:buChar char="•"/>
            </a:pPr>
            <a:r>
              <a:rPr lang="fr-FR" sz="2000" dirty="0"/>
              <a:t>L’œuvre est-elle engagée ?</a:t>
            </a:r>
          </a:p>
          <a:p>
            <a:pPr marL="342900" indent="-342900">
              <a:buFont typeface="Arial" panose="020B0604020202020204" pitchFamily="34" charset="0"/>
              <a:buChar char="•"/>
            </a:pPr>
            <a:r>
              <a:rPr lang="fr-FR" sz="2000" dirty="0"/>
              <a:t>Provocatrice ?</a:t>
            </a:r>
          </a:p>
          <a:p>
            <a:pPr marL="342900" indent="-342900">
              <a:buFont typeface="Arial" panose="020B0604020202020204" pitchFamily="34" charset="0"/>
              <a:buChar char="•"/>
            </a:pPr>
            <a:r>
              <a:rPr lang="fr-FR" sz="2000" dirty="0"/>
              <a:t>Expérimentale ?</a:t>
            </a:r>
          </a:p>
          <a:p>
            <a:pPr marL="342900" indent="-342900">
              <a:buFont typeface="Arial" panose="020B0604020202020204" pitchFamily="34" charset="0"/>
              <a:buChar char="•"/>
            </a:pPr>
            <a:r>
              <a:rPr lang="fr-FR" sz="2000" dirty="0"/>
              <a:t>Autobiographique ?</a:t>
            </a:r>
          </a:p>
          <a:p>
            <a:pPr marL="342900" indent="-342900">
              <a:buFont typeface="Arial" panose="020B0604020202020204" pitchFamily="34" charset="0"/>
              <a:buChar char="•"/>
            </a:pPr>
            <a:endParaRPr lang="fr-FR" sz="2000" dirty="0"/>
          </a:p>
          <a:p>
            <a:r>
              <a:rPr lang="fr-FR" sz="2000" i="1" dirty="0"/>
              <a:t>Expression :</a:t>
            </a:r>
            <a:br>
              <a:rPr lang="fr-FR" sz="2000" i="1" dirty="0"/>
            </a:br>
            <a:r>
              <a:rPr lang="fr-FR" sz="2000" i="1" dirty="0"/>
              <a:t>« L’artiste semble chercher moins à représenter le réel qu’à en déconstruire les mécanismes perceptifs. »</a:t>
            </a:r>
          </a:p>
        </p:txBody>
      </p:sp>
      <p:sp>
        <p:nvSpPr>
          <p:cNvPr id="7" name="ZoneTexte 6">
            <a:extLst>
              <a:ext uri="{FF2B5EF4-FFF2-40B4-BE49-F238E27FC236}">
                <a16:creationId xmlns:a16="http://schemas.microsoft.com/office/drawing/2014/main" id="{D5A457F8-28D8-CD80-7CEA-977707BDBB9B}"/>
              </a:ext>
            </a:extLst>
          </p:cNvPr>
          <p:cNvSpPr txBox="1"/>
          <p:nvPr/>
        </p:nvSpPr>
        <p:spPr>
          <a:xfrm>
            <a:off x="7675807" y="1265586"/>
            <a:ext cx="2743199" cy="3785652"/>
          </a:xfrm>
          <a:prstGeom prst="rect">
            <a:avLst/>
          </a:prstGeom>
          <a:noFill/>
        </p:spPr>
        <p:txBody>
          <a:bodyPr wrap="square" rtlCol="0">
            <a:spAutoFit/>
          </a:bodyPr>
          <a:lstStyle/>
          <a:p>
            <a:r>
              <a:rPr lang="fr-FR" sz="2000" dirty="0">
                <a:effectLst>
                  <a:outerShdw blurRad="38100" dist="38100" dir="2700000" algn="tl">
                    <a:srgbClr val="000000">
                      <a:alpha val="43137"/>
                    </a:srgbClr>
                  </a:outerShdw>
                </a:effectLst>
              </a:rPr>
              <a:t>La réception critique</a:t>
            </a:r>
          </a:p>
          <a:p>
            <a:endParaRPr lang="fr-FR" sz="2000" dirty="0">
              <a:effectLst>
                <a:outerShdw blurRad="38100" dist="38100" dir="2700000" algn="tl">
                  <a:srgbClr val="000000">
                    <a:alpha val="43137"/>
                  </a:srgbClr>
                </a:outerShdw>
              </a:effectLst>
            </a:endParaRPr>
          </a:p>
          <a:p>
            <a:r>
              <a:rPr lang="fr-FR" sz="2000" b="1" dirty="0"/>
              <a:t>Enrichir l’interprétation en intégrant :</a:t>
            </a:r>
          </a:p>
          <a:p>
            <a:pPr marL="342900" indent="-342900">
              <a:buFont typeface="Arial" panose="020B0604020202020204" pitchFamily="34" charset="0"/>
              <a:buChar char="•"/>
            </a:pPr>
            <a:r>
              <a:rPr lang="fr-FR" sz="2000" dirty="0"/>
              <a:t>Les controverses</a:t>
            </a:r>
          </a:p>
          <a:p>
            <a:pPr marL="342900" indent="-342900">
              <a:buFont typeface="Arial" panose="020B0604020202020204" pitchFamily="34" charset="0"/>
              <a:buChar char="•"/>
            </a:pPr>
            <a:r>
              <a:rPr lang="fr-FR" sz="2000" dirty="0"/>
              <a:t>Les scandales</a:t>
            </a:r>
          </a:p>
          <a:p>
            <a:pPr marL="342900" indent="-342900">
              <a:buFont typeface="Arial" panose="020B0604020202020204" pitchFamily="34" charset="0"/>
              <a:buChar char="•"/>
            </a:pPr>
            <a:r>
              <a:rPr lang="fr-FR" sz="2000" dirty="0"/>
              <a:t>Les critiques initiales</a:t>
            </a:r>
          </a:p>
          <a:p>
            <a:pPr marL="342900" indent="-342900">
              <a:buFont typeface="Arial" panose="020B0604020202020204" pitchFamily="34" charset="0"/>
              <a:buChar char="•"/>
            </a:pPr>
            <a:r>
              <a:rPr lang="fr-FR" sz="2000" dirty="0"/>
              <a:t>L’évolution du regard du public</a:t>
            </a:r>
          </a:p>
          <a:p>
            <a:pPr marL="342900" indent="-342900">
              <a:buFont typeface="Arial" panose="020B0604020202020204" pitchFamily="34" charset="0"/>
              <a:buChar char="•"/>
            </a:pPr>
            <a:r>
              <a:rPr lang="fr-FR" sz="2000" dirty="0"/>
              <a:t>Une œuvre vit dans le temps.</a:t>
            </a:r>
          </a:p>
          <a:p>
            <a:endParaRPr lang="fr-FR" sz="2000" dirty="0"/>
          </a:p>
        </p:txBody>
      </p:sp>
      <p:sp>
        <p:nvSpPr>
          <p:cNvPr id="8" name="ZoneTexte 7">
            <a:extLst>
              <a:ext uri="{FF2B5EF4-FFF2-40B4-BE49-F238E27FC236}">
                <a16:creationId xmlns:a16="http://schemas.microsoft.com/office/drawing/2014/main" id="{C56E9947-DDB4-6533-72C0-4364CD177911}"/>
              </a:ext>
            </a:extLst>
          </p:cNvPr>
          <p:cNvSpPr txBox="1"/>
          <p:nvPr/>
        </p:nvSpPr>
        <p:spPr>
          <a:xfrm>
            <a:off x="1757160" y="311479"/>
            <a:ext cx="7482626" cy="954107"/>
          </a:xfrm>
          <a:prstGeom prst="rect">
            <a:avLst/>
          </a:prstGeom>
          <a:noFill/>
        </p:spPr>
        <p:txBody>
          <a:bodyPr wrap="square" rtlCol="0">
            <a:spAutoFit/>
          </a:bodyPr>
          <a:lstStyle/>
          <a:p>
            <a:pPr algn="ctr"/>
            <a:r>
              <a:rPr lang="fr-FR" sz="2800" u="sng" dirty="0"/>
              <a:t>L’interprétation : construire un sens argumenté</a:t>
            </a:r>
          </a:p>
          <a:p>
            <a:pPr algn="ctr"/>
            <a:endParaRPr lang="fr-FR" sz="2800" dirty="0"/>
          </a:p>
        </p:txBody>
      </p:sp>
    </p:spTree>
    <p:extLst>
      <p:ext uri="{BB962C8B-B14F-4D97-AF65-F5344CB8AC3E}">
        <p14:creationId xmlns:p14="http://schemas.microsoft.com/office/powerpoint/2010/main" val="2478735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58C47AB-8DB1-BF75-EFF1-6ECD4F316E66}"/>
              </a:ext>
            </a:extLst>
          </p:cNvPr>
          <p:cNvSpPr>
            <a:spLocks noGrp="1"/>
          </p:cNvSpPr>
          <p:nvPr>
            <p:ph idx="1"/>
          </p:nvPr>
        </p:nvSpPr>
        <p:spPr>
          <a:xfrm>
            <a:off x="838200" y="492369"/>
            <a:ext cx="10515600" cy="5684594"/>
          </a:xfrm>
        </p:spPr>
        <p:txBody>
          <a:bodyPr>
            <a:normAutofit fontScale="85000" lnSpcReduction="10000"/>
          </a:bodyPr>
          <a:lstStyle/>
          <a:p>
            <a:pPr marL="1028700" lvl="1" indent="-571500">
              <a:buFont typeface="+mj-lt"/>
              <a:buAutoNum type="romanLcPeriod" startAt="11"/>
            </a:pPr>
            <a:r>
              <a:rPr lang="fr-FR" sz="3100" dirty="0"/>
              <a:t>Rédiger un commentaire critique</a:t>
            </a:r>
          </a:p>
          <a:p>
            <a:pPr marL="0" indent="0">
              <a:buNone/>
            </a:pPr>
            <a:r>
              <a:rPr lang="fr-FR" dirty="0"/>
              <a:t>La rédaction d'un commentaire critique est un exercice de haute voltige intellectuelle. Il ne s'agit pas de résumer, mais d'</a:t>
            </a:r>
            <a:r>
              <a:rPr lang="fr-FR" b="1" dirty="0"/>
              <a:t>évaluer la pertinence</a:t>
            </a:r>
            <a:r>
              <a:rPr lang="fr-FR" dirty="0"/>
              <a:t>, la </a:t>
            </a:r>
            <a:r>
              <a:rPr lang="fr-FR" b="1" dirty="0"/>
              <a:t>rigueur</a:t>
            </a:r>
            <a:r>
              <a:rPr lang="fr-FR" dirty="0"/>
              <a:t> et la </a:t>
            </a:r>
            <a:r>
              <a:rPr lang="fr-FR" b="1" dirty="0"/>
              <a:t>portée</a:t>
            </a:r>
            <a:r>
              <a:rPr lang="fr-FR" dirty="0"/>
              <a:t> d'un texte, d'un projet ou d'une thèse.</a:t>
            </a:r>
          </a:p>
          <a:p>
            <a:pPr marL="0" indent="0">
              <a:buNone/>
            </a:pPr>
            <a:r>
              <a:rPr lang="fr-FR" u="sng" dirty="0"/>
              <a:t>La posture critique et l’examen de la cohérence</a:t>
            </a:r>
          </a:p>
          <a:p>
            <a:pPr marL="0" indent="0">
              <a:buNone/>
            </a:pPr>
            <a:r>
              <a:rPr lang="fr-FR" dirty="0"/>
              <a:t>La première étape consiste à déconstruire l'architecture du sujet pour en révéler les forces et les failles.</a:t>
            </a:r>
          </a:p>
          <a:p>
            <a:pPr marL="0" indent="0">
              <a:buNone/>
            </a:pPr>
            <a:r>
              <a:rPr lang="fr-FR" dirty="0">
                <a:effectLst>
                  <a:outerShdw blurRad="38100" dist="38100" dir="2700000" algn="tl">
                    <a:srgbClr val="000000">
                      <a:alpha val="43137"/>
                    </a:srgbClr>
                  </a:outerShdw>
                </a:effectLst>
              </a:rPr>
              <a:t>Évaluer la thèse : </a:t>
            </a:r>
            <a:r>
              <a:rPr lang="fr-FR" dirty="0"/>
              <a:t>Est-elle novatrice ou repose-t-elle sur des postulats obsolètes ?</a:t>
            </a:r>
          </a:p>
          <a:p>
            <a:pPr marL="457200" lvl="1" indent="0">
              <a:buNone/>
            </a:pPr>
            <a:r>
              <a:rPr lang="fr-FR" i="1" dirty="0"/>
              <a:t>Expression :</a:t>
            </a:r>
            <a:r>
              <a:rPr lang="fr-FR" dirty="0"/>
              <a:t> « L'auteur développe un argumentaire </a:t>
            </a:r>
            <a:r>
              <a:rPr lang="fr-FR" b="1" dirty="0"/>
              <a:t>nuancé</a:t>
            </a:r>
            <a:r>
              <a:rPr lang="fr-FR" dirty="0"/>
              <a:t>, bien que sa prémisse sur l'automatisation totale semble </a:t>
            </a:r>
            <a:r>
              <a:rPr lang="fr-FR" b="1" dirty="0"/>
              <a:t>contestable</a:t>
            </a:r>
            <a:r>
              <a:rPr lang="fr-FR" dirty="0"/>
              <a:t> au regard des réalités actuelles. »</a:t>
            </a:r>
          </a:p>
          <a:p>
            <a:pPr marL="0" indent="0">
              <a:buNone/>
            </a:pPr>
            <a:r>
              <a:rPr lang="fr-FR" dirty="0">
                <a:effectLst>
                  <a:outerShdw blurRad="38100" dist="38100" dir="2700000" algn="tl">
                    <a:srgbClr val="000000">
                      <a:alpha val="43137"/>
                    </a:srgbClr>
                  </a:outerShdw>
                </a:effectLst>
              </a:rPr>
              <a:t>Analyser la structure argumentative : </a:t>
            </a:r>
            <a:r>
              <a:rPr lang="fr-FR" dirty="0"/>
              <a:t>Le passage des prémisses à la conclusion est-il fluide ?</a:t>
            </a:r>
          </a:p>
          <a:p>
            <a:pPr marL="457200" lvl="1" indent="0">
              <a:buNone/>
            </a:pPr>
            <a:r>
              <a:rPr lang="fr-FR" i="1" dirty="0"/>
              <a:t>Mots-clés :</a:t>
            </a:r>
            <a:r>
              <a:rPr lang="fr-FR" dirty="0"/>
              <a:t> </a:t>
            </a:r>
            <a:r>
              <a:rPr lang="fr-FR" b="1" dirty="0"/>
              <a:t>Articuler</a:t>
            </a:r>
            <a:r>
              <a:rPr lang="fr-FR" dirty="0"/>
              <a:t>, sous-tendre, corréler, faire l'économie de (omettre).</a:t>
            </a:r>
          </a:p>
          <a:p>
            <a:pPr marL="0" indent="0">
              <a:buNone/>
            </a:pPr>
            <a:r>
              <a:rPr lang="fr-FR" dirty="0">
                <a:effectLst>
                  <a:outerShdw blurRad="38100" dist="38100" dir="2700000" algn="tl">
                    <a:srgbClr val="000000">
                      <a:alpha val="43137"/>
                    </a:srgbClr>
                  </a:outerShdw>
                </a:effectLst>
              </a:rPr>
              <a:t>La</a:t>
            </a:r>
            <a:r>
              <a:rPr lang="fr-FR" b="1" dirty="0"/>
              <a:t> </a:t>
            </a:r>
            <a:r>
              <a:rPr lang="fr-FR" dirty="0">
                <a:effectLst>
                  <a:outerShdw blurRad="38100" dist="38100" dir="2700000" algn="tl">
                    <a:srgbClr val="000000">
                      <a:alpha val="43137"/>
                    </a:srgbClr>
                  </a:outerShdw>
                </a:effectLst>
              </a:rPr>
              <a:t>pertinence des preuves : </a:t>
            </a:r>
            <a:r>
              <a:rPr lang="fr-FR" dirty="0"/>
              <a:t>Les données citées sont-elles fiables et d'actualité ?</a:t>
            </a:r>
          </a:p>
          <a:p>
            <a:pPr marL="457200" lvl="1" indent="0">
              <a:buNone/>
            </a:pPr>
            <a:r>
              <a:rPr lang="fr-FR" i="1" dirty="0"/>
              <a:t>Expression :</a:t>
            </a:r>
            <a:r>
              <a:rPr lang="fr-FR" dirty="0"/>
              <a:t> « Le raisonnement s'appuie sur une </a:t>
            </a:r>
            <a:r>
              <a:rPr lang="fr-FR" b="1" dirty="0"/>
              <a:t>base empirique solide</a:t>
            </a:r>
            <a:r>
              <a:rPr lang="fr-FR" dirty="0"/>
              <a:t>, ce qui confère au texte une indéniable </a:t>
            </a:r>
            <a:r>
              <a:rPr lang="fr-FR" b="1" dirty="0"/>
              <a:t>crédibilité scientifique</a:t>
            </a:r>
            <a:r>
              <a:rPr lang="fr-FR" dirty="0"/>
              <a:t>. »</a:t>
            </a:r>
          </a:p>
          <a:p>
            <a:pPr marL="0" indent="0">
              <a:buNone/>
            </a:pPr>
            <a:endParaRPr lang="fr-FR" dirty="0"/>
          </a:p>
        </p:txBody>
      </p:sp>
      <p:sp>
        <p:nvSpPr>
          <p:cNvPr id="2" name="Espace réservé du numéro de diapositive 1">
            <a:extLst>
              <a:ext uri="{FF2B5EF4-FFF2-40B4-BE49-F238E27FC236}">
                <a16:creationId xmlns:a16="http://schemas.microsoft.com/office/drawing/2014/main" id="{DE540518-4AAC-CF14-BCED-789674A70AE5}"/>
              </a:ext>
            </a:extLst>
          </p:cNvPr>
          <p:cNvSpPr>
            <a:spLocks noGrp="1"/>
          </p:cNvSpPr>
          <p:nvPr>
            <p:ph type="sldNum" sz="quarter" idx="12"/>
          </p:nvPr>
        </p:nvSpPr>
        <p:spPr/>
        <p:txBody>
          <a:bodyPr/>
          <a:lstStyle/>
          <a:p>
            <a:fld id="{49DB4E91-02F2-4120-BFDC-D5317FE06960}" type="slidenum">
              <a:rPr lang="fr-FR" smtClean="0"/>
              <a:t>32</a:t>
            </a:fld>
            <a:endParaRPr lang="fr-FR"/>
          </a:p>
        </p:txBody>
      </p:sp>
    </p:spTree>
    <p:extLst>
      <p:ext uri="{BB962C8B-B14F-4D97-AF65-F5344CB8AC3E}">
        <p14:creationId xmlns:p14="http://schemas.microsoft.com/office/powerpoint/2010/main" val="19809414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D730176-2B54-A49D-33E5-D31B04EC8943}"/>
              </a:ext>
            </a:extLst>
          </p:cNvPr>
          <p:cNvSpPr>
            <a:spLocks noGrp="1"/>
          </p:cNvSpPr>
          <p:nvPr>
            <p:ph idx="1"/>
          </p:nvPr>
        </p:nvSpPr>
        <p:spPr>
          <a:xfrm>
            <a:off x="838200" y="643944"/>
            <a:ext cx="10515600" cy="5533019"/>
          </a:xfrm>
        </p:spPr>
        <p:txBody>
          <a:bodyPr/>
          <a:lstStyle/>
          <a:p>
            <a:pPr marL="0" indent="0">
              <a:buNone/>
            </a:pPr>
            <a:r>
              <a:rPr lang="fr-FR" u="sng" dirty="0"/>
              <a:t>Les différentes formes de critique</a:t>
            </a:r>
          </a:p>
          <a:p>
            <a:pPr marL="0" indent="0">
              <a:buNone/>
            </a:pPr>
            <a:r>
              <a:rPr lang="fr-FR" dirty="0"/>
              <a:t>Il est important d’enseigner qu’il existe plusieurs types de critique :</a:t>
            </a:r>
          </a:p>
          <a:p>
            <a:pPr marL="0" indent="0">
              <a:buNone/>
            </a:pPr>
            <a:r>
              <a:rPr lang="fr-FR" dirty="0">
                <a:effectLst>
                  <a:outerShdw blurRad="38100" dist="38100" dir="2700000" algn="tl">
                    <a:srgbClr val="000000">
                      <a:alpha val="43137"/>
                    </a:srgbClr>
                  </a:outerShdw>
                </a:effectLst>
              </a:rPr>
              <a:t>Critique méthodologique</a:t>
            </a:r>
          </a:p>
          <a:p>
            <a:pPr marL="0" indent="0">
              <a:buNone/>
            </a:pPr>
            <a:r>
              <a:rPr lang="fr-FR" dirty="0"/>
              <a:t>→ On examine la méthode utilisée.</a:t>
            </a:r>
          </a:p>
          <a:p>
            <a:pPr marL="0" indent="0">
              <a:buNone/>
            </a:pPr>
            <a:r>
              <a:rPr lang="fr-FR" dirty="0">
                <a:effectLst>
                  <a:outerShdw blurRad="38100" dist="38100" dir="2700000" algn="tl">
                    <a:srgbClr val="000000">
                      <a:alpha val="43137"/>
                    </a:srgbClr>
                  </a:outerShdw>
                </a:effectLst>
              </a:rPr>
              <a:t>Critique épistémologique</a:t>
            </a:r>
          </a:p>
          <a:p>
            <a:pPr marL="0" indent="0">
              <a:buNone/>
            </a:pPr>
            <a:r>
              <a:rPr lang="fr-FR" dirty="0"/>
              <a:t>→ On interroge la validité des concepts.</a:t>
            </a:r>
          </a:p>
          <a:p>
            <a:pPr marL="0" indent="0">
              <a:buNone/>
            </a:pPr>
            <a:r>
              <a:rPr lang="fr-FR" dirty="0">
                <a:effectLst>
                  <a:outerShdw blurRad="38100" dist="38100" dir="2700000" algn="tl">
                    <a:srgbClr val="000000">
                      <a:alpha val="43137"/>
                    </a:srgbClr>
                  </a:outerShdw>
                </a:effectLst>
              </a:rPr>
              <a:t>Critique éthique</a:t>
            </a:r>
          </a:p>
          <a:p>
            <a:pPr marL="0" indent="0">
              <a:buNone/>
            </a:pPr>
            <a:r>
              <a:rPr lang="fr-FR" dirty="0"/>
              <a:t>→ On évalue les implications morales.</a:t>
            </a:r>
          </a:p>
          <a:p>
            <a:pPr marL="0" indent="0">
              <a:buNone/>
            </a:pPr>
            <a:r>
              <a:rPr lang="fr-FR" dirty="0">
                <a:effectLst>
                  <a:outerShdw blurRad="38100" dist="38100" dir="2700000" algn="tl">
                    <a:srgbClr val="000000">
                      <a:alpha val="43137"/>
                    </a:srgbClr>
                  </a:outerShdw>
                </a:effectLst>
              </a:rPr>
              <a:t>Critique pragmatique</a:t>
            </a:r>
          </a:p>
          <a:p>
            <a:pPr marL="0" indent="0">
              <a:buNone/>
            </a:pPr>
            <a:r>
              <a:rPr lang="fr-FR" dirty="0"/>
              <a:t>→ On analyse l’efficacité réelle des propositions.</a:t>
            </a:r>
          </a:p>
          <a:p>
            <a:pPr marL="0" indent="0">
              <a:buNone/>
            </a:pPr>
            <a:endParaRPr lang="fr-FR" dirty="0"/>
          </a:p>
        </p:txBody>
      </p:sp>
      <p:sp>
        <p:nvSpPr>
          <p:cNvPr id="4" name="Espace réservé du numéro de diapositive 3">
            <a:extLst>
              <a:ext uri="{FF2B5EF4-FFF2-40B4-BE49-F238E27FC236}">
                <a16:creationId xmlns:a16="http://schemas.microsoft.com/office/drawing/2014/main" id="{D4CB8CE3-4F80-3738-5787-C81D6B4E441C}"/>
              </a:ext>
            </a:extLst>
          </p:cNvPr>
          <p:cNvSpPr>
            <a:spLocks noGrp="1"/>
          </p:cNvSpPr>
          <p:nvPr>
            <p:ph type="sldNum" sz="quarter" idx="12"/>
          </p:nvPr>
        </p:nvSpPr>
        <p:spPr/>
        <p:txBody>
          <a:bodyPr/>
          <a:lstStyle/>
          <a:p>
            <a:fld id="{49DB4E91-02F2-4120-BFDC-D5317FE06960}" type="slidenum">
              <a:rPr lang="fr-FR" smtClean="0"/>
              <a:t>33</a:t>
            </a:fld>
            <a:endParaRPr lang="fr-FR"/>
          </a:p>
        </p:txBody>
      </p:sp>
    </p:spTree>
    <p:extLst>
      <p:ext uri="{BB962C8B-B14F-4D97-AF65-F5344CB8AC3E}">
        <p14:creationId xmlns:p14="http://schemas.microsoft.com/office/powerpoint/2010/main" val="35783379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4611369-2F23-124C-69D0-2F8E8AFCC962}"/>
              </a:ext>
            </a:extLst>
          </p:cNvPr>
          <p:cNvSpPr>
            <a:spLocks noGrp="1"/>
          </p:cNvSpPr>
          <p:nvPr>
            <p:ph idx="1"/>
          </p:nvPr>
        </p:nvSpPr>
        <p:spPr>
          <a:xfrm>
            <a:off x="838200" y="731520"/>
            <a:ext cx="10515600" cy="5445443"/>
          </a:xfrm>
        </p:spPr>
        <p:txBody>
          <a:bodyPr/>
          <a:lstStyle/>
          <a:p>
            <a:pPr marL="1028700" lvl="1" indent="-571500">
              <a:buFont typeface="+mj-lt"/>
              <a:buAutoNum type="romanLcPeriod" startAt="12"/>
            </a:pPr>
            <a:r>
              <a:rPr lang="fr-FR" sz="3000" dirty="0"/>
              <a:t>Exprimer son opinion sur la qualité d’un restaurant</a:t>
            </a:r>
          </a:p>
          <a:p>
            <a:pPr marL="0" indent="0">
              <a:buNone/>
            </a:pPr>
            <a:r>
              <a:rPr lang="fr-FR" dirty="0"/>
              <a:t>Exprimer un avis sur la qualité d'un restaurant demande de dépasser le simple « c'était bon » pour analyser l'</a:t>
            </a:r>
            <a:r>
              <a:rPr lang="fr-FR" b="1" dirty="0">
                <a:effectLst/>
              </a:rPr>
              <a:t>expérience client</a:t>
            </a:r>
            <a:r>
              <a:rPr lang="fr-FR" dirty="0"/>
              <a:t> dans sa globalité : de </a:t>
            </a:r>
            <a:r>
              <a:rPr lang="fr-FR" b="1" dirty="0"/>
              <a:t>la technicité des assiettes</a:t>
            </a:r>
            <a:r>
              <a:rPr lang="fr-FR" dirty="0"/>
              <a:t> à l'éthique du </a:t>
            </a:r>
            <a:r>
              <a:rPr lang="fr-FR" b="1" dirty="0" err="1"/>
              <a:t>sourcing</a:t>
            </a:r>
            <a:r>
              <a:rPr lang="fr-FR" dirty="0"/>
              <a:t>.</a:t>
            </a:r>
          </a:p>
          <a:p>
            <a:pPr marL="0" indent="0">
              <a:buNone/>
            </a:pPr>
            <a:r>
              <a:rPr lang="fr-FR" u="sng" dirty="0"/>
              <a:t>Evaluer l’assiette : technicité et saveurs</a:t>
            </a:r>
          </a:p>
          <a:p>
            <a:pPr marL="0" indent="0">
              <a:buNone/>
            </a:pPr>
            <a:r>
              <a:rPr lang="fr-FR" dirty="0"/>
              <a:t>Au niveau avancé, on commente la maîtrise des cuissons, l'équilibre des goûts et l'originalité de la proposition.</a:t>
            </a:r>
          </a:p>
          <a:p>
            <a:pPr marL="0" indent="0">
              <a:buNone/>
            </a:pPr>
            <a:r>
              <a:rPr lang="fr-FR" dirty="0">
                <a:effectLst>
                  <a:outerShdw blurRad="38100" dist="38100" dir="2700000" algn="tl">
                    <a:srgbClr val="000000">
                      <a:alpha val="43137"/>
                    </a:srgbClr>
                  </a:outerShdw>
                </a:effectLst>
              </a:rPr>
              <a:t>La justesse des saveurs : </a:t>
            </a:r>
            <a:r>
              <a:rPr lang="fr-FR" dirty="0"/>
              <a:t>«</a:t>
            </a:r>
            <a:r>
              <a:rPr lang="fr-FR" dirty="0">
                <a:effectLst>
                  <a:outerShdw blurRad="38100" dist="38100" dir="2700000" algn="tl">
                    <a:srgbClr val="000000">
                      <a:alpha val="43137"/>
                    </a:srgbClr>
                  </a:outerShdw>
                </a:effectLst>
              </a:rPr>
              <a:t> </a:t>
            </a:r>
            <a:r>
              <a:rPr lang="fr-FR" dirty="0"/>
              <a:t>Les saveurs sont </a:t>
            </a:r>
            <a:r>
              <a:rPr lang="fr-FR" b="1" dirty="0"/>
              <a:t>parfaitement équilibrées</a:t>
            </a:r>
            <a:r>
              <a:rPr lang="fr-FR" dirty="0"/>
              <a:t>, avec une mention spéciale pour l'acidité qui vient réveiller le plat. »</a:t>
            </a:r>
          </a:p>
          <a:p>
            <a:pPr marL="0" indent="0">
              <a:buNone/>
            </a:pPr>
            <a:r>
              <a:rPr lang="fr-FR" dirty="0">
                <a:effectLst>
                  <a:outerShdw blurRad="38100" dist="38100" dir="2700000" algn="tl">
                    <a:srgbClr val="000000">
                      <a:alpha val="43137"/>
                    </a:srgbClr>
                  </a:outerShdw>
                </a:effectLst>
              </a:rPr>
              <a:t>La maîtrise technique : </a:t>
            </a:r>
            <a:r>
              <a:rPr lang="fr-FR" dirty="0"/>
              <a:t>« On sent une réelle </a:t>
            </a:r>
            <a:r>
              <a:rPr lang="fr-FR" b="1" dirty="0"/>
              <a:t>maîtrise technique</a:t>
            </a:r>
            <a:r>
              <a:rPr lang="fr-FR" dirty="0"/>
              <a:t>, notamment dans la précision des cuissons et la finesse des textures. »</a:t>
            </a:r>
          </a:p>
          <a:p>
            <a:pPr marL="0" indent="0">
              <a:buNone/>
            </a:pPr>
            <a:endParaRPr lang="fr-FR" dirty="0"/>
          </a:p>
        </p:txBody>
      </p:sp>
      <p:sp>
        <p:nvSpPr>
          <p:cNvPr id="2" name="Espace réservé du numéro de diapositive 1">
            <a:extLst>
              <a:ext uri="{FF2B5EF4-FFF2-40B4-BE49-F238E27FC236}">
                <a16:creationId xmlns:a16="http://schemas.microsoft.com/office/drawing/2014/main" id="{80316343-F97E-3C67-308D-08CF2DD2647A}"/>
              </a:ext>
            </a:extLst>
          </p:cNvPr>
          <p:cNvSpPr>
            <a:spLocks noGrp="1"/>
          </p:cNvSpPr>
          <p:nvPr>
            <p:ph type="sldNum" sz="quarter" idx="12"/>
          </p:nvPr>
        </p:nvSpPr>
        <p:spPr/>
        <p:txBody>
          <a:bodyPr/>
          <a:lstStyle/>
          <a:p>
            <a:fld id="{49DB4E91-02F2-4120-BFDC-D5317FE06960}" type="slidenum">
              <a:rPr lang="fr-FR" smtClean="0"/>
              <a:t>34</a:t>
            </a:fld>
            <a:endParaRPr lang="fr-FR"/>
          </a:p>
        </p:txBody>
      </p:sp>
    </p:spTree>
    <p:extLst>
      <p:ext uri="{BB962C8B-B14F-4D97-AF65-F5344CB8AC3E}">
        <p14:creationId xmlns:p14="http://schemas.microsoft.com/office/powerpoint/2010/main" val="29151416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4BB9568-99D6-22C8-4621-14BB45F110DC}"/>
              </a:ext>
            </a:extLst>
          </p:cNvPr>
          <p:cNvSpPr>
            <a:spLocks noGrp="1"/>
          </p:cNvSpPr>
          <p:nvPr>
            <p:ph idx="1"/>
          </p:nvPr>
        </p:nvSpPr>
        <p:spPr>
          <a:xfrm>
            <a:off x="838200" y="675249"/>
            <a:ext cx="10515600" cy="5501714"/>
          </a:xfrm>
        </p:spPr>
        <p:txBody>
          <a:bodyPr/>
          <a:lstStyle/>
          <a:p>
            <a:pPr marL="0" indent="0">
              <a:buNone/>
            </a:pPr>
            <a:r>
              <a:rPr lang="fr-FR" dirty="0">
                <a:effectLst>
                  <a:outerShdw blurRad="38100" dist="38100" dir="2700000" algn="tl">
                    <a:srgbClr val="000000">
                      <a:alpha val="43137"/>
                    </a:srgbClr>
                  </a:outerShdw>
                </a:effectLst>
              </a:rPr>
              <a:t>Le</a:t>
            </a:r>
            <a:r>
              <a:rPr lang="fr-FR" b="1" dirty="0"/>
              <a:t> </a:t>
            </a:r>
            <a:r>
              <a:rPr lang="fr-FR" dirty="0">
                <a:effectLst>
                  <a:outerShdw blurRad="38100" dist="38100" dir="2700000" algn="tl">
                    <a:srgbClr val="000000">
                      <a:alpha val="43137"/>
                    </a:srgbClr>
                  </a:outerShdw>
                </a:effectLst>
              </a:rPr>
              <a:t>dressage (esthétique) : </a:t>
            </a:r>
            <a:r>
              <a:rPr lang="fr-FR" dirty="0"/>
              <a:t>«</a:t>
            </a:r>
            <a:r>
              <a:rPr lang="fr-FR" dirty="0">
                <a:effectLst>
                  <a:outerShdw blurRad="38100" dist="38100" dir="2700000" algn="tl">
                    <a:srgbClr val="000000">
                      <a:alpha val="43137"/>
                    </a:srgbClr>
                  </a:outerShdw>
                </a:effectLst>
              </a:rPr>
              <a:t> </a:t>
            </a:r>
            <a:r>
              <a:rPr lang="fr-FR" dirty="0"/>
              <a:t>Le dressage est </a:t>
            </a:r>
            <a:r>
              <a:rPr lang="fr-FR" b="1" dirty="0"/>
              <a:t>graphique et épuré</a:t>
            </a:r>
            <a:r>
              <a:rPr lang="fr-FR" dirty="0"/>
              <a:t>, témoignant d'un souci du détail qui flatte l'œil avant les papilles. »</a:t>
            </a:r>
          </a:p>
          <a:p>
            <a:pPr marL="0" indent="0">
              <a:buNone/>
            </a:pPr>
            <a:r>
              <a:rPr lang="fr-FR" dirty="0">
                <a:effectLst>
                  <a:outerShdw blurRad="38100" dist="38100" dir="2700000" algn="tl">
                    <a:srgbClr val="000000">
                      <a:alpha val="43137"/>
                    </a:srgbClr>
                  </a:outerShdw>
                </a:effectLst>
              </a:rPr>
              <a:t>Le </a:t>
            </a:r>
            <a:r>
              <a:rPr lang="fr-FR" dirty="0" err="1">
                <a:effectLst>
                  <a:outerShdw blurRad="38100" dist="38100" dir="2700000" algn="tl">
                    <a:srgbClr val="000000">
                      <a:alpha val="43137"/>
                    </a:srgbClr>
                  </a:outerShdw>
                </a:effectLst>
              </a:rPr>
              <a:t>sourcing</a:t>
            </a:r>
            <a:r>
              <a:rPr lang="fr-FR" dirty="0">
                <a:effectLst>
                  <a:outerShdw blurRad="38100" dist="38100" dir="2700000" algn="tl">
                    <a:srgbClr val="000000">
                      <a:alpha val="43137"/>
                    </a:srgbClr>
                  </a:outerShdw>
                </a:effectLst>
              </a:rPr>
              <a:t> (éthique) : </a:t>
            </a:r>
            <a:r>
              <a:rPr lang="fr-FR" dirty="0"/>
              <a:t>« La carte fait la part belle aux </a:t>
            </a:r>
            <a:r>
              <a:rPr lang="fr-FR" b="1" dirty="0"/>
              <a:t>produits de saison et de proximité</a:t>
            </a:r>
            <a:r>
              <a:rPr lang="fr-FR" dirty="0"/>
              <a:t>, soulignant un engagement écoresponsable appréciable. » </a:t>
            </a:r>
          </a:p>
        </p:txBody>
      </p:sp>
      <p:sp>
        <p:nvSpPr>
          <p:cNvPr id="2" name="Espace réservé du numéro de diapositive 1">
            <a:extLst>
              <a:ext uri="{FF2B5EF4-FFF2-40B4-BE49-F238E27FC236}">
                <a16:creationId xmlns:a16="http://schemas.microsoft.com/office/drawing/2014/main" id="{1F3D9906-0DE4-BDC6-85F1-6CD46965AD36}"/>
              </a:ext>
            </a:extLst>
          </p:cNvPr>
          <p:cNvSpPr>
            <a:spLocks noGrp="1"/>
          </p:cNvSpPr>
          <p:nvPr>
            <p:ph type="sldNum" sz="quarter" idx="12"/>
          </p:nvPr>
        </p:nvSpPr>
        <p:spPr/>
        <p:txBody>
          <a:bodyPr/>
          <a:lstStyle/>
          <a:p>
            <a:fld id="{49DB4E91-02F2-4120-BFDC-D5317FE06960}" type="slidenum">
              <a:rPr lang="fr-FR" smtClean="0"/>
              <a:t>35</a:t>
            </a:fld>
            <a:endParaRPr lang="fr-FR"/>
          </a:p>
        </p:txBody>
      </p:sp>
    </p:spTree>
    <p:extLst>
      <p:ext uri="{BB962C8B-B14F-4D97-AF65-F5344CB8AC3E}">
        <p14:creationId xmlns:p14="http://schemas.microsoft.com/office/powerpoint/2010/main" val="3962353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3B82B08-8396-2CAF-2B8E-27D5AAB4894D}"/>
              </a:ext>
            </a:extLst>
          </p:cNvPr>
          <p:cNvSpPr>
            <a:spLocks noGrp="1"/>
          </p:cNvSpPr>
          <p:nvPr>
            <p:ph idx="1"/>
          </p:nvPr>
        </p:nvSpPr>
        <p:spPr>
          <a:xfrm>
            <a:off x="825320" y="1352907"/>
            <a:ext cx="2574701" cy="4861775"/>
          </a:xfrm>
        </p:spPr>
        <p:txBody>
          <a:bodyPr>
            <a:normAutofit/>
          </a:bodyPr>
          <a:lstStyle/>
          <a:p>
            <a:pPr marL="0" indent="0">
              <a:buNone/>
            </a:pPr>
            <a:r>
              <a:rPr lang="fr-FR" sz="2300" dirty="0">
                <a:effectLst>
                  <a:outerShdw blurRad="38100" dist="38100" dir="2700000" algn="tl">
                    <a:srgbClr val="000000">
                      <a:alpha val="43137"/>
                    </a:srgbClr>
                  </a:outerShdw>
                </a:effectLst>
              </a:rPr>
              <a:t>Pour valoriser</a:t>
            </a:r>
          </a:p>
          <a:p>
            <a:r>
              <a:rPr lang="fr-FR" sz="2300" dirty="0"/>
              <a:t>Raffiné</a:t>
            </a:r>
          </a:p>
          <a:p>
            <a:r>
              <a:rPr lang="fr-FR" sz="2300" dirty="0"/>
              <a:t>Audacieux</a:t>
            </a:r>
          </a:p>
          <a:p>
            <a:r>
              <a:rPr lang="fr-FR" sz="2300" dirty="0"/>
              <a:t>Subtil</a:t>
            </a:r>
          </a:p>
          <a:p>
            <a:r>
              <a:rPr lang="fr-FR" sz="2300" dirty="0"/>
              <a:t>Harmonieux</a:t>
            </a:r>
          </a:p>
          <a:p>
            <a:r>
              <a:rPr lang="fr-FR" sz="2300" dirty="0"/>
              <a:t>Élégant</a:t>
            </a:r>
          </a:p>
          <a:p>
            <a:r>
              <a:rPr lang="fr-FR" sz="2300" dirty="0"/>
              <a:t>Maîtrisé</a:t>
            </a:r>
          </a:p>
          <a:p>
            <a:r>
              <a:rPr lang="fr-FR" sz="2300" dirty="0"/>
              <a:t>Inventif</a:t>
            </a:r>
          </a:p>
          <a:p>
            <a:r>
              <a:rPr lang="fr-FR" sz="2300" dirty="0"/>
              <a:t>Cohérent</a:t>
            </a:r>
          </a:p>
          <a:p>
            <a:pPr marL="0" indent="0">
              <a:buNone/>
            </a:pPr>
            <a:endParaRPr lang="fr-FR" sz="2300" dirty="0"/>
          </a:p>
        </p:txBody>
      </p:sp>
      <p:sp>
        <p:nvSpPr>
          <p:cNvPr id="4" name="Espace réservé du numéro de diapositive 3">
            <a:extLst>
              <a:ext uri="{FF2B5EF4-FFF2-40B4-BE49-F238E27FC236}">
                <a16:creationId xmlns:a16="http://schemas.microsoft.com/office/drawing/2014/main" id="{586725CF-7468-A95B-74B8-D00FD0508F3D}"/>
              </a:ext>
            </a:extLst>
          </p:cNvPr>
          <p:cNvSpPr>
            <a:spLocks noGrp="1"/>
          </p:cNvSpPr>
          <p:nvPr>
            <p:ph type="sldNum" sz="quarter" idx="12"/>
          </p:nvPr>
        </p:nvSpPr>
        <p:spPr/>
        <p:txBody>
          <a:bodyPr/>
          <a:lstStyle/>
          <a:p>
            <a:fld id="{49DB4E91-02F2-4120-BFDC-D5317FE06960}" type="slidenum">
              <a:rPr lang="fr-FR" smtClean="0"/>
              <a:t>36</a:t>
            </a:fld>
            <a:endParaRPr lang="fr-FR"/>
          </a:p>
        </p:txBody>
      </p:sp>
      <p:sp>
        <p:nvSpPr>
          <p:cNvPr id="5" name="ZoneTexte 4">
            <a:extLst>
              <a:ext uri="{FF2B5EF4-FFF2-40B4-BE49-F238E27FC236}">
                <a16:creationId xmlns:a16="http://schemas.microsoft.com/office/drawing/2014/main" id="{65260883-96B6-0637-89AE-990B106AE431}"/>
              </a:ext>
            </a:extLst>
          </p:cNvPr>
          <p:cNvSpPr txBox="1"/>
          <p:nvPr/>
        </p:nvSpPr>
        <p:spPr>
          <a:xfrm>
            <a:off x="2710465" y="381708"/>
            <a:ext cx="5743977" cy="523220"/>
          </a:xfrm>
          <a:prstGeom prst="rect">
            <a:avLst/>
          </a:prstGeom>
          <a:noFill/>
        </p:spPr>
        <p:txBody>
          <a:bodyPr wrap="square" rtlCol="0">
            <a:spAutoFit/>
          </a:bodyPr>
          <a:lstStyle/>
          <a:p>
            <a:pPr algn="ctr"/>
            <a:r>
              <a:rPr lang="fr-FR" sz="2800" u="sng" dirty="0"/>
              <a:t>Le lexique pour un avis professionnel</a:t>
            </a:r>
          </a:p>
        </p:txBody>
      </p:sp>
      <p:sp>
        <p:nvSpPr>
          <p:cNvPr id="6" name="ZoneTexte 5">
            <a:extLst>
              <a:ext uri="{FF2B5EF4-FFF2-40B4-BE49-F238E27FC236}">
                <a16:creationId xmlns:a16="http://schemas.microsoft.com/office/drawing/2014/main" id="{CC83AFFF-A415-40F5-2BA6-CFCF2DC3F7F7}"/>
              </a:ext>
            </a:extLst>
          </p:cNvPr>
          <p:cNvSpPr txBox="1"/>
          <p:nvPr/>
        </p:nvSpPr>
        <p:spPr>
          <a:xfrm>
            <a:off x="4249491" y="1352907"/>
            <a:ext cx="2665927" cy="3631763"/>
          </a:xfrm>
          <a:prstGeom prst="rect">
            <a:avLst/>
          </a:prstGeom>
          <a:noFill/>
        </p:spPr>
        <p:txBody>
          <a:bodyPr wrap="square" rtlCol="0">
            <a:spAutoFit/>
          </a:bodyPr>
          <a:lstStyle/>
          <a:p>
            <a:r>
              <a:rPr lang="fr-FR" sz="2300" dirty="0">
                <a:effectLst>
                  <a:outerShdw blurRad="38100" dist="38100" dir="2700000" algn="tl">
                    <a:srgbClr val="000000">
                      <a:alpha val="43137"/>
                    </a:srgbClr>
                  </a:outerShdw>
                </a:effectLst>
              </a:rPr>
              <a:t>Pour nuancer</a:t>
            </a:r>
          </a:p>
          <a:p>
            <a:pPr marL="457200" indent="-457200">
              <a:buFont typeface="Arial" panose="020B0604020202020204" pitchFamily="34" charset="0"/>
              <a:buChar char="•"/>
            </a:pPr>
            <a:r>
              <a:rPr lang="fr-FR" sz="2300" dirty="0"/>
              <a:t>Perfectible</a:t>
            </a:r>
          </a:p>
          <a:p>
            <a:pPr marL="457200" indent="-457200">
              <a:buFont typeface="Arial" panose="020B0604020202020204" pitchFamily="34" charset="0"/>
              <a:buChar char="•"/>
            </a:pPr>
            <a:r>
              <a:rPr lang="fr-FR" sz="2300" dirty="0"/>
              <a:t>Déséquilibré</a:t>
            </a:r>
          </a:p>
          <a:p>
            <a:pPr marL="457200" indent="-457200">
              <a:buFont typeface="Arial" panose="020B0604020202020204" pitchFamily="34" charset="0"/>
              <a:buChar char="•"/>
            </a:pPr>
            <a:r>
              <a:rPr lang="fr-FR" sz="2300" dirty="0"/>
              <a:t>Inégal</a:t>
            </a:r>
          </a:p>
          <a:p>
            <a:pPr marL="457200" indent="-457200">
              <a:buFont typeface="Arial" panose="020B0604020202020204" pitchFamily="34" charset="0"/>
              <a:buChar char="•"/>
            </a:pPr>
            <a:r>
              <a:rPr lang="fr-FR" sz="2300" dirty="0"/>
              <a:t>Convenu</a:t>
            </a:r>
          </a:p>
          <a:p>
            <a:pPr marL="457200" indent="-457200">
              <a:buFont typeface="Arial" panose="020B0604020202020204" pitchFamily="34" charset="0"/>
              <a:buChar char="•"/>
            </a:pPr>
            <a:r>
              <a:rPr lang="fr-FR" sz="2300" dirty="0"/>
              <a:t>Manque de relief</a:t>
            </a:r>
          </a:p>
          <a:p>
            <a:pPr marL="457200" indent="-457200">
              <a:buFont typeface="Arial" panose="020B0604020202020204" pitchFamily="34" charset="0"/>
              <a:buChar char="•"/>
            </a:pPr>
            <a:r>
              <a:rPr lang="fr-FR" sz="2300" dirty="0"/>
              <a:t>Excessif</a:t>
            </a:r>
          </a:p>
          <a:p>
            <a:pPr marL="457200" indent="-457200">
              <a:buFont typeface="Arial" panose="020B0604020202020204" pitchFamily="34" charset="0"/>
              <a:buChar char="•"/>
            </a:pPr>
            <a:r>
              <a:rPr lang="fr-FR" sz="2300" dirty="0"/>
              <a:t>Discutable</a:t>
            </a:r>
          </a:p>
          <a:p>
            <a:endParaRPr lang="fr-FR" sz="2300" dirty="0"/>
          </a:p>
        </p:txBody>
      </p:sp>
      <p:sp>
        <p:nvSpPr>
          <p:cNvPr id="7" name="ZoneTexte 6">
            <a:extLst>
              <a:ext uri="{FF2B5EF4-FFF2-40B4-BE49-F238E27FC236}">
                <a16:creationId xmlns:a16="http://schemas.microsoft.com/office/drawing/2014/main" id="{F670D4B7-A446-22D7-2B0C-918526EDB7D6}"/>
              </a:ext>
            </a:extLst>
          </p:cNvPr>
          <p:cNvSpPr txBox="1"/>
          <p:nvPr/>
        </p:nvSpPr>
        <p:spPr>
          <a:xfrm>
            <a:off x="7764888" y="1352907"/>
            <a:ext cx="2434107" cy="5755422"/>
          </a:xfrm>
          <a:prstGeom prst="rect">
            <a:avLst/>
          </a:prstGeom>
          <a:noFill/>
        </p:spPr>
        <p:txBody>
          <a:bodyPr wrap="square" rtlCol="0">
            <a:spAutoFit/>
          </a:bodyPr>
          <a:lstStyle/>
          <a:p>
            <a:r>
              <a:rPr lang="fr-FR" sz="2300" dirty="0">
                <a:effectLst>
                  <a:outerShdw blurRad="38100" dist="38100" dir="2700000" algn="tl">
                    <a:srgbClr val="000000">
                      <a:alpha val="43137"/>
                    </a:srgbClr>
                  </a:outerShdw>
                </a:effectLst>
              </a:rPr>
              <a:t>Pour conclure</a:t>
            </a:r>
          </a:p>
          <a:p>
            <a:pPr marL="457200" indent="-457200">
              <a:buFont typeface="Arial" panose="020B0604020202020204" pitchFamily="34" charset="0"/>
              <a:buChar char="•"/>
            </a:pPr>
            <a:r>
              <a:rPr lang="fr-FR" sz="2300" dirty="0"/>
              <a:t>Une expérience convaincante</a:t>
            </a:r>
          </a:p>
          <a:p>
            <a:pPr marL="457200" indent="-457200">
              <a:buFont typeface="Arial" panose="020B0604020202020204" pitchFamily="34" charset="0"/>
              <a:buChar char="•"/>
            </a:pPr>
            <a:r>
              <a:rPr lang="fr-FR" sz="2300" dirty="0"/>
              <a:t>Une proposition singulière</a:t>
            </a:r>
          </a:p>
          <a:p>
            <a:pPr marL="457200" indent="-457200">
              <a:buFont typeface="Arial" panose="020B0604020202020204" pitchFamily="34" charset="0"/>
              <a:buChar char="•"/>
            </a:pPr>
            <a:r>
              <a:rPr lang="fr-FR" sz="2300" dirty="0"/>
              <a:t>Une adresse prometteuse</a:t>
            </a:r>
          </a:p>
          <a:p>
            <a:pPr marL="457200" indent="-457200">
              <a:buFont typeface="Arial" panose="020B0604020202020204" pitchFamily="34" charset="0"/>
              <a:buChar char="•"/>
            </a:pPr>
            <a:r>
              <a:rPr lang="fr-FR" sz="2300" dirty="0"/>
              <a:t>Une expérience en demi-teinte</a:t>
            </a:r>
          </a:p>
          <a:p>
            <a:pPr marL="457200" indent="-457200">
              <a:buFont typeface="Arial" panose="020B0604020202020204" pitchFamily="34" charset="0"/>
              <a:buChar char="•"/>
            </a:pPr>
            <a:r>
              <a:rPr lang="fr-FR" sz="2300" dirty="0"/>
              <a:t>Une table qui mérite le détour</a:t>
            </a:r>
          </a:p>
          <a:p>
            <a:endParaRPr lang="fr-FR" sz="2300" dirty="0"/>
          </a:p>
        </p:txBody>
      </p:sp>
    </p:spTree>
    <p:extLst>
      <p:ext uri="{BB962C8B-B14F-4D97-AF65-F5344CB8AC3E}">
        <p14:creationId xmlns:p14="http://schemas.microsoft.com/office/powerpoint/2010/main" val="7288586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FCF7EEB-DDCC-DE06-2415-0D03C5B2AD68}"/>
              </a:ext>
            </a:extLst>
          </p:cNvPr>
          <p:cNvSpPr>
            <a:spLocks noGrp="1"/>
          </p:cNvSpPr>
          <p:nvPr>
            <p:ph idx="1"/>
          </p:nvPr>
        </p:nvSpPr>
        <p:spPr>
          <a:xfrm>
            <a:off x="838200" y="815926"/>
            <a:ext cx="10515600" cy="5361037"/>
          </a:xfrm>
        </p:spPr>
        <p:txBody>
          <a:bodyPr>
            <a:normAutofit fontScale="92500" lnSpcReduction="20000"/>
          </a:bodyPr>
          <a:lstStyle/>
          <a:p>
            <a:pPr marL="1028700" lvl="1" indent="-571500">
              <a:buFont typeface="+mj-lt"/>
              <a:buAutoNum type="romanLcPeriod" startAt="13"/>
            </a:pPr>
            <a:r>
              <a:rPr lang="fr-FR" sz="3000" dirty="0"/>
              <a:t>Identifier et comparer des plats et des saveurs</a:t>
            </a:r>
          </a:p>
          <a:p>
            <a:pPr marL="0" indent="0">
              <a:buNone/>
            </a:pPr>
            <a:r>
              <a:rPr lang="fr-FR" dirty="0"/>
              <a:t>L’analyse</a:t>
            </a:r>
            <a:r>
              <a:rPr lang="fr-FR" b="1" dirty="0"/>
              <a:t> sensorielle</a:t>
            </a:r>
            <a:r>
              <a:rPr lang="fr-FR" dirty="0"/>
              <a:t> et </a:t>
            </a:r>
            <a:r>
              <a:rPr lang="fr-FR" b="1" dirty="0"/>
              <a:t>comparative</a:t>
            </a:r>
            <a:r>
              <a:rPr lang="fr-FR" dirty="0"/>
              <a:t> de la gastronomie permet de mobiliser un lexique de précision, utile tant dans les rapports d'expertise que dans les contextes de réception professionnelle.</a:t>
            </a:r>
          </a:p>
          <a:p>
            <a:pPr marL="0" indent="0">
              <a:buNone/>
            </a:pPr>
            <a:r>
              <a:rPr lang="fr-FR" u="sng" dirty="0"/>
              <a:t>Identifier les composantes organoleptiques (Le vocabulaire technique)</a:t>
            </a:r>
          </a:p>
          <a:p>
            <a:pPr marL="0" indent="0">
              <a:buNone/>
            </a:pPr>
            <a:r>
              <a:rPr lang="fr-FR" dirty="0"/>
              <a:t>L'identification d'un plat repose sur la décomposition de ses propriétés physiques et gustatives.</a:t>
            </a:r>
          </a:p>
          <a:p>
            <a:pPr marL="0" indent="0">
              <a:buNone/>
            </a:pPr>
            <a:r>
              <a:rPr lang="fr-FR" dirty="0">
                <a:effectLst>
                  <a:outerShdw blurRad="38100" dist="38100" dir="2700000" algn="tl">
                    <a:srgbClr val="000000">
                      <a:alpha val="43137"/>
                    </a:srgbClr>
                  </a:outerShdw>
                </a:effectLst>
              </a:rPr>
              <a:t>Les textures (Le toucher buccal) : </a:t>
            </a:r>
            <a:r>
              <a:rPr lang="fr-FR" dirty="0"/>
              <a:t>On distingue le </a:t>
            </a:r>
            <a:r>
              <a:rPr lang="fr-FR" b="1" dirty="0"/>
              <a:t>fondant</a:t>
            </a:r>
            <a:r>
              <a:rPr lang="fr-FR" dirty="0"/>
              <a:t>, le </a:t>
            </a:r>
            <a:r>
              <a:rPr lang="fr-FR" b="1" dirty="0"/>
              <a:t>croquant</a:t>
            </a:r>
            <a:r>
              <a:rPr lang="fr-FR" dirty="0"/>
              <a:t>, le </a:t>
            </a:r>
            <a:r>
              <a:rPr lang="fr-FR" b="1" dirty="0"/>
              <a:t>moelleux</a:t>
            </a:r>
            <a:r>
              <a:rPr lang="fr-FR" dirty="0"/>
              <a:t>, ou encore le </a:t>
            </a:r>
            <a:r>
              <a:rPr lang="fr-FR" b="1" dirty="0"/>
              <a:t>granuleux</a:t>
            </a:r>
            <a:r>
              <a:rPr lang="fr-FR" dirty="0"/>
              <a:t>.</a:t>
            </a:r>
          </a:p>
          <a:p>
            <a:pPr marL="457200" lvl="1" indent="0">
              <a:buNone/>
            </a:pPr>
            <a:r>
              <a:rPr lang="fr-FR" i="1" dirty="0"/>
              <a:t>Exemple :</a:t>
            </a:r>
            <a:r>
              <a:rPr lang="fr-FR" dirty="0"/>
              <a:t> « Ce plat offre un contraste saisissant entre l'onctuosité de la crème et le craquant des tuiles de parmesan. »</a:t>
            </a:r>
          </a:p>
          <a:p>
            <a:pPr marL="0" indent="0">
              <a:buNone/>
            </a:pPr>
            <a:r>
              <a:rPr lang="fr-FR" dirty="0">
                <a:effectLst>
                  <a:outerShdw blurRad="38100" dist="38100" dir="2700000" algn="tl">
                    <a:srgbClr val="000000">
                      <a:alpha val="43137"/>
                    </a:srgbClr>
                  </a:outerShdw>
                </a:effectLst>
              </a:rPr>
              <a:t>Le profil aromatique (Le goût et l'odorat) : </a:t>
            </a:r>
            <a:r>
              <a:rPr lang="fr-FR" dirty="0"/>
              <a:t>Au-delà des cinq saveurs de base (sucré, salé, acide, amer, </a:t>
            </a:r>
            <a:r>
              <a:rPr lang="fr-FR" b="1" dirty="0"/>
              <a:t>umami</a:t>
            </a:r>
            <a:r>
              <a:rPr lang="fr-FR" dirty="0"/>
              <a:t>), on identifie des notes : boisées, herbacées, épicées, ou acidulées.</a:t>
            </a:r>
          </a:p>
          <a:p>
            <a:pPr marL="0" indent="0">
              <a:buNone/>
            </a:pPr>
            <a:r>
              <a:rPr lang="fr-FR" dirty="0">
                <a:effectLst>
                  <a:outerShdw blurRad="38100" dist="38100" dir="2700000" algn="tl">
                    <a:srgbClr val="000000">
                      <a:alpha val="43137"/>
                    </a:srgbClr>
                  </a:outerShdw>
                </a:effectLst>
              </a:rPr>
              <a:t>La longueur en bouche : </a:t>
            </a:r>
            <a:r>
              <a:rPr lang="fr-FR" dirty="0"/>
              <a:t>Terme technique désignant la persistance des arômes après la dégustation.</a:t>
            </a:r>
          </a:p>
          <a:p>
            <a:pPr marL="0" indent="0">
              <a:buNone/>
            </a:pPr>
            <a:endParaRPr lang="fr-FR" dirty="0"/>
          </a:p>
        </p:txBody>
      </p:sp>
      <p:sp>
        <p:nvSpPr>
          <p:cNvPr id="2" name="Espace réservé du numéro de diapositive 1">
            <a:extLst>
              <a:ext uri="{FF2B5EF4-FFF2-40B4-BE49-F238E27FC236}">
                <a16:creationId xmlns:a16="http://schemas.microsoft.com/office/drawing/2014/main" id="{EB1101D5-6B7F-EA74-EE86-48A7A992407A}"/>
              </a:ext>
            </a:extLst>
          </p:cNvPr>
          <p:cNvSpPr>
            <a:spLocks noGrp="1"/>
          </p:cNvSpPr>
          <p:nvPr>
            <p:ph type="sldNum" sz="quarter" idx="12"/>
          </p:nvPr>
        </p:nvSpPr>
        <p:spPr/>
        <p:txBody>
          <a:bodyPr/>
          <a:lstStyle/>
          <a:p>
            <a:fld id="{49DB4E91-02F2-4120-BFDC-D5317FE06960}" type="slidenum">
              <a:rPr lang="fr-FR" smtClean="0"/>
              <a:t>37</a:t>
            </a:fld>
            <a:endParaRPr lang="fr-FR"/>
          </a:p>
        </p:txBody>
      </p:sp>
    </p:spTree>
    <p:extLst>
      <p:ext uri="{BB962C8B-B14F-4D97-AF65-F5344CB8AC3E}">
        <p14:creationId xmlns:p14="http://schemas.microsoft.com/office/powerpoint/2010/main" val="40089541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2BDB955-BD65-A152-AE31-7F882CCAF7FC}"/>
              </a:ext>
            </a:extLst>
          </p:cNvPr>
          <p:cNvSpPr>
            <a:spLocks noGrp="1"/>
          </p:cNvSpPr>
          <p:nvPr>
            <p:ph idx="1"/>
          </p:nvPr>
        </p:nvSpPr>
        <p:spPr>
          <a:xfrm>
            <a:off x="838200" y="717452"/>
            <a:ext cx="10515600" cy="5459511"/>
          </a:xfrm>
        </p:spPr>
        <p:txBody>
          <a:bodyPr/>
          <a:lstStyle/>
          <a:p>
            <a:pPr marL="0" indent="0">
              <a:buNone/>
            </a:pPr>
            <a:r>
              <a:rPr lang="fr-FR" u="sng" dirty="0"/>
              <a:t>Lexique de la nuance et de la hiérarchisation</a:t>
            </a:r>
          </a:p>
          <a:p>
            <a:pPr marL="0" indent="0">
              <a:buNone/>
            </a:pPr>
            <a:r>
              <a:rPr lang="fr-FR" dirty="0"/>
              <a:t>Pour exprimer une préférence ou une analyse critique, utilisez des structures comparatives complexes :</a:t>
            </a:r>
          </a:p>
          <a:p>
            <a:pPr marL="0" indent="0">
              <a:buNone/>
            </a:pPr>
            <a:r>
              <a:rPr lang="fr-FR" dirty="0">
                <a:effectLst>
                  <a:outerShdw blurRad="38100" dist="38100" dir="2700000" algn="tl">
                    <a:srgbClr val="000000">
                      <a:alpha val="43137"/>
                    </a:srgbClr>
                  </a:outerShdw>
                </a:effectLst>
              </a:rPr>
              <a:t>La supériorité qualitative : </a:t>
            </a:r>
            <a:r>
              <a:rPr lang="fr-FR" dirty="0"/>
              <a:t>« Ce cru se distingue par une </a:t>
            </a:r>
            <a:r>
              <a:rPr lang="fr-FR" b="1" dirty="0"/>
              <a:t>complexité aromatique</a:t>
            </a:r>
            <a:r>
              <a:rPr lang="fr-FR" dirty="0"/>
              <a:t> bien supérieure à celle de son prédécesseur. »</a:t>
            </a:r>
          </a:p>
          <a:p>
            <a:pPr marL="0" indent="0">
              <a:buNone/>
            </a:pPr>
            <a:r>
              <a:rPr lang="fr-FR" dirty="0">
                <a:effectLst>
                  <a:outerShdw blurRad="38100" dist="38100" dir="2700000" algn="tl">
                    <a:srgbClr val="000000">
                      <a:alpha val="43137"/>
                    </a:srgbClr>
                  </a:outerShdw>
                </a:effectLst>
              </a:rPr>
              <a:t>L'analogie : </a:t>
            </a:r>
            <a:r>
              <a:rPr lang="fr-FR" dirty="0"/>
              <a:t>« Les notes de tête rappellent, </a:t>
            </a:r>
            <a:r>
              <a:rPr lang="fr-FR" b="1" dirty="0"/>
              <a:t>par analogie</a:t>
            </a:r>
            <a:r>
              <a:rPr lang="fr-FR" dirty="0"/>
              <a:t>, les saveurs iodées de la cuisine japonaise. »</a:t>
            </a:r>
          </a:p>
          <a:p>
            <a:pPr marL="0" indent="0">
              <a:buNone/>
            </a:pPr>
            <a:r>
              <a:rPr lang="fr-FR" dirty="0">
                <a:effectLst>
                  <a:outerShdw blurRad="38100" dist="38100" dir="2700000" algn="tl">
                    <a:srgbClr val="000000">
                      <a:alpha val="43137"/>
                    </a:srgbClr>
                  </a:outerShdw>
                </a:effectLst>
              </a:rPr>
              <a:t>La divergence : </a:t>
            </a:r>
            <a:r>
              <a:rPr lang="fr-FR" dirty="0"/>
              <a:t>« On observe une </a:t>
            </a:r>
            <a:r>
              <a:rPr lang="fr-FR" b="1" dirty="0"/>
              <a:t>divergence notable</a:t>
            </a:r>
            <a:r>
              <a:rPr lang="fr-FR" dirty="0"/>
              <a:t> entre la rusticité de la présentation et la sophistication des saveurs. »</a:t>
            </a:r>
          </a:p>
          <a:p>
            <a:pPr marL="0" indent="0">
              <a:buNone/>
            </a:pPr>
            <a:r>
              <a:rPr lang="fr-FR" dirty="0">
                <a:effectLst>
                  <a:outerShdw blurRad="38100" dist="38100" dir="2700000" algn="tl">
                    <a:srgbClr val="000000">
                      <a:alpha val="43137"/>
                    </a:srgbClr>
                  </a:outerShdw>
                </a:effectLst>
              </a:rPr>
              <a:t>L'apogée : </a:t>
            </a:r>
            <a:r>
              <a:rPr lang="fr-FR" dirty="0"/>
              <a:t>« Ce mariage entre le safran et la Saint-Jacques constitue le </a:t>
            </a:r>
            <a:r>
              <a:rPr lang="fr-FR" b="1" dirty="0"/>
              <a:t>point d'orgue</a:t>
            </a:r>
            <a:r>
              <a:rPr lang="fr-FR" dirty="0"/>
              <a:t> du menu. »</a:t>
            </a:r>
          </a:p>
          <a:p>
            <a:pPr marL="0" indent="0">
              <a:buNone/>
            </a:pPr>
            <a:endParaRPr lang="fr-FR" dirty="0"/>
          </a:p>
        </p:txBody>
      </p:sp>
      <p:sp>
        <p:nvSpPr>
          <p:cNvPr id="2" name="Espace réservé du numéro de diapositive 1">
            <a:extLst>
              <a:ext uri="{FF2B5EF4-FFF2-40B4-BE49-F238E27FC236}">
                <a16:creationId xmlns:a16="http://schemas.microsoft.com/office/drawing/2014/main" id="{A76B3EDA-0C9B-055A-D391-32AAB99B129F}"/>
              </a:ext>
            </a:extLst>
          </p:cNvPr>
          <p:cNvSpPr>
            <a:spLocks noGrp="1"/>
          </p:cNvSpPr>
          <p:nvPr>
            <p:ph type="sldNum" sz="quarter" idx="12"/>
          </p:nvPr>
        </p:nvSpPr>
        <p:spPr/>
        <p:txBody>
          <a:bodyPr/>
          <a:lstStyle/>
          <a:p>
            <a:fld id="{49DB4E91-02F2-4120-BFDC-D5317FE06960}" type="slidenum">
              <a:rPr lang="fr-FR" smtClean="0"/>
              <a:t>38</a:t>
            </a:fld>
            <a:endParaRPr lang="fr-FR"/>
          </a:p>
        </p:txBody>
      </p:sp>
    </p:spTree>
    <p:extLst>
      <p:ext uri="{BB962C8B-B14F-4D97-AF65-F5344CB8AC3E}">
        <p14:creationId xmlns:p14="http://schemas.microsoft.com/office/powerpoint/2010/main" val="27315311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B58E545-01BF-42CF-35B9-70382EFE32F9}"/>
              </a:ext>
            </a:extLst>
          </p:cNvPr>
          <p:cNvSpPr>
            <a:spLocks noGrp="1"/>
          </p:cNvSpPr>
          <p:nvPr>
            <p:ph idx="1"/>
          </p:nvPr>
        </p:nvSpPr>
        <p:spPr>
          <a:xfrm>
            <a:off x="838200" y="689317"/>
            <a:ext cx="10515600" cy="5487646"/>
          </a:xfrm>
        </p:spPr>
        <p:txBody>
          <a:bodyPr>
            <a:normAutofit fontScale="92500"/>
          </a:bodyPr>
          <a:lstStyle/>
          <a:p>
            <a:pPr marL="1028700" lvl="1" indent="-571500">
              <a:buFont typeface="+mj-lt"/>
              <a:buAutoNum type="romanLcPeriod" startAt="14"/>
            </a:pPr>
            <a:r>
              <a:rPr lang="fr-FR" sz="3000" dirty="0"/>
              <a:t>Donner son avis sur le marketing alimentaire</a:t>
            </a:r>
          </a:p>
          <a:p>
            <a:pPr marL="0" indent="0">
              <a:buNone/>
            </a:pPr>
            <a:r>
              <a:rPr lang="fr-FR" dirty="0"/>
              <a:t>L'analyse du marketing alimentaire est un exercice de </a:t>
            </a:r>
            <a:r>
              <a:rPr lang="fr-FR" b="1" dirty="0"/>
              <a:t>réflexion critique </a:t>
            </a:r>
            <a:r>
              <a:rPr lang="fr-FR" dirty="0"/>
              <a:t>mêlant </a:t>
            </a:r>
            <a:r>
              <a:rPr lang="fr-FR" b="1" dirty="0"/>
              <a:t>éthique</a:t>
            </a:r>
            <a:r>
              <a:rPr lang="fr-FR" dirty="0"/>
              <a:t>, </a:t>
            </a:r>
            <a:r>
              <a:rPr lang="fr-FR" b="1" dirty="0"/>
              <a:t>psychologie</a:t>
            </a:r>
            <a:r>
              <a:rPr lang="fr-FR" dirty="0"/>
              <a:t> du consommateur et </a:t>
            </a:r>
            <a:r>
              <a:rPr lang="fr-FR" b="1" dirty="0"/>
              <a:t>enjeux technologiques</a:t>
            </a:r>
            <a:r>
              <a:rPr lang="fr-FR" dirty="0"/>
              <a:t>.</a:t>
            </a:r>
          </a:p>
          <a:p>
            <a:pPr marL="0" indent="0">
              <a:buNone/>
            </a:pPr>
            <a:r>
              <a:rPr lang="fr-FR" u="sng" dirty="0"/>
              <a:t>La tension entre séduction et transparence</a:t>
            </a:r>
          </a:p>
          <a:p>
            <a:pPr marL="0" indent="0">
              <a:buNone/>
            </a:pPr>
            <a:r>
              <a:rPr lang="fr-FR" dirty="0"/>
              <a:t>Le marketing alimentaire ne se contente plus de vanter le goût ; il doit répondre à une exigence de vérité accrue par la numérisation.</a:t>
            </a:r>
          </a:p>
          <a:p>
            <a:pPr marL="0" indent="0">
              <a:buNone/>
            </a:pPr>
            <a:r>
              <a:rPr lang="fr-FR" dirty="0">
                <a:effectLst>
                  <a:outerShdw blurRad="38100" dist="38100" dir="2700000" algn="tl">
                    <a:srgbClr val="000000">
                      <a:alpha val="43137"/>
                    </a:srgbClr>
                  </a:outerShdw>
                </a:effectLst>
              </a:rPr>
              <a:t>Le « Clean Label » et la traçabilité : </a:t>
            </a:r>
            <a:r>
              <a:rPr lang="fr-FR" dirty="0"/>
              <a:t>Le consommateur moderne exige de connaître l'origine exacte des ingrédients. Le marketing utilise désormais la </a:t>
            </a:r>
            <a:r>
              <a:rPr lang="fr-FR" b="1" dirty="0"/>
              <a:t>blockchain</a:t>
            </a:r>
            <a:r>
              <a:rPr lang="fr-FR" dirty="0"/>
              <a:t> pour garantir cette transparence.</a:t>
            </a:r>
          </a:p>
          <a:p>
            <a:pPr marL="0" indent="0">
              <a:buNone/>
            </a:pPr>
            <a:r>
              <a:rPr lang="fr-FR" i="1" dirty="0"/>
              <a:t>	Opinion :</a:t>
            </a:r>
            <a:r>
              <a:rPr lang="fr-FR" dirty="0"/>
              <a:t> « Si le marketing permet de valoriser des filières locales, il 	frôle parfois l'</a:t>
            </a:r>
            <a:r>
              <a:rPr lang="fr-FR" b="1" dirty="0" err="1"/>
              <a:t>éco-blanchiment</a:t>
            </a:r>
            <a:r>
              <a:rPr lang="fr-FR" dirty="0"/>
              <a:t> (greenwashing) en sur-	utilisant 	des codes visuels naturels pour des produits ultra-transformés. »</a:t>
            </a:r>
          </a:p>
          <a:p>
            <a:pPr marL="0" indent="0">
              <a:buNone/>
            </a:pPr>
            <a:endParaRPr lang="fr-FR" dirty="0"/>
          </a:p>
        </p:txBody>
      </p:sp>
      <p:sp>
        <p:nvSpPr>
          <p:cNvPr id="2" name="Espace réservé du numéro de diapositive 1">
            <a:extLst>
              <a:ext uri="{FF2B5EF4-FFF2-40B4-BE49-F238E27FC236}">
                <a16:creationId xmlns:a16="http://schemas.microsoft.com/office/drawing/2014/main" id="{8FD89D5F-DF3F-AE10-91DF-A50AC22D9C65}"/>
              </a:ext>
            </a:extLst>
          </p:cNvPr>
          <p:cNvSpPr>
            <a:spLocks noGrp="1"/>
          </p:cNvSpPr>
          <p:nvPr>
            <p:ph type="sldNum" sz="quarter" idx="12"/>
          </p:nvPr>
        </p:nvSpPr>
        <p:spPr/>
        <p:txBody>
          <a:bodyPr/>
          <a:lstStyle/>
          <a:p>
            <a:fld id="{49DB4E91-02F2-4120-BFDC-D5317FE06960}" type="slidenum">
              <a:rPr lang="fr-FR" smtClean="0"/>
              <a:t>39</a:t>
            </a:fld>
            <a:endParaRPr lang="fr-FR"/>
          </a:p>
        </p:txBody>
      </p:sp>
    </p:spTree>
    <p:extLst>
      <p:ext uri="{BB962C8B-B14F-4D97-AF65-F5344CB8AC3E}">
        <p14:creationId xmlns:p14="http://schemas.microsoft.com/office/powerpoint/2010/main" val="13769735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918CF69-079A-0A1E-18F3-D61D84C66576}"/>
              </a:ext>
            </a:extLst>
          </p:cNvPr>
          <p:cNvSpPr>
            <a:spLocks noGrp="1"/>
          </p:cNvSpPr>
          <p:nvPr>
            <p:ph idx="1"/>
          </p:nvPr>
        </p:nvSpPr>
        <p:spPr>
          <a:xfrm>
            <a:off x="838200" y="633046"/>
            <a:ext cx="10515600" cy="5543917"/>
          </a:xfrm>
        </p:spPr>
        <p:txBody>
          <a:bodyPr>
            <a:normAutofit/>
          </a:bodyPr>
          <a:lstStyle/>
          <a:p>
            <a:pPr marL="0" indent="0">
              <a:buNone/>
            </a:pPr>
            <a:r>
              <a:rPr lang="fr-FR" dirty="0">
                <a:effectLst>
                  <a:outerShdw blurRad="38100" dist="38100" dir="2700000" algn="tl">
                    <a:srgbClr val="000000">
                      <a:alpha val="43137"/>
                    </a:srgbClr>
                  </a:outerShdw>
                </a:effectLst>
              </a:rPr>
              <a:t>Le </a:t>
            </a:r>
            <a:r>
              <a:rPr lang="fr-FR" dirty="0" err="1">
                <a:effectLst>
                  <a:outerShdw blurRad="38100" dist="38100" dir="2700000" algn="tl">
                    <a:srgbClr val="000000">
                      <a:alpha val="43137"/>
                    </a:srgbClr>
                  </a:outerShdw>
                </a:effectLst>
              </a:rPr>
              <a:t>nudge</a:t>
            </a:r>
            <a:r>
              <a:rPr lang="fr-FR" dirty="0">
                <a:effectLst>
                  <a:outerShdw blurRad="38100" dist="38100" dir="2700000" algn="tl">
                    <a:srgbClr val="000000">
                      <a:alpha val="43137"/>
                    </a:srgbClr>
                  </a:outerShdw>
                </a:effectLst>
              </a:rPr>
              <a:t> marketing : </a:t>
            </a:r>
            <a:r>
              <a:rPr lang="fr-FR" dirty="0"/>
              <a:t>Utiliser des biais cognitifs pour orienter vers des choix plus sains (comme l'affichage du </a:t>
            </a:r>
            <a:r>
              <a:rPr lang="fr-FR" b="1" dirty="0"/>
              <a:t>Nutri-Score</a:t>
            </a:r>
            <a:r>
              <a:rPr lang="fr-FR" dirty="0"/>
              <a:t>).</a:t>
            </a:r>
          </a:p>
          <a:p>
            <a:pPr marL="0" indent="0">
              <a:buNone/>
            </a:pPr>
            <a:r>
              <a:rPr lang="fr-FR" i="1" dirty="0"/>
              <a:t>	Analyse :</a:t>
            </a:r>
            <a:r>
              <a:rPr lang="fr-FR" dirty="0"/>
              <a:t> C'est un levier puissant pour la santé publique, à 	condition qu'il ne devienne pas une forme de </a:t>
            </a:r>
            <a:r>
              <a:rPr lang="fr-FR" b="1" dirty="0"/>
              <a:t>manipulation 	comportementale</a:t>
            </a:r>
            <a:r>
              <a:rPr lang="fr-FR" dirty="0"/>
              <a:t>.</a:t>
            </a:r>
          </a:p>
          <a:p>
            <a:pPr marL="0" indent="0">
              <a:buNone/>
            </a:pPr>
            <a:r>
              <a:rPr lang="fr-FR" u="sng" dirty="0"/>
              <a:t>Lexique stratégique</a:t>
            </a:r>
          </a:p>
          <a:p>
            <a:pPr marL="0" indent="0">
              <a:buNone/>
            </a:pPr>
            <a:r>
              <a:rPr lang="fr-FR" dirty="0"/>
              <a:t>Pour argumenter lors d'un examen ou d'une synthèse de documents, mobilisez ces concepts :</a:t>
            </a:r>
          </a:p>
          <a:p>
            <a:pPr marL="0" indent="0">
              <a:buNone/>
            </a:pPr>
            <a:r>
              <a:rPr lang="fr-FR" dirty="0">
                <a:effectLst>
                  <a:outerShdw blurRad="38100" dist="38100" dir="2700000" algn="tl">
                    <a:srgbClr val="000000">
                      <a:alpha val="43137"/>
                    </a:srgbClr>
                  </a:outerShdw>
                </a:effectLst>
              </a:rPr>
              <a:t>L'</a:t>
            </a:r>
            <a:r>
              <a:rPr lang="fr-FR" dirty="0" err="1">
                <a:effectLst>
                  <a:outerShdw blurRad="38100" dist="38100" dir="2700000" algn="tl">
                    <a:srgbClr val="000000">
                      <a:alpha val="43137"/>
                    </a:srgbClr>
                  </a:outerShdw>
                </a:effectLst>
              </a:rPr>
              <a:t>obésogénicité</a:t>
            </a:r>
            <a:r>
              <a:rPr lang="fr-FR" dirty="0">
                <a:effectLst>
                  <a:outerShdw blurRad="38100" dist="38100" dir="2700000" algn="tl">
                    <a:srgbClr val="000000">
                      <a:alpha val="43137"/>
                    </a:srgbClr>
                  </a:outerShdw>
                </a:effectLst>
              </a:rPr>
              <a:t> de l'environnement : </a:t>
            </a:r>
            <a:r>
              <a:rPr lang="fr-FR" dirty="0"/>
              <a:t>Influence des publicités sur la consommation de produits gras et sucrés.</a:t>
            </a:r>
          </a:p>
          <a:p>
            <a:pPr marL="0" indent="0">
              <a:buNone/>
            </a:pPr>
            <a:r>
              <a:rPr lang="fr-FR" dirty="0">
                <a:effectLst>
                  <a:outerShdw blurRad="38100" dist="38100" dir="2700000" algn="tl">
                    <a:srgbClr val="000000">
                      <a:alpha val="43137"/>
                    </a:srgbClr>
                  </a:outerShdw>
                </a:effectLst>
              </a:rPr>
              <a:t>La</a:t>
            </a:r>
            <a:r>
              <a:rPr lang="fr-FR" b="1" dirty="0"/>
              <a:t> </a:t>
            </a:r>
            <a:r>
              <a:rPr lang="fr-FR" dirty="0">
                <a:effectLst>
                  <a:outerShdw blurRad="38100" dist="38100" dir="2700000" algn="tl">
                    <a:srgbClr val="000000">
                      <a:alpha val="43137"/>
                    </a:srgbClr>
                  </a:outerShdw>
                </a:effectLst>
              </a:rPr>
              <a:t>réassurance : </a:t>
            </a:r>
            <a:r>
              <a:rPr lang="fr-FR" dirty="0"/>
              <a:t>Stratégie visant à calmer les angoisses alimentaires du consommateur (sans pesticides, sans OGM).</a:t>
            </a:r>
          </a:p>
          <a:p>
            <a:pPr marL="0" indent="0">
              <a:buNone/>
            </a:pPr>
            <a:endParaRPr lang="fr-FR" u="sng" dirty="0"/>
          </a:p>
        </p:txBody>
      </p:sp>
      <p:sp>
        <p:nvSpPr>
          <p:cNvPr id="2" name="Espace réservé du numéro de diapositive 1">
            <a:extLst>
              <a:ext uri="{FF2B5EF4-FFF2-40B4-BE49-F238E27FC236}">
                <a16:creationId xmlns:a16="http://schemas.microsoft.com/office/drawing/2014/main" id="{BB5D08BE-BF92-A943-1056-CEC1FEE55D11}"/>
              </a:ext>
            </a:extLst>
          </p:cNvPr>
          <p:cNvSpPr>
            <a:spLocks noGrp="1"/>
          </p:cNvSpPr>
          <p:nvPr>
            <p:ph type="sldNum" sz="quarter" idx="12"/>
          </p:nvPr>
        </p:nvSpPr>
        <p:spPr/>
        <p:txBody>
          <a:bodyPr/>
          <a:lstStyle/>
          <a:p>
            <a:fld id="{49DB4E91-02F2-4120-BFDC-D5317FE06960}" type="slidenum">
              <a:rPr lang="fr-FR" smtClean="0"/>
              <a:t>40</a:t>
            </a:fld>
            <a:endParaRPr lang="fr-FR"/>
          </a:p>
        </p:txBody>
      </p:sp>
    </p:spTree>
    <p:extLst>
      <p:ext uri="{BB962C8B-B14F-4D97-AF65-F5344CB8AC3E}">
        <p14:creationId xmlns:p14="http://schemas.microsoft.com/office/powerpoint/2010/main" val="29592311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7BB8836-1E18-FE57-D554-2B99E0590F36}"/>
              </a:ext>
            </a:extLst>
          </p:cNvPr>
          <p:cNvSpPr>
            <a:spLocks noGrp="1"/>
          </p:cNvSpPr>
          <p:nvPr>
            <p:ph idx="1"/>
          </p:nvPr>
        </p:nvSpPr>
        <p:spPr>
          <a:xfrm>
            <a:off x="838200" y="829994"/>
            <a:ext cx="10515600" cy="5346969"/>
          </a:xfrm>
        </p:spPr>
        <p:txBody>
          <a:bodyPr>
            <a:normAutofit/>
          </a:bodyPr>
          <a:lstStyle/>
          <a:p>
            <a:pPr marL="0" indent="0">
              <a:buNone/>
            </a:pPr>
            <a:r>
              <a:rPr lang="fr-FR" dirty="0">
                <a:effectLst>
                  <a:outerShdw blurRad="38100" dist="38100" dir="2700000" algn="tl">
                    <a:srgbClr val="000000">
                      <a:alpha val="43137"/>
                    </a:srgbClr>
                  </a:outerShdw>
                </a:effectLst>
              </a:rPr>
              <a:t>Le marketing sensoriel : </a:t>
            </a:r>
            <a:r>
              <a:rPr lang="fr-FR" dirty="0"/>
              <a:t>Solliciter l'odorat ou l'ouïe pour déclencher l'acte d'achat.</a:t>
            </a:r>
          </a:p>
          <a:p>
            <a:pPr marL="0" indent="0">
              <a:buNone/>
            </a:pPr>
            <a:r>
              <a:rPr lang="fr-FR" dirty="0">
                <a:effectLst>
                  <a:outerShdw blurRad="38100" dist="38100" dir="2700000" algn="tl">
                    <a:srgbClr val="000000">
                      <a:alpha val="43137"/>
                    </a:srgbClr>
                  </a:outerShdw>
                </a:effectLst>
              </a:rPr>
              <a:t>La </a:t>
            </a:r>
            <a:r>
              <a:rPr lang="fr-FR" dirty="0" err="1">
                <a:effectLst>
                  <a:outerShdw blurRad="38100" dist="38100" dir="2700000" algn="tl">
                    <a:srgbClr val="000000">
                      <a:alpha val="43137"/>
                    </a:srgbClr>
                  </a:outerShdw>
                </a:effectLst>
              </a:rPr>
              <a:t>décommoditisation</a:t>
            </a:r>
            <a:r>
              <a:rPr lang="fr-FR" dirty="0">
                <a:effectLst>
                  <a:outerShdw blurRad="38100" dist="38100" dir="2700000" algn="tl">
                    <a:srgbClr val="000000">
                      <a:alpha val="43137"/>
                    </a:srgbClr>
                  </a:outerShdw>
                </a:effectLst>
              </a:rPr>
              <a:t> : </a:t>
            </a:r>
            <a:r>
              <a:rPr lang="fr-FR" dirty="0"/>
              <a:t>Transformer un produit basique en une expérience premium ou éthique.</a:t>
            </a:r>
          </a:p>
        </p:txBody>
      </p:sp>
      <p:sp>
        <p:nvSpPr>
          <p:cNvPr id="2" name="Espace réservé du numéro de diapositive 1">
            <a:extLst>
              <a:ext uri="{FF2B5EF4-FFF2-40B4-BE49-F238E27FC236}">
                <a16:creationId xmlns:a16="http://schemas.microsoft.com/office/drawing/2014/main" id="{696188E1-2864-092E-A192-BFD9DC717AFE}"/>
              </a:ext>
            </a:extLst>
          </p:cNvPr>
          <p:cNvSpPr>
            <a:spLocks noGrp="1"/>
          </p:cNvSpPr>
          <p:nvPr>
            <p:ph type="sldNum" sz="quarter" idx="12"/>
          </p:nvPr>
        </p:nvSpPr>
        <p:spPr/>
        <p:txBody>
          <a:bodyPr/>
          <a:lstStyle/>
          <a:p>
            <a:fld id="{49DB4E91-02F2-4120-BFDC-D5317FE06960}" type="slidenum">
              <a:rPr lang="fr-FR" smtClean="0"/>
              <a:t>41</a:t>
            </a:fld>
            <a:endParaRPr lang="fr-FR"/>
          </a:p>
        </p:txBody>
      </p:sp>
    </p:spTree>
    <p:extLst>
      <p:ext uri="{BB962C8B-B14F-4D97-AF65-F5344CB8AC3E}">
        <p14:creationId xmlns:p14="http://schemas.microsoft.com/office/powerpoint/2010/main" val="16608274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7E0F9AC-A180-F860-5CF8-708898448C2A}"/>
              </a:ext>
            </a:extLst>
          </p:cNvPr>
          <p:cNvSpPr>
            <a:spLocks noGrp="1"/>
          </p:cNvSpPr>
          <p:nvPr>
            <p:ph idx="1"/>
          </p:nvPr>
        </p:nvSpPr>
        <p:spPr>
          <a:xfrm>
            <a:off x="838200" y="829994"/>
            <a:ext cx="10515600" cy="5346969"/>
          </a:xfrm>
        </p:spPr>
        <p:txBody>
          <a:bodyPr>
            <a:normAutofit fontScale="92500" lnSpcReduction="10000"/>
          </a:bodyPr>
          <a:lstStyle/>
          <a:p>
            <a:pPr marL="1028700" lvl="1" indent="-571500">
              <a:buFont typeface="+mj-lt"/>
              <a:buAutoNum type="romanLcPeriod" startAt="15"/>
            </a:pPr>
            <a:r>
              <a:rPr lang="fr-FR" sz="3000" dirty="0"/>
              <a:t>Débattre sur l’art et l’engagement</a:t>
            </a:r>
          </a:p>
          <a:p>
            <a:pPr marL="0" indent="0">
              <a:buNone/>
            </a:pPr>
            <a:r>
              <a:rPr lang="fr-FR" dirty="0"/>
              <a:t>Débattre sur l'art et l'engagement revient à </a:t>
            </a:r>
            <a:r>
              <a:rPr lang="fr-FR" b="1" dirty="0"/>
              <a:t>interroger la responsabilité de l'artiste dans une société saturée d'images et confrontée à des crises globales</a:t>
            </a:r>
            <a:r>
              <a:rPr lang="fr-FR" dirty="0"/>
              <a:t> (écologiques, technologiques et sociales). Ce sujet permet </a:t>
            </a:r>
            <a:r>
              <a:rPr lang="fr-FR" b="1" dirty="0"/>
              <a:t>d'explorer la tension entre </a:t>
            </a:r>
            <a:r>
              <a:rPr lang="fr-FR" dirty="0"/>
              <a:t>l'</a:t>
            </a:r>
            <a:r>
              <a:rPr lang="fr-FR" b="1" dirty="0"/>
              <a:t>esthétisme pur</a:t>
            </a:r>
            <a:r>
              <a:rPr lang="fr-FR" dirty="0"/>
              <a:t> et la </a:t>
            </a:r>
            <a:r>
              <a:rPr lang="fr-FR" b="1" dirty="0"/>
              <a:t>fonction utilitaire</a:t>
            </a:r>
            <a:r>
              <a:rPr lang="fr-FR" dirty="0"/>
              <a:t> de la création.</a:t>
            </a:r>
          </a:p>
          <a:p>
            <a:pPr marL="0" indent="0">
              <a:buNone/>
            </a:pPr>
            <a:r>
              <a:rPr lang="fr-FR" u="sng" dirty="0"/>
              <a:t>L’art comme instrument de contestation et de sensibilisation</a:t>
            </a:r>
          </a:p>
          <a:p>
            <a:pPr marL="0" indent="0">
              <a:buNone/>
            </a:pPr>
            <a:r>
              <a:rPr lang="fr-FR" dirty="0"/>
              <a:t>Dans cette perspective, l'œuvre n'est pas une fin en soi, mais un moyen d'éveiller les consciences.</a:t>
            </a:r>
          </a:p>
          <a:p>
            <a:pPr marL="0" indent="0">
              <a:buNone/>
            </a:pPr>
            <a:r>
              <a:rPr lang="fr-FR" dirty="0">
                <a:effectLst>
                  <a:outerShdw blurRad="38100" dist="38100" dir="2700000" algn="tl">
                    <a:srgbClr val="000000">
                      <a:alpha val="43137"/>
                    </a:srgbClr>
                  </a:outerShdw>
                </a:effectLst>
              </a:rPr>
              <a:t>L'art engagé (ou militant) : </a:t>
            </a:r>
            <a:r>
              <a:rPr lang="fr-FR" dirty="0"/>
              <a:t>L'artiste met son talent au service d'une cause politique ou sociale. On parle d'</a:t>
            </a:r>
            <a:r>
              <a:rPr lang="fr-FR" b="1" dirty="0" err="1"/>
              <a:t>artivisme</a:t>
            </a:r>
            <a:r>
              <a:rPr lang="fr-FR" dirty="0"/>
              <a:t> (fusion de l'art et de l'activisme).</a:t>
            </a:r>
          </a:p>
          <a:p>
            <a:pPr marL="0" indent="0">
              <a:buNone/>
            </a:pPr>
            <a:r>
              <a:rPr lang="fr-FR" i="1" dirty="0"/>
              <a:t>	Argument :</a:t>
            </a:r>
            <a:r>
              <a:rPr lang="fr-FR" dirty="0"/>
              <a:t> « L'œuvre d'art possède une force de frappe émotionnelle 	que les chiffres ou les rapports techniques n'ont pas. Elle </a:t>
            </a:r>
            <a:r>
              <a:rPr lang="fr-FR" b="1" dirty="0"/>
              <a:t>donne un 	visage humain</a:t>
            </a:r>
            <a:r>
              <a:rPr lang="fr-FR" dirty="0"/>
              <a:t> aux statistiques. »</a:t>
            </a:r>
          </a:p>
          <a:p>
            <a:pPr marL="0" indent="0">
              <a:buNone/>
            </a:pPr>
            <a:endParaRPr lang="fr-FR" dirty="0"/>
          </a:p>
        </p:txBody>
      </p:sp>
      <p:sp>
        <p:nvSpPr>
          <p:cNvPr id="2" name="Espace réservé du numéro de diapositive 1">
            <a:extLst>
              <a:ext uri="{FF2B5EF4-FFF2-40B4-BE49-F238E27FC236}">
                <a16:creationId xmlns:a16="http://schemas.microsoft.com/office/drawing/2014/main" id="{239DB6BD-598B-F83B-A93D-32E151AEDD21}"/>
              </a:ext>
            </a:extLst>
          </p:cNvPr>
          <p:cNvSpPr>
            <a:spLocks noGrp="1"/>
          </p:cNvSpPr>
          <p:nvPr>
            <p:ph type="sldNum" sz="quarter" idx="12"/>
          </p:nvPr>
        </p:nvSpPr>
        <p:spPr/>
        <p:txBody>
          <a:bodyPr/>
          <a:lstStyle/>
          <a:p>
            <a:fld id="{49DB4E91-02F2-4120-BFDC-D5317FE06960}" type="slidenum">
              <a:rPr lang="fr-FR" smtClean="0"/>
              <a:t>42</a:t>
            </a:fld>
            <a:endParaRPr lang="fr-FR"/>
          </a:p>
        </p:txBody>
      </p:sp>
    </p:spTree>
    <p:extLst>
      <p:ext uri="{BB962C8B-B14F-4D97-AF65-F5344CB8AC3E}">
        <p14:creationId xmlns:p14="http://schemas.microsoft.com/office/powerpoint/2010/main" val="36742428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E3A584C-7CDB-87E5-C70E-E24FB75128BB}"/>
              </a:ext>
            </a:extLst>
          </p:cNvPr>
          <p:cNvSpPr>
            <a:spLocks noGrp="1"/>
          </p:cNvSpPr>
          <p:nvPr>
            <p:ph idx="1"/>
          </p:nvPr>
        </p:nvSpPr>
        <p:spPr>
          <a:xfrm>
            <a:off x="838200" y="604911"/>
            <a:ext cx="10515600" cy="5572052"/>
          </a:xfrm>
        </p:spPr>
        <p:txBody>
          <a:bodyPr>
            <a:normAutofit fontScale="92500" lnSpcReduction="20000"/>
          </a:bodyPr>
          <a:lstStyle/>
          <a:p>
            <a:pPr marL="0" indent="0">
              <a:buNone/>
            </a:pPr>
            <a:r>
              <a:rPr lang="fr-FR" dirty="0">
                <a:effectLst>
                  <a:outerShdw blurRad="38100" dist="38100" dir="2700000" algn="tl">
                    <a:srgbClr val="000000">
                      <a:alpha val="43137"/>
                    </a:srgbClr>
                  </a:outerShdw>
                </a:effectLst>
              </a:rPr>
              <a:t>Le rôle de dénonciation : </a:t>
            </a:r>
            <a:r>
              <a:rPr lang="fr-FR" dirty="0"/>
              <a:t>L'œuvre devient un miroir des dysfonctionnements du monde.</a:t>
            </a:r>
          </a:p>
          <a:p>
            <a:pPr marL="457200" lvl="1" indent="0">
              <a:buNone/>
            </a:pPr>
            <a:r>
              <a:rPr lang="fr-FR" i="1" dirty="0"/>
              <a:t>Lexique :</a:t>
            </a:r>
            <a:r>
              <a:rPr lang="fr-FR" dirty="0"/>
              <a:t> </a:t>
            </a:r>
            <a:r>
              <a:rPr lang="fr-FR" b="1" dirty="0"/>
              <a:t>Subvertir</a:t>
            </a:r>
            <a:r>
              <a:rPr lang="fr-FR" dirty="0"/>
              <a:t>, transgresser, interpeller, porter la voix des sans-voix.</a:t>
            </a:r>
          </a:p>
          <a:p>
            <a:pPr marL="0" indent="0">
              <a:buNone/>
            </a:pPr>
            <a:r>
              <a:rPr lang="fr-FR" dirty="0">
                <a:effectLst>
                  <a:outerShdw blurRad="38100" dist="38100" dir="2700000" algn="tl">
                    <a:srgbClr val="000000">
                      <a:alpha val="43137"/>
                    </a:srgbClr>
                  </a:outerShdw>
                </a:effectLst>
              </a:rPr>
              <a:t>L'art environnemental (Eco-art) : </a:t>
            </a:r>
            <a:r>
              <a:rPr lang="fr-FR" dirty="0"/>
              <a:t>Très présent de nos jours, il utilise souvent des matériaux recyclés ou des installations éphémères pour alerter sur l'effondrement de la biodiversité.</a:t>
            </a:r>
          </a:p>
          <a:p>
            <a:pPr marL="0" indent="0">
              <a:buNone/>
            </a:pPr>
            <a:r>
              <a:rPr lang="fr-FR" u="sng" dirty="0"/>
              <a:t>Les limites de l’engagement : de l’éthique à l’instrumentalisation</a:t>
            </a:r>
          </a:p>
          <a:p>
            <a:pPr marL="0" indent="0">
              <a:buNone/>
            </a:pPr>
            <a:r>
              <a:rPr lang="fr-FR" dirty="0"/>
              <a:t>Le débat porte ici sur le risque de voir l'art perdre sa liberté au profit d'un discours idéologique ou moralisateur.</a:t>
            </a:r>
          </a:p>
          <a:p>
            <a:pPr marL="0" indent="0">
              <a:buNone/>
            </a:pPr>
            <a:r>
              <a:rPr lang="fr-FR" dirty="0">
                <a:effectLst>
                  <a:outerShdw blurRad="38100" dist="38100" dir="2700000" algn="tl">
                    <a:srgbClr val="000000">
                      <a:alpha val="43137"/>
                    </a:srgbClr>
                  </a:outerShdw>
                </a:effectLst>
              </a:rPr>
              <a:t>L'art pour l'art : </a:t>
            </a:r>
            <a:r>
              <a:rPr lang="fr-FR" dirty="0"/>
              <a:t>Théorie selon laquelle l'art ne doit avoir aucune fonction autre que la recherche du beau. L'engagement serait alors une </a:t>
            </a:r>
            <a:r>
              <a:rPr lang="fr-FR" b="1" dirty="0"/>
              <a:t>entrave à la liberté créatrice</a:t>
            </a:r>
            <a:r>
              <a:rPr lang="fr-FR" dirty="0"/>
              <a:t>.</a:t>
            </a:r>
          </a:p>
          <a:p>
            <a:pPr marL="0" indent="0">
              <a:buNone/>
            </a:pPr>
            <a:r>
              <a:rPr lang="fr-FR" dirty="0">
                <a:effectLst>
                  <a:outerShdw blurRad="38100" dist="38100" dir="2700000" algn="tl">
                    <a:srgbClr val="000000">
                      <a:alpha val="43137"/>
                    </a:srgbClr>
                  </a:outerShdw>
                </a:effectLst>
              </a:rPr>
              <a:t>Le risque de la propagande : </a:t>
            </a:r>
            <a:r>
              <a:rPr lang="fr-FR" dirty="0"/>
              <a:t>Lorsque l'art est subordonné à un message politique, il risque de devenir réducteur ou simpliste.</a:t>
            </a:r>
          </a:p>
          <a:p>
            <a:pPr marL="457200" lvl="1" indent="0">
              <a:buNone/>
            </a:pPr>
            <a:r>
              <a:rPr lang="fr-FR" i="1" dirty="0"/>
              <a:t>Contre-argument :</a:t>
            </a:r>
            <a:r>
              <a:rPr lang="fr-FR" dirty="0"/>
              <a:t> « À vouloir trop démontrer, l'artiste sacrifie parfois l'</a:t>
            </a:r>
            <a:r>
              <a:rPr lang="fr-FR" b="1" dirty="0"/>
              <a:t>ambiguïté poétique</a:t>
            </a:r>
            <a:r>
              <a:rPr lang="fr-FR" dirty="0"/>
              <a:t> qui fait la richesse d'une œuvre. »</a:t>
            </a:r>
          </a:p>
          <a:p>
            <a:pPr marL="0" indent="0">
              <a:buNone/>
            </a:pPr>
            <a:endParaRPr lang="fr-FR" dirty="0"/>
          </a:p>
        </p:txBody>
      </p:sp>
      <p:sp>
        <p:nvSpPr>
          <p:cNvPr id="2" name="Espace réservé du numéro de diapositive 1">
            <a:extLst>
              <a:ext uri="{FF2B5EF4-FFF2-40B4-BE49-F238E27FC236}">
                <a16:creationId xmlns:a16="http://schemas.microsoft.com/office/drawing/2014/main" id="{C01360D0-315F-18D6-2E52-1304C3BB0A37}"/>
              </a:ext>
            </a:extLst>
          </p:cNvPr>
          <p:cNvSpPr>
            <a:spLocks noGrp="1"/>
          </p:cNvSpPr>
          <p:nvPr>
            <p:ph type="sldNum" sz="quarter" idx="12"/>
          </p:nvPr>
        </p:nvSpPr>
        <p:spPr/>
        <p:txBody>
          <a:bodyPr/>
          <a:lstStyle/>
          <a:p>
            <a:fld id="{49DB4E91-02F2-4120-BFDC-D5317FE06960}" type="slidenum">
              <a:rPr lang="fr-FR" smtClean="0"/>
              <a:t>43</a:t>
            </a:fld>
            <a:endParaRPr lang="fr-FR"/>
          </a:p>
        </p:txBody>
      </p:sp>
    </p:spTree>
    <p:extLst>
      <p:ext uri="{BB962C8B-B14F-4D97-AF65-F5344CB8AC3E}">
        <p14:creationId xmlns:p14="http://schemas.microsoft.com/office/powerpoint/2010/main" val="36249008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EE188FD-FE5C-F961-6C70-86325ADB6BA0}"/>
              </a:ext>
            </a:extLst>
          </p:cNvPr>
          <p:cNvSpPr>
            <a:spLocks noGrp="1"/>
          </p:cNvSpPr>
          <p:nvPr>
            <p:ph idx="1"/>
          </p:nvPr>
        </p:nvSpPr>
        <p:spPr>
          <a:xfrm>
            <a:off x="838200" y="717452"/>
            <a:ext cx="10515600" cy="5459511"/>
          </a:xfrm>
        </p:spPr>
        <p:txBody>
          <a:bodyPr>
            <a:normAutofit fontScale="85000" lnSpcReduction="10000"/>
          </a:bodyPr>
          <a:lstStyle/>
          <a:p>
            <a:pPr marL="0" indent="0">
              <a:buNone/>
            </a:pPr>
            <a:r>
              <a:rPr lang="fr-FR" dirty="0">
                <a:effectLst>
                  <a:outerShdw blurRad="38100" dist="38100" dir="2700000" algn="tl">
                    <a:srgbClr val="000000">
                      <a:alpha val="43137"/>
                    </a:srgbClr>
                  </a:outerShdw>
                </a:effectLst>
              </a:rPr>
              <a:t>Le « Art-</a:t>
            </a:r>
            <a:r>
              <a:rPr lang="fr-FR" dirty="0" err="1">
                <a:effectLst>
                  <a:outerShdw blurRad="38100" dist="38100" dir="2700000" algn="tl">
                    <a:srgbClr val="000000">
                      <a:alpha val="43137"/>
                    </a:srgbClr>
                  </a:outerShdw>
                </a:effectLst>
              </a:rPr>
              <a:t>washing</a:t>
            </a:r>
            <a:r>
              <a:rPr lang="fr-FR" dirty="0">
                <a:effectLst>
                  <a:outerShdw blurRad="38100" dist="38100" dir="2700000" algn="tl">
                    <a:srgbClr val="000000">
                      <a:alpha val="43137"/>
                    </a:srgbClr>
                  </a:outerShdw>
                </a:effectLst>
              </a:rPr>
              <a:t> » : </a:t>
            </a:r>
            <a:r>
              <a:rPr lang="fr-FR" dirty="0"/>
              <a:t>On critique certaines entreprises qui utilisent des œuvres engagées pour masquer des pratiques peu éthiques, transformant l'engagement en simple </a:t>
            </a:r>
            <a:r>
              <a:rPr lang="fr-FR" b="1" dirty="0"/>
              <a:t>outil de communication</a:t>
            </a:r>
            <a:r>
              <a:rPr lang="fr-FR" dirty="0"/>
              <a:t>.</a:t>
            </a:r>
          </a:p>
          <a:p>
            <a:pPr marL="0" indent="0">
              <a:buNone/>
            </a:pPr>
            <a:r>
              <a:rPr lang="fr-FR" u="sng" dirty="0"/>
              <a:t>Lexique conceptuel </a:t>
            </a:r>
          </a:p>
          <a:p>
            <a:pPr marL="0" indent="0">
              <a:buNone/>
            </a:pPr>
            <a:r>
              <a:rPr lang="fr-FR" dirty="0"/>
              <a:t>Pour structurer votre argumentation, mobilisez ces concepts philosophiques :</a:t>
            </a:r>
          </a:p>
          <a:p>
            <a:pPr marL="0" indent="0">
              <a:buNone/>
            </a:pPr>
            <a:r>
              <a:rPr lang="fr-FR" dirty="0">
                <a:effectLst>
                  <a:outerShdw blurRad="38100" dist="38100" dir="2700000" algn="tl">
                    <a:srgbClr val="000000">
                      <a:alpha val="43137"/>
                    </a:srgbClr>
                  </a:outerShdw>
                </a:effectLst>
              </a:rPr>
              <a:t>La catharsis : </a:t>
            </a:r>
            <a:r>
              <a:rPr lang="fr-FR" dirty="0"/>
              <a:t>La fonction purificatrice de l'art qui libère les passions du spectateur.</a:t>
            </a:r>
          </a:p>
          <a:p>
            <a:pPr marL="0" indent="0">
              <a:buNone/>
            </a:pPr>
            <a:r>
              <a:rPr lang="fr-FR" dirty="0">
                <a:effectLst>
                  <a:outerShdw blurRad="38100" dist="38100" dir="2700000" algn="tl">
                    <a:srgbClr val="000000">
                      <a:alpha val="43137"/>
                    </a:srgbClr>
                  </a:outerShdw>
                </a:effectLst>
              </a:rPr>
              <a:t>Le pouvoir de résilience : </a:t>
            </a:r>
            <a:r>
              <a:rPr lang="fr-FR" dirty="0"/>
              <a:t>La capacité de l'art à aider une société à se reconstruire après un traumatisme.</a:t>
            </a:r>
          </a:p>
          <a:p>
            <a:pPr marL="0" indent="0">
              <a:buNone/>
            </a:pPr>
            <a:r>
              <a:rPr lang="fr-FR" dirty="0">
                <a:effectLst>
                  <a:outerShdw blurRad="38100" dist="38100" dir="2700000" algn="tl">
                    <a:srgbClr val="000000">
                      <a:alpha val="43137"/>
                    </a:srgbClr>
                  </a:outerShdw>
                </a:effectLst>
              </a:rPr>
              <a:t>L'esthétisation du politique : </a:t>
            </a:r>
            <a:r>
              <a:rPr lang="fr-FR" dirty="0"/>
              <a:t>Terme de Walter Benjamin désignant l'utilisation de l'art par les régimes autoritaires pour séduire les masses.</a:t>
            </a:r>
          </a:p>
          <a:p>
            <a:pPr marL="0" indent="0">
              <a:buNone/>
            </a:pPr>
            <a:r>
              <a:rPr lang="fr-FR" dirty="0">
                <a:effectLst>
                  <a:outerShdw blurRad="38100" dist="38100" dir="2700000" algn="tl">
                    <a:srgbClr val="000000">
                      <a:alpha val="43137"/>
                    </a:srgbClr>
                  </a:outerShdw>
                </a:effectLst>
              </a:rPr>
              <a:t>La posture auctoriale : </a:t>
            </a:r>
            <a:r>
              <a:rPr lang="fr-FR" dirty="0"/>
              <a:t>La manière dont l'artiste assume (ou non) sa responsabilité envers son public.</a:t>
            </a:r>
          </a:p>
          <a:p>
            <a:pPr marL="0" indent="0">
              <a:buNone/>
            </a:pPr>
            <a:r>
              <a:rPr lang="fr-FR" dirty="0">
                <a:effectLst>
                  <a:outerShdw blurRad="38100" dist="38100" dir="2700000" algn="tl">
                    <a:srgbClr val="000000">
                      <a:alpha val="43137"/>
                    </a:srgbClr>
                  </a:outerShdw>
                </a:effectLst>
              </a:rPr>
              <a:t>L'hybridité : </a:t>
            </a:r>
            <a:r>
              <a:rPr lang="fr-FR" dirty="0"/>
              <a:t>Actuellement, l'engagement passe souvent par des œuvres mêlant art numérique et réalité augmentée pour créer des </a:t>
            </a:r>
            <a:r>
              <a:rPr lang="fr-FR" b="1" dirty="0"/>
              <a:t>expériences immersives</a:t>
            </a:r>
            <a:r>
              <a:rPr lang="fr-FR" dirty="0"/>
              <a:t> et transformatrices. </a:t>
            </a:r>
          </a:p>
          <a:p>
            <a:pPr marL="0" indent="0">
              <a:buNone/>
            </a:pPr>
            <a:endParaRPr lang="fr-FR" dirty="0"/>
          </a:p>
        </p:txBody>
      </p:sp>
      <p:sp>
        <p:nvSpPr>
          <p:cNvPr id="2" name="Espace réservé du numéro de diapositive 1">
            <a:extLst>
              <a:ext uri="{FF2B5EF4-FFF2-40B4-BE49-F238E27FC236}">
                <a16:creationId xmlns:a16="http://schemas.microsoft.com/office/drawing/2014/main" id="{5EE8DC60-6886-59D4-A877-57019DC7F8B6}"/>
              </a:ext>
            </a:extLst>
          </p:cNvPr>
          <p:cNvSpPr>
            <a:spLocks noGrp="1"/>
          </p:cNvSpPr>
          <p:nvPr>
            <p:ph type="sldNum" sz="quarter" idx="12"/>
          </p:nvPr>
        </p:nvSpPr>
        <p:spPr/>
        <p:txBody>
          <a:bodyPr/>
          <a:lstStyle/>
          <a:p>
            <a:fld id="{49DB4E91-02F2-4120-BFDC-D5317FE06960}" type="slidenum">
              <a:rPr lang="fr-FR" smtClean="0"/>
              <a:t>44</a:t>
            </a:fld>
            <a:endParaRPr lang="fr-FR"/>
          </a:p>
        </p:txBody>
      </p:sp>
    </p:spTree>
    <p:extLst>
      <p:ext uri="{BB962C8B-B14F-4D97-AF65-F5344CB8AC3E}">
        <p14:creationId xmlns:p14="http://schemas.microsoft.com/office/powerpoint/2010/main" val="39472688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6270024-124C-724A-0A4F-1165787BB15D}"/>
              </a:ext>
            </a:extLst>
          </p:cNvPr>
          <p:cNvSpPr>
            <a:spLocks noGrp="1"/>
          </p:cNvSpPr>
          <p:nvPr>
            <p:ph idx="1"/>
          </p:nvPr>
        </p:nvSpPr>
        <p:spPr>
          <a:xfrm>
            <a:off x="838200" y="618978"/>
            <a:ext cx="10515600" cy="5557985"/>
          </a:xfrm>
        </p:spPr>
        <p:txBody>
          <a:bodyPr>
            <a:normAutofit fontScale="92500" lnSpcReduction="10000"/>
          </a:bodyPr>
          <a:lstStyle/>
          <a:p>
            <a:pPr marL="1028700" lvl="1" indent="-571500">
              <a:buFont typeface="+mj-lt"/>
              <a:buAutoNum type="romanLcPeriod" startAt="16"/>
            </a:pPr>
            <a:r>
              <a:rPr lang="fr-FR" sz="3000" dirty="0"/>
              <a:t>Donner son point de vue sur les lieux d’exposition des œuvres d’art</a:t>
            </a:r>
          </a:p>
          <a:p>
            <a:pPr marL="0" indent="0">
              <a:buNone/>
            </a:pPr>
            <a:r>
              <a:rPr lang="fr-FR" dirty="0"/>
              <a:t>Aujourd’hui, la </a:t>
            </a:r>
            <a:r>
              <a:rPr lang="fr-FR" b="1" dirty="0"/>
              <a:t>réflexion sur les lieux d’exposition </a:t>
            </a:r>
            <a:r>
              <a:rPr lang="fr-FR" dirty="0"/>
              <a:t>s'est radicalement transformée. On assiste à une tension entre la </a:t>
            </a:r>
            <a:r>
              <a:rPr lang="fr-FR" b="1" dirty="0">
                <a:effectLst/>
              </a:rPr>
              <a:t>sacralisation</a:t>
            </a:r>
            <a:r>
              <a:rPr lang="fr-FR" dirty="0"/>
              <a:t> </a:t>
            </a:r>
            <a:r>
              <a:rPr lang="fr-FR" b="1" dirty="0"/>
              <a:t>du musée traditionnel </a:t>
            </a:r>
            <a:r>
              <a:rPr lang="fr-FR" dirty="0"/>
              <a:t>et l’</a:t>
            </a:r>
            <a:r>
              <a:rPr lang="fr-FR" b="1" dirty="0">
                <a:effectLst/>
              </a:rPr>
              <a:t>ubiquité</a:t>
            </a:r>
            <a:r>
              <a:rPr lang="fr-FR" dirty="0"/>
              <a:t> </a:t>
            </a:r>
            <a:r>
              <a:rPr lang="fr-FR" b="1" dirty="0"/>
              <a:t>des nouveaux espaces numériques et urbains</a:t>
            </a:r>
            <a:r>
              <a:rPr lang="fr-FR" dirty="0"/>
              <a:t>.</a:t>
            </a:r>
          </a:p>
          <a:p>
            <a:pPr marL="0" indent="0">
              <a:buNone/>
            </a:pPr>
            <a:r>
              <a:rPr lang="fr-FR" u="sng" dirty="0"/>
              <a:t>Le musée traditionnel : entre temple et obsolescence</a:t>
            </a:r>
          </a:p>
          <a:p>
            <a:pPr marL="0" indent="0">
              <a:buNone/>
            </a:pPr>
            <a:r>
              <a:rPr lang="fr-FR" dirty="0"/>
              <a:t>Le musée demeure l'institution de référence, mais son rôle est interrogé par les impératifs de démocratisation. </a:t>
            </a:r>
          </a:p>
          <a:p>
            <a:pPr marL="0" indent="0">
              <a:buNone/>
            </a:pPr>
            <a:r>
              <a:rPr lang="fr-FR" dirty="0">
                <a:effectLst>
                  <a:outerShdw blurRad="38100" dist="38100" dir="2700000" algn="tl">
                    <a:srgbClr val="000000">
                      <a:alpha val="43137"/>
                    </a:srgbClr>
                  </a:outerShdw>
                </a:effectLst>
              </a:rPr>
              <a:t>La sacralisation de l'œuvre : </a:t>
            </a:r>
            <a:r>
              <a:rPr lang="fr-FR" dirty="0"/>
              <a:t>Le musée offre un cadre de recueillement nécessaire à l'appréciation esthétique. C'est un lieu de </a:t>
            </a:r>
            <a:r>
              <a:rPr lang="fr-FR" b="1" dirty="0"/>
              <a:t>légitimation</a:t>
            </a:r>
            <a:r>
              <a:rPr lang="fr-FR" dirty="0"/>
              <a:t> où l'œuvre acquiert son statut historique.</a:t>
            </a:r>
          </a:p>
          <a:p>
            <a:pPr marL="0" indent="0">
              <a:buNone/>
            </a:pPr>
            <a:r>
              <a:rPr lang="fr-FR" dirty="0">
                <a:effectLst>
                  <a:outerShdw blurRad="38100" dist="38100" dir="2700000" algn="tl">
                    <a:srgbClr val="000000">
                      <a:alpha val="43137"/>
                    </a:srgbClr>
                  </a:outerShdw>
                </a:effectLst>
              </a:rPr>
              <a:t>Le conservatisme spatial </a:t>
            </a:r>
            <a:r>
              <a:rPr lang="fr-FR" b="1" dirty="0"/>
              <a:t>:</a:t>
            </a:r>
            <a:r>
              <a:rPr lang="fr-FR" dirty="0"/>
              <a:t> Certains critiques déplorent le côté « tour d'ivoire » des musées classiques, qui peut intimider une partie du public. On parle de la nécessité de briser les </a:t>
            </a:r>
            <a:r>
              <a:rPr lang="fr-FR" b="1" dirty="0"/>
              <a:t>barrières symboliques</a:t>
            </a:r>
            <a:r>
              <a:rPr lang="fr-FR" dirty="0"/>
              <a:t> de l'accès à la culture.</a:t>
            </a:r>
          </a:p>
          <a:p>
            <a:pPr marL="0" indent="0">
              <a:buNone/>
            </a:pPr>
            <a:endParaRPr lang="fr-FR" dirty="0"/>
          </a:p>
        </p:txBody>
      </p:sp>
      <p:sp>
        <p:nvSpPr>
          <p:cNvPr id="2" name="Espace réservé du numéro de diapositive 1">
            <a:extLst>
              <a:ext uri="{FF2B5EF4-FFF2-40B4-BE49-F238E27FC236}">
                <a16:creationId xmlns:a16="http://schemas.microsoft.com/office/drawing/2014/main" id="{AE7A41EF-1EE1-9163-6AAD-06FEBD2F78DD}"/>
              </a:ext>
            </a:extLst>
          </p:cNvPr>
          <p:cNvSpPr>
            <a:spLocks noGrp="1"/>
          </p:cNvSpPr>
          <p:nvPr>
            <p:ph type="sldNum" sz="quarter" idx="12"/>
          </p:nvPr>
        </p:nvSpPr>
        <p:spPr/>
        <p:txBody>
          <a:bodyPr/>
          <a:lstStyle/>
          <a:p>
            <a:fld id="{49DB4E91-02F2-4120-BFDC-D5317FE06960}" type="slidenum">
              <a:rPr lang="fr-FR" smtClean="0"/>
              <a:t>45</a:t>
            </a:fld>
            <a:endParaRPr lang="fr-FR"/>
          </a:p>
        </p:txBody>
      </p:sp>
    </p:spTree>
    <p:extLst>
      <p:ext uri="{BB962C8B-B14F-4D97-AF65-F5344CB8AC3E}">
        <p14:creationId xmlns:p14="http://schemas.microsoft.com/office/powerpoint/2010/main" val="578794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C8430A9-9A12-0FFE-4F23-B1BD283876B4}"/>
              </a:ext>
            </a:extLst>
          </p:cNvPr>
          <p:cNvSpPr>
            <a:spLocks noGrp="1"/>
          </p:cNvSpPr>
          <p:nvPr>
            <p:ph idx="1"/>
          </p:nvPr>
        </p:nvSpPr>
        <p:spPr>
          <a:xfrm>
            <a:off x="838200" y="618978"/>
            <a:ext cx="10515600" cy="5557985"/>
          </a:xfrm>
        </p:spPr>
        <p:txBody>
          <a:bodyPr>
            <a:normAutofit lnSpcReduction="10000"/>
          </a:bodyPr>
          <a:lstStyle/>
          <a:p>
            <a:pPr marL="0" indent="0">
              <a:buNone/>
            </a:pPr>
            <a:r>
              <a:rPr lang="fr-FR" dirty="0">
                <a:effectLst>
                  <a:outerShdw blurRad="38100" dist="38100" dir="2700000" algn="tl">
                    <a:srgbClr val="000000">
                      <a:alpha val="43137"/>
                    </a:srgbClr>
                  </a:outerShdw>
                </a:effectLst>
              </a:rPr>
              <a:t>La fonction de préservation : </a:t>
            </a:r>
            <a:r>
              <a:rPr lang="fr-FR" dirty="0"/>
              <a:t>Au-delà de l'exposition, le musée assure la </a:t>
            </a:r>
            <a:r>
              <a:rPr lang="fr-FR" b="1" dirty="0"/>
              <a:t>pérennité</a:t>
            </a:r>
            <a:r>
              <a:rPr lang="fr-FR" dirty="0"/>
              <a:t> physique des œuvres, un rôle que les lieux alternatifs ne peuvent pas toujours remplir.</a:t>
            </a:r>
          </a:p>
          <a:p>
            <a:pPr marL="0" indent="0">
              <a:buNone/>
            </a:pPr>
            <a:r>
              <a:rPr lang="fr-FR" u="sng" dirty="0"/>
              <a:t>Références historiques</a:t>
            </a:r>
          </a:p>
          <a:p>
            <a:pPr marL="0" indent="0">
              <a:buNone/>
            </a:pPr>
            <a:r>
              <a:rPr lang="fr-FR" dirty="0"/>
              <a:t>Pour donner plus de profondeur culturelle au cours, tu peux citer quelques figures ou exemples :</a:t>
            </a:r>
          </a:p>
          <a:p>
            <a:pPr marL="0" indent="0">
              <a:buNone/>
            </a:pPr>
            <a:r>
              <a:rPr lang="fr-FR" dirty="0">
                <a:effectLst>
                  <a:outerShdw blurRad="38100" dist="38100" dir="2700000" algn="tl">
                    <a:srgbClr val="000000">
                      <a:alpha val="43137"/>
                    </a:srgbClr>
                  </a:outerShdw>
                </a:effectLst>
              </a:rPr>
              <a:t>André Malraux :</a:t>
            </a:r>
            <a:br>
              <a:rPr lang="fr-FR" dirty="0"/>
            </a:br>
            <a:r>
              <a:rPr lang="fr-FR" dirty="0"/>
              <a:t>Il développe l’idée du </a:t>
            </a:r>
            <a:r>
              <a:rPr lang="fr-FR" b="1" dirty="0"/>
              <a:t>« musée imaginaire »</a:t>
            </a:r>
            <a:r>
              <a:rPr lang="fr-FR" dirty="0"/>
              <a:t>, selon laquelle la reproduction photographique permet de comparer des œuvres provenant de différentes cultures.</a:t>
            </a:r>
          </a:p>
          <a:p>
            <a:pPr marL="0" indent="0">
              <a:buNone/>
            </a:pPr>
            <a:r>
              <a:rPr lang="fr-FR" dirty="0">
                <a:effectLst>
                  <a:outerShdw blurRad="38100" dist="38100" dir="2700000" algn="tl">
                    <a:srgbClr val="000000">
                      <a:alpha val="43137"/>
                    </a:srgbClr>
                  </a:outerShdw>
                </a:effectLst>
              </a:rPr>
              <a:t>Walter Benjamin :</a:t>
            </a:r>
            <a:br>
              <a:rPr lang="fr-FR" dirty="0"/>
            </a:br>
            <a:r>
              <a:rPr lang="fr-FR" dirty="0"/>
              <a:t>Dans </a:t>
            </a:r>
            <a:r>
              <a:rPr lang="fr-FR" i="1" dirty="0"/>
              <a:t>L’œuvre d’art à l’époque de sa reproductibilité technique </a:t>
            </a:r>
            <a:r>
              <a:rPr lang="fr-FR" dirty="0"/>
              <a:t>(1935), il analyse la disparition de </a:t>
            </a:r>
            <a:r>
              <a:rPr lang="fr-FR" b="1" dirty="0"/>
              <a:t>l’aura</a:t>
            </a:r>
            <a:r>
              <a:rPr lang="fr-FR" dirty="0"/>
              <a:t> lorsque l’œuvre est reproduite.</a:t>
            </a:r>
          </a:p>
        </p:txBody>
      </p:sp>
      <p:sp>
        <p:nvSpPr>
          <p:cNvPr id="2" name="Espace réservé du numéro de diapositive 1">
            <a:extLst>
              <a:ext uri="{FF2B5EF4-FFF2-40B4-BE49-F238E27FC236}">
                <a16:creationId xmlns:a16="http://schemas.microsoft.com/office/drawing/2014/main" id="{DE7C6FC8-9CCE-5621-F243-CEAC85EA945A}"/>
              </a:ext>
            </a:extLst>
          </p:cNvPr>
          <p:cNvSpPr>
            <a:spLocks noGrp="1"/>
          </p:cNvSpPr>
          <p:nvPr>
            <p:ph type="sldNum" sz="quarter" idx="12"/>
          </p:nvPr>
        </p:nvSpPr>
        <p:spPr/>
        <p:txBody>
          <a:bodyPr/>
          <a:lstStyle/>
          <a:p>
            <a:fld id="{49DB4E91-02F2-4120-BFDC-D5317FE06960}" type="slidenum">
              <a:rPr lang="fr-FR" smtClean="0"/>
              <a:t>46</a:t>
            </a:fld>
            <a:endParaRPr lang="fr-FR"/>
          </a:p>
        </p:txBody>
      </p:sp>
    </p:spTree>
    <p:extLst>
      <p:ext uri="{BB962C8B-B14F-4D97-AF65-F5344CB8AC3E}">
        <p14:creationId xmlns:p14="http://schemas.microsoft.com/office/powerpoint/2010/main" val="19290281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028B784-5AB4-B63D-A33A-8FE7E6F5360A}"/>
              </a:ext>
            </a:extLst>
          </p:cNvPr>
          <p:cNvSpPr>
            <a:spLocks noGrp="1"/>
          </p:cNvSpPr>
          <p:nvPr>
            <p:ph idx="1"/>
          </p:nvPr>
        </p:nvSpPr>
        <p:spPr>
          <a:xfrm>
            <a:off x="838200" y="656823"/>
            <a:ext cx="10515600" cy="5520140"/>
          </a:xfrm>
        </p:spPr>
        <p:txBody>
          <a:bodyPr>
            <a:normAutofit/>
          </a:bodyPr>
          <a:lstStyle/>
          <a:p>
            <a:pPr marL="0" indent="0">
              <a:buNone/>
            </a:pPr>
            <a:r>
              <a:rPr lang="fr-FR" dirty="0">
                <a:effectLst>
                  <a:outerShdw blurRad="38100" dist="38100" dir="2700000" algn="tl">
                    <a:srgbClr val="000000">
                      <a:alpha val="43137"/>
                    </a:srgbClr>
                  </a:outerShdw>
                </a:effectLst>
              </a:rPr>
              <a:t>Marcel Duchamp :</a:t>
            </a:r>
            <a:br>
              <a:rPr lang="fr-FR" dirty="0"/>
            </a:br>
            <a:r>
              <a:rPr lang="fr-FR" dirty="0"/>
              <a:t>Avec ses </a:t>
            </a:r>
            <a:r>
              <a:rPr lang="fr-FR" b="1" dirty="0"/>
              <a:t>ready-made</a:t>
            </a:r>
            <a:r>
              <a:rPr lang="fr-FR" dirty="0"/>
              <a:t>, il montre que le lieu d’exposition peut transformer un objet ordinaire en œuvre d’art.</a:t>
            </a:r>
          </a:p>
          <a:p>
            <a:pPr marL="0" indent="0">
              <a:buNone/>
            </a:pPr>
            <a:r>
              <a:rPr lang="fr-FR" dirty="0">
                <a:effectLst>
                  <a:outerShdw blurRad="38100" dist="38100" dir="2700000" algn="tl">
                    <a:srgbClr val="000000">
                      <a:alpha val="43137"/>
                    </a:srgbClr>
                  </a:outerShdw>
                </a:effectLst>
              </a:rPr>
              <a:t>Banksy :</a:t>
            </a:r>
            <a:br>
              <a:rPr lang="fr-FR" dirty="0"/>
            </a:br>
            <a:r>
              <a:rPr lang="fr-FR" dirty="0"/>
              <a:t>Le </a:t>
            </a:r>
            <a:r>
              <a:rPr lang="fr-FR" dirty="0" err="1"/>
              <a:t>street</a:t>
            </a:r>
            <a:r>
              <a:rPr lang="fr-FR" dirty="0"/>
              <a:t> art illustre la volonté de </a:t>
            </a:r>
            <a:r>
              <a:rPr lang="fr-FR" b="1" dirty="0"/>
              <a:t>sortir l’art des institutions</a:t>
            </a:r>
            <a:r>
              <a:rPr lang="fr-FR" dirty="0"/>
              <a:t> et de le rendre accessible dans l’espace public.</a:t>
            </a:r>
          </a:p>
          <a:p>
            <a:pPr marL="0" indent="0">
              <a:buNone/>
            </a:pPr>
            <a:endParaRPr lang="fr-FR" dirty="0"/>
          </a:p>
        </p:txBody>
      </p:sp>
      <p:sp>
        <p:nvSpPr>
          <p:cNvPr id="4" name="Espace réservé du numéro de diapositive 3">
            <a:extLst>
              <a:ext uri="{FF2B5EF4-FFF2-40B4-BE49-F238E27FC236}">
                <a16:creationId xmlns:a16="http://schemas.microsoft.com/office/drawing/2014/main" id="{4C432EFE-3532-16EB-744A-A0E81E7F2EB2}"/>
              </a:ext>
            </a:extLst>
          </p:cNvPr>
          <p:cNvSpPr>
            <a:spLocks noGrp="1"/>
          </p:cNvSpPr>
          <p:nvPr>
            <p:ph type="sldNum" sz="quarter" idx="12"/>
          </p:nvPr>
        </p:nvSpPr>
        <p:spPr/>
        <p:txBody>
          <a:bodyPr/>
          <a:lstStyle/>
          <a:p>
            <a:fld id="{49DB4E91-02F2-4120-BFDC-D5317FE06960}" type="slidenum">
              <a:rPr lang="fr-FR" smtClean="0"/>
              <a:t>47</a:t>
            </a:fld>
            <a:endParaRPr lang="fr-FR"/>
          </a:p>
        </p:txBody>
      </p:sp>
    </p:spTree>
    <p:extLst>
      <p:ext uri="{BB962C8B-B14F-4D97-AF65-F5344CB8AC3E}">
        <p14:creationId xmlns:p14="http://schemas.microsoft.com/office/powerpoint/2010/main" val="18209811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701F0F3-31CA-67C4-E7DD-1BDD12228138}"/>
              </a:ext>
            </a:extLst>
          </p:cNvPr>
          <p:cNvSpPr>
            <a:spLocks noGrp="1"/>
          </p:cNvSpPr>
          <p:nvPr>
            <p:ph idx="1"/>
          </p:nvPr>
        </p:nvSpPr>
        <p:spPr>
          <a:xfrm>
            <a:off x="838200" y="703385"/>
            <a:ext cx="10515600" cy="5473578"/>
          </a:xfrm>
        </p:spPr>
        <p:txBody>
          <a:bodyPr>
            <a:normAutofit fontScale="92500" lnSpcReduction="10000"/>
          </a:bodyPr>
          <a:lstStyle/>
          <a:p>
            <a:pPr marL="1028700" lvl="1" indent="-571500">
              <a:buFont typeface="+mj-lt"/>
              <a:buAutoNum type="romanLcPeriod" startAt="17"/>
            </a:pPr>
            <a:r>
              <a:rPr lang="fr-FR" sz="3000" dirty="0"/>
              <a:t> Repérer différents registres de langue dans des contextes différents et choisir le registre approprié à la situation</a:t>
            </a:r>
          </a:p>
          <a:p>
            <a:pPr marL="0" indent="0">
              <a:buNone/>
            </a:pPr>
            <a:r>
              <a:rPr lang="fr-FR" dirty="0"/>
              <a:t>Pour des étudiants de classes préparatoires, la </a:t>
            </a:r>
            <a:r>
              <a:rPr lang="fr-FR" b="1" dirty="0"/>
              <a:t>maîtrise des registres de langue </a:t>
            </a:r>
            <a:r>
              <a:rPr lang="fr-FR" dirty="0"/>
              <a:t>est un levier de </a:t>
            </a:r>
            <a:r>
              <a:rPr lang="fr-FR" b="1" dirty="0">
                <a:effectLst/>
              </a:rPr>
              <a:t>crédibilité professionnelle</a:t>
            </a:r>
            <a:r>
              <a:rPr lang="fr-FR" dirty="0"/>
              <a:t>. Savoir </a:t>
            </a:r>
            <a:r>
              <a:rPr lang="fr-FR" b="1" dirty="0"/>
              <a:t>adapter son discours à son interlocuteur </a:t>
            </a:r>
            <a:r>
              <a:rPr lang="fr-FR" dirty="0"/>
              <a:t>(expert, client, jury ou collègue) est une </a:t>
            </a:r>
            <a:r>
              <a:rPr lang="fr-FR" b="1" dirty="0"/>
              <a:t>compétence stratégique </a:t>
            </a:r>
            <a:r>
              <a:rPr lang="fr-FR" dirty="0"/>
              <a:t>qui </a:t>
            </a:r>
            <a:r>
              <a:rPr lang="fr-FR" b="1" dirty="0"/>
              <a:t>distingue le technicien du manager</a:t>
            </a:r>
            <a:r>
              <a:rPr lang="fr-FR" dirty="0"/>
              <a:t>.</a:t>
            </a:r>
          </a:p>
          <a:p>
            <a:pPr marL="0" indent="0">
              <a:buNone/>
            </a:pPr>
            <a:r>
              <a:rPr lang="fr-FR" u="sng" dirty="0"/>
              <a:t>Typologie des registres et contextes d’usage</a:t>
            </a:r>
          </a:p>
          <a:p>
            <a:pPr marL="0" indent="0">
              <a:buNone/>
            </a:pPr>
            <a:r>
              <a:rPr lang="fr-FR" dirty="0"/>
              <a:t>Le choix du registre dépend du rapport hiérarchique, du support (écrit/oral) et de l'enjeu de la communication.</a:t>
            </a:r>
          </a:p>
          <a:p>
            <a:pPr marL="0" indent="0">
              <a:buNone/>
            </a:pPr>
            <a:r>
              <a:rPr lang="fr-FR" dirty="0">
                <a:effectLst>
                  <a:outerShdw blurRad="38100" dist="38100" dir="2700000" algn="tl">
                    <a:srgbClr val="000000">
                      <a:alpha val="43137"/>
                    </a:srgbClr>
                  </a:outerShdw>
                </a:effectLst>
              </a:rPr>
              <a:t>Le</a:t>
            </a:r>
            <a:r>
              <a:rPr lang="fr-FR" b="1" dirty="0"/>
              <a:t> </a:t>
            </a:r>
            <a:r>
              <a:rPr lang="fr-FR" dirty="0">
                <a:effectLst>
                  <a:outerShdw blurRad="38100" dist="38100" dir="2700000" algn="tl">
                    <a:srgbClr val="000000">
                      <a:alpha val="43137"/>
                    </a:srgbClr>
                  </a:outerShdw>
                </a:effectLst>
              </a:rPr>
              <a:t>registre soutenu (ou formel) : </a:t>
            </a:r>
            <a:r>
              <a:rPr lang="fr-FR" dirty="0"/>
              <a:t>Utilisé dans les écrits académiques, les rapports d'expertise ou les entretiens de haut niveau. Il privilégie l'imparfait du subjonctif (rarement à l'oral), le « nous » et un lexique précis.</a:t>
            </a:r>
          </a:p>
          <a:p>
            <a:pPr marL="457200" lvl="1" indent="0">
              <a:buNone/>
            </a:pPr>
            <a:r>
              <a:rPr lang="fr-FR" i="1" dirty="0"/>
              <a:t>Exemple :</a:t>
            </a:r>
            <a:r>
              <a:rPr lang="fr-FR" dirty="0"/>
              <a:t> « Nous </a:t>
            </a:r>
            <a:r>
              <a:rPr lang="fr-FR" b="1" dirty="0"/>
              <a:t>escomptons</a:t>
            </a:r>
            <a:r>
              <a:rPr lang="fr-FR" dirty="0"/>
              <a:t> une optimisation des flux </a:t>
            </a:r>
            <a:r>
              <a:rPr lang="fr-FR" b="1" dirty="0"/>
              <a:t>nonobstant</a:t>
            </a:r>
            <a:r>
              <a:rPr lang="fr-FR" dirty="0"/>
              <a:t> les contraintes techniques. »</a:t>
            </a:r>
          </a:p>
          <a:p>
            <a:pPr marL="0" indent="0">
              <a:buNone/>
            </a:pPr>
            <a:endParaRPr lang="fr-FR" dirty="0"/>
          </a:p>
        </p:txBody>
      </p:sp>
      <p:sp>
        <p:nvSpPr>
          <p:cNvPr id="2" name="Espace réservé du numéro de diapositive 1">
            <a:extLst>
              <a:ext uri="{FF2B5EF4-FFF2-40B4-BE49-F238E27FC236}">
                <a16:creationId xmlns:a16="http://schemas.microsoft.com/office/drawing/2014/main" id="{A5983956-5FBB-639A-045F-52ADEF3EF257}"/>
              </a:ext>
            </a:extLst>
          </p:cNvPr>
          <p:cNvSpPr>
            <a:spLocks noGrp="1"/>
          </p:cNvSpPr>
          <p:nvPr>
            <p:ph type="sldNum" sz="quarter" idx="12"/>
          </p:nvPr>
        </p:nvSpPr>
        <p:spPr/>
        <p:txBody>
          <a:bodyPr/>
          <a:lstStyle/>
          <a:p>
            <a:fld id="{49DB4E91-02F2-4120-BFDC-D5317FE06960}" type="slidenum">
              <a:rPr lang="fr-FR" smtClean="0"/>
              <a:t>48</a:t>
            </a:fld>
            <a:endParaRPr lang="fr-FR"/>
          </a:p>
        </p:txBody>
      </p:sp>
    </p:spTree>
    <p:extLst>
      <p:ext uri="{BB962C8B-B14F-4D97-AF65-F5344CB8AC3E}">
        <p14:creationId xmlns:p14="http://schemas.microsoft.com/office/powerpoint/2010/main" val="33767987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3B55CD3-0EEC-268D-4835-2B8276098C14}"/>
              </a:ext>
            </a:extLst>
          </p:cNvPr>
          <p:cNvSpPr>
            <a:spLocks noGrp="1"/>
          </p:cNvSpPr>
          <p:nvPr>
            <p:ph idx="1"/>
          </p:nvPr>
        </p:nvSpPr>
        <p:spPr>
          <a:xfrm>
            <a:off x="838200" y="717452"/>
            <a:ext cx="10515600" cy="5459511"/>
          </a:xfrm>
        </p:spPr>
        <p:txBody>
          <a:bodyPr>
            <a:normAutofit lnSpcReduction="10000"/>
          </a:bodyPr>
          <a:lstStyle/>
          <a:p>
            <a:pPr marL="0" indent="0">
              <a:buNone/>
            </a:pPr>
            <a:r>
              <a:rPr lang="fr-FR" dirty="0">
                <a:effectLst>
                  <a:outerShdw blurRad="38100" dist="38100" dir="2700000" algn="tl">
                    <a:srgbClr val="000000">
                      <a:alpha val="43137"/>
                    </a:srgbClr>
                  </a:outerShdw>
                </a:effectLst>
              </a:rPr>
              <a:t>Le registre courant : </a:t>
            </a:r>
            <a:r>
              <a:rPr lang="fr-FR" dirty="0"/>
              <a:t>C'est la norme des échanges professionnels quotidiens et des présentations techniques. La syntaxe est correcte, le vocabulaire est standard.</a:t>
            </a:r>
          </a:p>
          <a:p>
            <a:pPr marL="457200" lvl="1" indent="0">
              <a:buNone/>
            </a:pPr>
            <a:r>
              <a:rPr lang="fr-FR" i="1" dirty="0"/>
              <a:t>Exemple :</a:t>
            </a:r>
            <a:r>
              <a:rPr lang="fr-FR" dirty="0"/>
              <a:t> « Nous prévoyons d'améliorer les résultats malgré les problèmes techniques. »</a:t>
            </a:r>
          </a:p>
          <a:p>
            <a:pPr marL="0" indent="0">
              <a:buNone/>
            </a:pPr>
            <a:r>
              <a:rPr lang="fr-FR" dirty="0">
                <a:effectLst>
                  <a:outerShdw blurRad="38100" dist="38100" dir="2700000" algn="tl">
                    <a:srgbClr val="000000">
                      <a:alpha val="43137"/>
                    </a:srgbClr>
                  </a:outerShdw>
                </a:effectLst>
              </a:rPr>
              <a:t>Le registre familier : </a:t>
            </a:r>
            <a:r>
              <a:rPr lang="fr-FR" dirty="0"/>
              <a:t>Réservé aux échanges informels entre collègues proches. Il utilise des abréviations, le « on » à la place du « nous » et un relâchement syntaxique.</a:t>
            </a:r>
          </a:p>
          <a:p>
            <a:pPr marL="457200" lvl="1" indent="0">
              <a:buNone/>
            </a:pPr>
            <a:r>
              <a:rPr lang="fr-FR" i="1" dirty="0"/>
              <a:t>Exemple :</a:t>
            </a:r>
            <a:r>
              <a:rPr lang="fr-FR" dirty="0"/>
              <a:t> « On va booster les scores même si ça bugge un peu. »</a:t>
            </a:r>
          </a:p>
          <a:p>
            <a:pPr marL="0" indent="0">
              <a:buNone/>
            </a:pPr>
            <a:r>
              <a:rPr lang="fr-FR" u="sng" dirty="0"/>
              <a:t>Stratégie d’adaptation linguistique</a:t>
            </a:r>
          </a:p>
          <a:p>
            <a:pPr marL="0" indent="0">
              <a:buNone/>
            </a:pPr>
            <a:r>
              <a:rPr lang="fr-FR" dirty="0"/>
              <a:t>Pour choisir le bon registre, l’étudiant peut se poser </a:t>
            </a:r>
            <a:r>
              <a:rPr lang="fr-FR" b="1" dirty="0"/>
              <a:t>trois questions rapides</a:t>
            </a:r>
            <a:r>
              <a:rPr lang="fr-FR" dirty="0"/>
              <a:t> :</a:t>
            </a:r>
          </a:p>
          <a:p>
            <a:pPr marL="0" indent="0">
              <a:buNone/>
            </a:pPr>
            <a:r>
              <a:rPr lang="fr-FR" dirty="0">
                <a:effectLst>
                  <a:outerShdw blurRad="38100" dist="38100" dir="2700000" algn="tl">
                    <a:srgbClr val="000000">
                      <a:alpha val="43137"/>
                    </a:srgbClr>
                  </a:outerShdw>
                </a:effectLst>
              </a:rPr>
              <a:t>À qui je parle ?</a:t>
            </a:r>
            <a:br>
              <a:rPr lang="fr-FR" dirty="0"/>
            </a:br>
            <a:r>
              <a:rPr lang="fr-FR" dirty="0"/>
              <a:t>(ami, professeur, supérieur hiérarchique, client)</a:t>
            </a:r>
          </a:p>
          <a:p>
            <a:pPr marL="0" indent="0">
              <a:buNone/>
            </a:pPr>
            <a:endParaRPr lang="fr-FR" dirty="0"/>
          </a:p>
          <a:p>
            <a:pPr marL="0" indent="0">
              <a:buNone/>
            </a:pPr>
            <a:endParaRPr lang="fr-FR" dirty="0"/>
          </a:p>
        </p:txBody>
      </p:sp>
      <p:sp>
        <p:nvSpPr>
          <p:cNvPr id="2" name="Espace réservé du numéro de diapositive 1">
            <a:extLst>
              <a:ext uri="{FF2B5EF4-FFF2-40B4-BE49-F238E27FC236}">
                <a16:creationId xmlns:a16="http://schemas.microsoft.com/office/drawing/2014/main" id="{4DBB9EFF-E605-3F27-A7B3-893344BD08C4}"/>
              </a:ext>
            </a:extLst>
          </p:cNvPr>
          <p:cNvSpPr>
            <a:spLocks noGrp="1"/>
          </p:cNvSpPr>
          <p:nvPr>
            <p:ph type="sldNum" sz="quarter" idx="12"/>
          </p:nvPr>
        </p:nvSpPr>
        <p:spPr/>
        <p:txBody>
          <a:bodyPr/>
          <a:lstStyle/>
          <a:p>
            <a:fld id="{49DB4E91-02F2-4120-BFDC-D5317FE06960}" type="slidenum">
              <a:rPr lang="fr-FR" smtClean="0"/>
              <a:t>49</a:t>
            </a:fld>
            <a:endParaRPr lang="fr-FR"/>
          </a:p>
        </p:txBody>
      </p:sp>
    </p:spTree>
    <p:extLst>
      <p:ext uri="{BB962C8B-B14F-4D97-AF65-F5344CB8AC3E}">
        <p14:creationId xmlns:p14="http://schemas.microsoft.com/office/powerpoint/2010/main" val="25045414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894FD8C-A6D7-5D9F-5B87-D1E5C8E882A1}"/>
              </a:ext>
            </a:extLst>
          </p:cNvPr>
          <p:cNvSpPr>
            <a:spLocks noGrp="1"/>
          </p:cNvSpPr>
          <p:nvPr>
            <p:ph idx="1"/>
          </p:nvPr>
        </p:nvSpPr>
        <p:spPr>
          <a:xfrm>
            <a:off x="838200" y="553792"/>
            <a:ext cx="10515600" cy="5623171"/>
          </a:xfrm>
        </p:spPr>
        <p:txBody>
          <a:bodyPr/>
          <a:lstStyle/>
          <a:p>
            <a:pPr marL="0" indent="0">
              <a:buNone/>
            </a:pPr>
            <a:r>
              <a:rPr lang="fr-FR" dirty="0">
                <a:effectLst>
                  <a:outerShdw blurRad="38100" dist="38100" dir="2700000" algn="tl">
                    <a:srgbClr val="000000">
                      <a:alpha val="43137"/>
                    </a:srgbClr>
                  </a:outerShdw>
                </a:effectLst>
              </a:rPr>
              <a:t>Dans quel cadre ?</a:t>
            </a:r>
            <a:br>
              <a:rPr lang="fr-FR" dirty="0"/>
            </a:br>
            <a:r>
              <a:rPr lang="fr-FR" dirty="0"/>
              <a:t>(conversation privée, réunion professionnelle, document officiel)</a:t>
            </a:r>
          </a:p>
          <a:p>
            <a:pPr marL="0" indent="0">
              <a:buNone/>
            </a:pPr>
            <a:r>
              <a:rPr lang="fr-FR" dirty="0">
                <a:effectLst>
                  <a:outerShdw blurRad="38100" dist="38100" dir="2700000" algn="tl">
                    <a:srgbClr val="000000">
                      <a:alpha val="43137"/>
                    </a:srgbClr>
                  </a:outerShdw>
                </a:effectLst>
              </a:rPr>
              <a:t>Quel est l’enjeu de la communication ?</a:t>
            </a:r>
            <a:br>
              <a:rPr lang="fr-FR" dirty="0"/>
            </a:br>
            <a:r>
              <a:rPr lang="fr-FR" dirty="0"/>
              <a:t>(informer, convaincre, négocier, évaluer)</a:t>
            </a:r>
          </a:p>
          <a:p>
            <a:pPr marL="0" indent="0">
              <a:buNone/>
            </a:pPr>
            <a:r>
              <a:rPr lang="fr-FR" dirty="0"/>
              <a:t>Cette capacité d’ajustement est appelée </a:t>
            </a:r>
            <a:r>
              <a:rPr lang="fr-FR" b="1" dirty="0"/>
              <a:t>la compétence sociolinguistique</a:t>
            </a:r>
            <a:r>
              <a:rPr lang="fr-FR" dirty="0"/>
              <a:t>.</a:t>
            </a:r>
          </a:p>
          <a:p>
            <a:pPr marL="0" indent="0">
              <a:buNone/>
            </a:pPr>
            <a:endParaRPr lang="fr-FR" dirty="0"/>
          </a:p>
        </p:txBody>
      </p:sp>
      <p:sp>
        <p:nvSpPr>
          <p:cNvPr id="4" name="Espace réservé du numéro de diapositive 3">
            <a:extLst>
              <a:ext uri="{FF2B5EF4-FFF2-40B4-BE49-F238E27FC236}">
                <a16:creationId xmlns:a16="http://schemas.microsoft.com/office/drawing/2014/main" id="{F4E96F47-41A9-3963-37B2-4098110007D1}"/>
              </a:ext>
            </a:extLst>
          </p:cNvPr>
          <p:cNvSpPr>
            <a:spLocks noGrp="1"/>
          </p:cNvSpPr>
          <p:nvPr>
            <p:ph type="sldNum" sz="quarter" idx="12"/>
          </p:nvPr>
        </p:nvSpPr>
        <p:spPr/>
        <p:txBody>
          <a:bodyPr/>
          <a:lstStyle/>
          <a:p>
            <a:fld id="{49DB4E91-02F2-4120-BFDC-D5317FE06960}" type="slidenum">
              <a:rPr lang="fr-FR" smtClean="0"/>
              <a:t>50</a:t>
            </a:fld>
            <a:endParaRPr lang="fr-FR"/>
          </a:p>
        </p:txBody>
      </p:sp>
    </p:spTree>
    <p:extLst>
      <p:ext uri="{BB962C8B-B14F-4D97-AF65-F5344CB8AC3E}">
        <p14:creationId xmlns:p14="http://schemas.microsoft.com/office/powerpoint/2010/main" val="20382827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C919BA1-1B3A-FCAB-8109-3FB9FB530557}"/>
              </a:ext>
            </a:extLst>
          </p:cNvPr>
          <p:cNvSpPr>
            <a:spLocks noGrp="1"/>
          </p:cNvSpPr>
          <p:nvPr>
            <p:ph idx="1"/>
          </p:nvPr>
        </p:nvSpPr>
        <p:spPr>
          <a:xfrm>
            <a:off x="838200" y="633046"/>
            <a:ext cx="10515600" cy="5543917"/>
          </a:xfrm>
        </p:spPr>
        <p:txBody>
          <a:bodyPr>
            <a:normAutofit lnSpcReduction="10000"/>
          </a:bodyPr>
          <a:lstStyle/>
          <a:p>
            <a:pPr marL="1028700" lvl="1" indent="-571500">
              <a:buFont typeface="+mj-lt"/>
              <a:buAutoNum type="romanLcPeriod" startAt="18"/>
            </a:pPr>
            <a:r>
              <a:rPr lang="fr-FR" sz="3000" dirty="0"/>
              <a:t> Rapporter des propos</a:t>
            </a:r>
          </a:p>
          <a:p>
            <a:pPr marL="0" indent="0">
              <a:buNone/>
            </a:pPr>
            <a:r>
              <a:rPr lang="fr-FR" dirty="0"/>
              <a:t>Le </a:t>
            </a:r>
            <a:r>
              <a:rPr lang="fr-FR" b="1" dirty="0"/>
              <a:t>passage du discours direct au discours rapporté </a:t>
            </a:r>
            <a:r>
              <a:rPr lang="fr-FR" dirty="0"/>
              <a:t>est une </a:t>
            </a:r>
            <a:r>
              <a:rPr lang="fr-FR" b="1" dirty="0"/>
              <a:t>compétence clé</a:t>
            </a:r>
            <a:r>
              <a:rPr lang="fr-FR" dirty="0"/>
              <a:t>, car elle permet de synthétiser des réunions, de transmettre des consignes techniques ou de </a:t>
            </a:r>
            <a:r>
              <a:rPr lang="fr-FR" b="1" dirty="0"/>
              <a:t>rédiger des comptes rendus avec une précision académique</a:t>
            </a:r>
            <a:r>
              <a:rPr lang="fr-FR" dirty="0"/>
              <a:t>.</a:t>
            </a:r>
          </a:p>
          <a:p>
            <a:pPr marL="0" indent="0">
              <a:buNone/>
            </a:pPr>
            <a:r>
              <a:rPr lang="fr-FR" u="sng" dirty="0"/>
              <a:t>La concordance des temps : l’ancrage dans le passé</a:t>
            </a:r>
          </a:p>
          <a:p>
            <a:pPr marL="0" indent="0">
              <a:buNone/>
            </a:pPr>
            <a:r>
              <a:rPr lang="fr-FR" dirty="0"/>
              <a:t>Lorsque le verbe introducteur (</a:t>
            </a:r>
            <a:r>
              <a:rPr lang="fr-FR" i="1" dirty="0"/>
              <a:t>dire, affirmer, expliquer</a:t>
            </a:r>
            <a:r>
              <a:rPr lang="fr-FR" dirty="0"/>
              <a:t>) est au passé (passé composé ou imparfait), les temps de la parole rapportée doivent glisser selon une règle stricte :</a:t>
            </a:r>
          </a:p>
          <a:p>
            <a:pPr marL="0" indent="0">
              <a:buNone/>
            </a:pPr>
            <a:r>
              <a:rPr lang="fr-FR" dirty="0">
                <a:effectLst>
                  <a:outerShdw blurRad="38100" dist="38100" dir="2700000" algn="tl">
                    <a:srgbClr val="000000">
                      <a:alpha val="43137"/>
                    </a:srgbClr>
                  </a:outerShdw>
                </a:effectLst>
              </a:rPr>
              <a:t>Présent → Imparfait : </a:t>
            </a:r>
            <a:r>
              <a:rPr lang="fr-FR" dirty="0"/>
              <a:t>« Il a dit : « Le prototype </a:t>
            </a:r>
            <a:r>
              <a:rPr lang="fr-FR" b="1" dirty="0"/>
              <a:t>est</a:t>
            </a:r>
            <a:r>
              <a:rPr lang="fr-FR" dirty="0"/>
              <a:t> prêt » » → </a:t>
            </a:r>
            <a:r>
              <a:rPr lang="fr-FR" i="1" dirty="0"/>
              <a:t>Il a dit que le prototype </a:t>
            </a:r>
            <a:r>
              <a:rPr lang="fr-FR" b="1" i="1" dirty="0"/>
              <a:t>était</a:t>
            </a:r>
            <a:r>
              <a:rPr lang="fr-FR" i="1" dirty="0"/>
              <a:t> prêt.</a:t>
            </a:r>
            <a:endParaRPr lang="fr-FR" dirty="0"/>
          </a:p>
          <a:p>
            <a:pPr marL="0" indent="0">
              <a:buNone/>
            </a:pPr>
            <a:r>
              <a:rPr lang="fr-FR" dirty="0">
                <a:effectLst>
                  <a:outerShdw blurRad="38100" dist="38100" dir="2700000" algn="tl">
                    <a:srgbClr val="000000">
                      <a:alpha val="43137"/>
                    </a:srgbClr>
                  </a:outerShdw>
                </a:effectLst>
              </a:rPr>
              <a:t>Futur → Conditionnel présent : </a:t>
            </a:r>
            <a:r>
              <a:rPr lang="fr-FR" dirty="0"/>
              <a:t>« Elle a affirmé : « Nous </a:t>
            </a:r>
            <a:r>
              <a:rPr lang="fr-FR" b="1" dirty="0"/>
              <a:t>finirons</a:t>
            </a:r>
            <a:r>
              <a:rPr lang="fr-FR" dirty="0"/>
              <a:t> demain » » → </a:t>
            </a:r>
            <a:r>
              <a:rPr lang="fr-FR" i="1" dirty="0"/>
              <a:t>Elle a affirmé qu'ils </a:t>
            </a:r>
            <a:r>
              <a:rPr lang="fr-FR" b="1" i="1" dirty="0"/>
              <a:t>finiraient</a:t>
            </a:r>
            <a:r>
              <a:rPr lang="fr-FR" i="1" dirty="0"/>
              <a:t> le lendemain.</a:t>
            </a:r>
            <a:endParaRPr lang="fr-FR" dirty="0"/>
          </a:p>
          <a:p>
            <a:pPr marL="0" indent="0">
              <a:buNone/>
            </a:pPr>
            <a:endParaRPr lang="fr-FR" dirty="0"/>
          </a:p>
        </p:txBody>
      </p:sp>
      <p:sp>
        <p:nvSpPr>
          <p:cNvPr id="2" name="Espace réservé du numéro de diapositive 1">
            <a:extLst>
              <a:ext uri="{FF2B5EF4-FFF2-40B4-BE49-F238E27FC236}">
                <a16:creationId xmlns:a16="http://schemas.microsoft.com/office/drawing/2014/main" id="{CD9881CD-11A3-45BD-CEEC-46FDA69F4004}"/>
              </a:ext>
            </a:extLst>
          </p:cNvPr>
          <p:cNvSpPr>
            <a:spLocks noGrp="1"/>
          </p:cNvSpPr>
          <p:nvPr>
            <p:ph type="sldNum" sz="quarter" idx="12"/>
          </p:nvPr>
        </p:nvSpPr>
        <p:spPr/>
        <p:txBody>
          <a:bodyPr/>
          <a:lstStyle/>
          <a:p>
            <a:fld id="{49DB4E91-02F2-4120-BFDC-D5317FE06960}" type="slidenum">
              <a:rPr lang="fr-FR" smtClean="0"/>
              <a:t>51</a:t>
            </a:fld>
            <a:endParaRPr lang="fr-FR"/>
          </a:p>
        </p:txBody>
      </p:sp>
    </p:spTree>
    <p:extLst>
      <p:ext uri="{BB962C8B-B14F-4D97-AF65-F5344CB8AC3E}">
        <p14:creationId xmlns:p14="http://schemas.microsoft.com/office/powerpoint/2010/main" val="42823437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C3ED0F2-5220-3581-5CA5-B27628C3F366}"/>
              </a:ext>
            </a:extLst>
          </p:cNvPr>
          <p:cNvSpPr>
            <a:spLocks noGrp="1"/>
          </p:cNvSpPr>
          <p:nvPr>
            <p:ph idx="1"/>
          </p:nvPr>
        </p:nvSpPr>
        <p:spPr>
          <a:xfrm>
            <a:off x="838200" y="675249"/>
            <a:ext cx="10515600" cy="5501714"/>
          </a:xfrm>
        </p:spPr>
        <p:txBody>
          <a:bodyPr/>
          <a:lstStyle/>
          <a:p>
            <a:pPr marL="0" indent="0">
              <a:buNone/>
            </a:pPr>
            <a:r>
              <a:rPr lang="fr-FR" dirty="0">
                <a:effectLst>
                  <a:outerShdw blurRad="38100" dist="38100" dir="2700000" algn="tl">
                    <a:srgbClr val="000000">
                      <a:alpha val="43137"/>
                    </a:srgbClr>
                  </a:outerShdw>
                </a:effectLst>
              </a:rPr>
              <a:t>Passé composé → Plus-que-parfait : </a:t>
            </a:r>
            <a:r>
              <a:rPr lang="fr-FR" dirty="0"/>
              <a:t>« On a expliqué : « L'erreur </a:t>
            </a:r>
            <a:r>
              <a:rPr lang="fr-FR" b="1" dirty="0"/>
              <a:t>est survenue</a:t>
            </a:r>
            <a:r>
              <a:rPr lang="fr-FR" dirty="0"/>
              <a:t> » » → </a:t>
            </a:r>
            <a:r>
              <a:rPr lang="fr-FR" i="1" dirty="0"/>
              <a:t>On a expliqué que l'erreur </a:t>
            </a:r>
            <a:r>
              <a:rPr lang="fr-FR" b="1" i="1" dirty="0"/>
              <a:t>était survenue</a:t>
            </a:r>
            <a:r>
              <a:rPr lang="fr-FR" i="1" dirty="0"/>
              <a:t>.</a:t>
            </a:r>
          </a:p>
          <a:p>
            <a:pPr marL="0" indent="0">
              <a:buNone/>
            </a:pPr>
            <a:r>
              <a:rPr lang="fr-FR" u="sng" dirty="0"/>
              <a:t>La transformation des marqueurs de temps et de lieu</a:t>
            </a:r>
          </a:p>
          <a:p>
            <a:pPr marL="0" indent="0">
              <a:buNone/>
            </a:pPr>
            <a:r>
              <a:rPr lang="fr-FR" dirty="0"/>
              <a:t>La rigueur dans la transposition des indices spatio-temporels est indispensable pour éviter toute confusion dans les rapports de projet.</a:t>
            </a:r>
          </a:p>
          <a:p>
            <a:pPr marL="0" indent="0">
              <a:buNone/>
            </a:pPr>
            <a:r>
              <a:rPr lang="fr-FR" dirty="0">
                <a:effectLst>
                  <a:outerShdw blurRad="38100" dist="38100" dir="2700000" algn="tl">
                    <a:srgbClr val="000000">
                      <a:alpha val="43137"/>
                    </a:srgbClr>
                  </a:outerShdw>
                </a:effectLst>
              </a:rPr>
              <a:t>Aujourd'hui</a:t>
            </a:r>
            <a:r>
              <a:rPr lang="fr-FR" dirty="0"/>
              <a:t> → Ce jour-là</a:t>
            </a:r>
          </a:p>
          <a:p>
            <a:pPr marL="0" indent="0">
              <a:buNone/>
            </a:pPr>
            <a:r>
              <a:rPr lang="fr-FR" dirty="0">
                <a:effectLst>
                  <a:outerShdw blurRad="38100" dist="38100" dir="2700000" algn="tl">
                    <a:srgbClr val="000000">
                      <a:alpha val="43137"/>
                    </a:srgbClr>
                  </a:outerShdw>
                </a:effectLst>
              </a:rPr>
              <a:t>Demain</a:t>
            </a:r>
            <a:r>
              <a:rPr lang="fr-FR" dirty="0"/>
              <a:t> → Le lendemain</a:t>
            </a:r>
          </a:p>
          <a:p>
            <a:pPr marL="0" indent="0">
              <a:buNone/>
            </a:pPr>
            <a:r>
              <a:rPr lang="fr-FR" dirty="0">
                <a:effectLst>
                  <a:outerShdw blurRad="38100" dist="38100" dir="2700000" algn="tl">
                    <a:srgbClr val="000000">
                      <a:alpha val="43137"/>
                    </a:srgbClr>
                  </a:outerShdw>
                </a:effectLst>
              </a:rPr>
              <a:t>Hier</a:t>
            </a:r>
            <a:r>
              <a:rPr lang="fr-FR" dirty="0"/>
              <a:t> → La veille</a:t>
            </a:r>
          </a:p>
          <a:p>
            <a:pPr marL="0" indent="0">
              <a:buNone/>
            </a:pPr>
            <a:r>
              <a:rPr lang="fr-FR" dirty="0">
                <a:effectLst>
                  <a:outerShdw blurRad="38100" dist="38100" dir="2700000" algn="tl">
                    <a:srgbClr val="000000">
                      <a:alpha val="43137"/>
                    </a:srgbClr>
                  </a:outerShdw>
                </a:effectLst>
              </a:rPr>
              <a:t>Ici</a:t>
            </a:r>
            <a:r>
              <a:rPr lang="fr-FR" dirty="0"/>
              <a:t> → Là-bas / À cet endroit</a:t>
            </a:r>
          </a:p>
          <a:p>
            <a:pPr marL="0" indent="0">
              <a:buNone/>
            </a:pPr>
            <a:r>
              <a:rPr lang="fr-FR" i="1" dirty="0"/>
              <a:t>	Exemple :</a:t>
            </a:r>
            <a:r>
              <a:rPr lang="fr-FR" dirty="0"/>
              <a:t> « Il a déclaré hier : « Je viendrai </a:t>
            </a:r>
            <a:r>
              <a:rPr lang="fr-FR" b="1" dirty="0"/>
              <a:t>ici demain</a:t>
            </a:r>
            <a:r>
              <a:rPr lang="fr-FR" dirty="0"/>
              <a:t> » » → </a:t>
            </a:r>
            <a:r>
              <a:rPr lang="fr-FR" i="1" dirty="0"/>
              <a:t>Il a 	déclaré la veille qu'il viendrait </a:t>
            </a:r>
            <a:r>
              <a:rPr lang="fr-FR" b="1" i="1" dirty="0"/>
              <a:t>là-bas le lendemain</a:t>
            </a:r>
            <a:r>
              <a:rPr lang="fr-FR" i="1" dirty="0"/>
              <a:t>.</a:t>
            </a:r>
            <a:endParaRPr lang="fr-FR" dirty="0"/>
          </a:p>
          <a:p>
            <a:pPr marL="0" indent="0">
              <a:buNone/>
            </a:pPr>
            <a:endParaRPr lang="fr-FR" dirty="0"/>
          </a:p>
          <a:p>
            <a:pPr marL="0" indent="0">
              <a:buNone/>
            </a:pPr>
            <a:endParaRPr lang="fr-FR" dirty="0"/>
          </a:p>
        </p:txBody>
      </p:sp>
      <p:sp>
        <p:nvSpPr>
          <p:cNvPr id="2" name="Espace réservé du numéro de diapositive 1">
            <a:extLst>
              <a:ext uri="{FF2B5EF4-FFF2-40B4-BE49-F238E27FC236}">
                <a16:creationId xmlns:a16="http://schemas.microsoft.com/office/drawing/2014/main" id="{366D2F12-1A3C-890C-059A-A3EE06234E6A}"/>
              </a:ext>
            </a:extLst>
          </p:cNvPr>
          <p:cNvSpPr>
            <a:spLocks noGrp="1"/>
          </p:cNvSpPr>
          <p:nvPr>
            <p:ph type="sldNum" sz="quarter" idx="12"/>
          </p:nvPr>
        </p:nvSpPr>
        <p:spPr/>
        <p:txBody>
          <a:bodyPr/>
          <a:lstStyle/>
          <a:p>
            <a:fld id="{49DB4E91-02F2-4120-BFDC-D5317FE06960}" type="slidenum">
              <a:rPr lang="fr-FR" smtClean="0"/>
              <a:t>52</a:t>
            </a:fld>
            <a:endParaRPr lang="fr-FR"/>
          </a:p>
        </p:txBody>
      </p:sp>
    </p:spTree>
    <p:extLst>
      <p:ext uri="{BB962C8B-B14F-4D97-AF65-F5344CB8AC3E}">
        <p14:creationId xmlns:p14="http://schemas.microsoft.com/office/powerpoint/2010/main" val="543662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5ACE7E8-362B-F1DA-953D-88BEC9DB7B27}"/>
              </a:ext>
            </a:extLst>
          </p:cNvPr>
          <p:cNvSpPr>
            <a:spLocks noGrp="1"/>
          </p:cNvSpPr>
          <p:nvPr>
            <p:ph idx="1"/>
          </p:nvPr>
        </p:nvSpPr>
        <p:spPr>
          <a:xfrm>
            <a:off x="838200" y="647114"/>
            <a:ext cx="10515600" cy="5529849"/>
          </a:xfrm>
        </p:spPr>
        <p:txBody>
          <a:bodyPr/>
          <a:lstStyle/>
          <a:p>
            <a:pPr marL="0" indent="0">
              <a:buNone/>
            </a:pPr>
            <a:r>
              <a:rPr lang="fr-FR" u="sng" dirty="0"/>
              <a:t>Les verbes introducteurs : nuancer l’intention</a:t>
            </a:r>
          </a:p>
          <a:p>
            <a:pPr marL="0" indent="0">
              <a:buNone/>
            </a:pPr>
            <a:r>
              <a:rPr lang="fr-FR" dirty="0"/>
              <a:t>Pour un niveau avancé, évitez la répétition du verbe « dire ». Choisissez un verbe qui précise l'</a:t>
            </a:r>
            <a:r>
              <a:rPr lang="fr-FR" b="1" dirty="0"/>
              <a:t>attitude du locuteur</a:t>
            </a:r>
            <a:r>
              <a:rPr lang="fr-FR" dirty="0"/>
              <a:t> :</a:t>
            </a:r>
          </a:p>
          <a:p>
            <a:pPr marL="0" indent="0">
              <a:buNone/>
            </a:pPr>
            <a:r>
              <a:rPr lang="fr-FR" dirty="0">
                <a:effectLst>
                  <a:outerShdw blurRad="38100" dist="38100" dir="2700000" algn="tl">
                    <a:srgbClr val="000000">
                      <a:alpha val="43137"/>
                    </a:srgbClr>
                  </a:outerShdw>
                </a:effectLst>
              </a:rPr>
              <a:t>Pour une certitude : </a:t>
            </a:r>
            <a:r>
              <a:rPr lang="fr-FR" dirty="0"/>
              <a:t>Affirmer, soutenir, certifier, assurer.</a:t>
            </a:r>
          </a:p>
          <a:p>
            <a:pPr marL="0" indent="0">
              <a:buNone/>
            </a:pPr>
            <a:r>
              <a:rPr lang="fr-FR" dirty="0">
                <a:effectLst>
                  <a:outerShdw blurRad="38100" dist="38100" dir="2700000" algn="tl">
                    <a:srgbClr val="000000">
                      <a:alpha val="43137"/>
                    </a:srgbClr>
                  </a:outerShdw>
                </a:effectLst>
              </a:rPr>
              <a:t>Pour une interrogation : </a:t>
            </a:r>
            <a:r>
              <a:rPr lang="fr-FR" dirty="0"/>
              <a:t>S'enquérir de, se demander, solliciter.</a:t>
            </a:r>
          </a:p>
          <a:p>
            <a:pPr marL="0" indent="0">
              <a:buNone/>
            </a:pPr>
            <a:r>
              <a:rPr lang="fr-FR" dirty="0">
                <a:effectLst>
                  <a:outerShdw blurRad="38100" dist="38100" dir="2700000" algn="tl">
                    <a:srgbClr val="000000">
                      <a:alpha val="43137"/>
                    </a:srgbClr>
                  </a:outerShdw>
                </a:effectLst>
              </a:rPr>
              <a:t>Pour une explication technique : </a:t>
            </a:r>
            <a:r>
              <a:rPr lang="fr-FR" dirty="0"/>
              <a:t>Démontrer, expliciter, préciser, souligner.</a:t>
            </a:r>
          </a:p>
          <a:p>
            <a:pPr marL="0" indent="0">
              <a:buNone/>
            </a:pPr>
            <a:r>
              <a:rPr lang="fr-FR" dirty="0">
                <a:effectLst>
                  <a:outerShdw blurRad="38100" dist="38100" dir="2700000" algn="tl">
                    <a:srgbClr val="000000">
                      <a:alpha val="43137"/>
                    </a:srgbClr>
                  </a:outerShdw>
                </a:effectLst>
              </a:rPr>
              <a:t>Pour une concession ou une hésitation : </a:t>
            </a:r>
            <a:r>
              <a:rPr lang="fr-FR" dirty="0"/>
              <a:t>Admettre, concéder, suggérer</a:t>
            </a:r>
            <a:r>
              <a:rPr lang="fr-FR" i="1" dirty="0"/>
              <a:t>.</a:t>
            </a:r>
          </a:p>
          <a:p>
            <a:pPr marL="0" indent="0">
              <a:buNone/>
            </a:pPr>
            <a:endParaRPr lang="fr-FR" dirty="0"/>
          </a:p>
          <a:p>
            <a:pPr marL="0" indent="0">
              <a:buNone/>
            </a:pPr>
            <a:endParaRPr lang="fr-FR" dirty="0"/>
          </a:p>
        </p:txBody>
      </p:sp>
      <p:sp>
        <p:nvSpPr>
          <p:cNvPr id="2" name="Espace réservé du numéro de diapositive 1">
            <a:extLst>
              <a:ext uri="{FF2B5EF4-FFF2-40B4-BE49-F238E27FC236}">
                <a16:creationId xmlns:a16="http://schemas.microsoft.com/office/drawing/2014/main" id="{70EA6FCC-0BA0-09C2-D419-835FE8AD3D13}"/>
              </a:ext>
            </a:extLst>
          </p:cNvPr>
          <p:cNvSpPr>
            <a:spLocks noGrp="1"/>
          </p:cNvSpPr>
          <p:nvPr>
            <p:ph type="sldNum" sz="quarter" idx="12"/>
          </p:nvPr>
        </p:nvSpPr>
        <p:spPr/>
        <p:txBody>
          <a:bodyPr/>
          <a:lstStyle/>
          <a:p>
            <a:fld id="{49DB4E91-02F2-4120-BFDC-D5317FE06960}" type="slidenum">
              <a:rPr lang="fr-FR" smtClean="0"/>
              <a:t>53</a:t>
            </a:fld>
            <a:endParaRPr lang="fr-FR"/>
          </a:p>
        </p:txBody>
      </p:sp>
    </p:spTree>
    <p:extLst>
      <p:ext uri="{BB962C8B-B14F-4D97-AF65-F5344CB8AC3E}">
        <p14:creationId xmlns:p14="http://schemas.microsoft.com/office/powerpoint/2010/main" val="22723890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B8FEB39-4E3E-8F7F-E57D-EE6D36678664}"/>
              </a:ext>
            </a:extLst>
          </p:cNvPr>
          <p:cNvSpPr>
            <a:spLocks noGrp="1"/>
          </p:cNvSpPr>
          <p:nvPr>
            <p:ph idx="1"/>
          </p:nvPr>
        </p:nvSpPr>
        <p:spPr>
          <a:xfrm>
            <a:off x="838200" y="745587"/>
            <a:ext cx="10515600" cy="5431375"/>
          </a:xfrm>
        </p:spPr>
        <p:txBody>
          <a:bodyPr>
            <a:normAutofit fontScale="92500" lnSpcReduction="20000"/>
          </a:bodyPr>
          <a:lstStyle/>
          <a:p>
            <a:pPr marL="1028700" lvl="1" indent="-571500">
              <a:buFont typeface="+mj-lt"/>
              <a:buAutoNum type="romanLcPeriod" startAt="19"/>
            </a:pPr>
            <a:r>
              <a:rPr lang="fr-FR" sz="3000" dirty="0"/>
              <a:t>Exposer ses convictions sur le choix d’une langue comme langue d’écriture</a:t>
            </a:r>
          </a:p>
          <a:p>
            <a:pPr marL="0" indent="0">
              <a:buNone/>
            </a:pPr>
            <a:r>
              <a:rPr lang="fr-FR" b="1" dirty="0"/>
              <a:t>L'acte de choisir une langue d'écriture </a:t>
            </a:r>
            <a:r>
              <a:rPr lang="fr-FR" dirty="0"/>
              <a:t>dépasse la simple communication pour devenir </a:t>
            </a:r>
            <a:r>
              <a:rPr lang="fr-FR" b="1" dirty="0"/>
              <a:t>un geste politique</a:t>
            </a:r>
            <a:r>
              <a:rPr lang="fr-FR" dirty="0"/>
              <a:t>, </a:t>
            </a:r>
            <a:r>
              <a:rPr lang="fr-FR" b="1" dirty="0"/>
              <a:t>identitaire</a:t>
            </a:r>
            <a:r>
              <a:rPr lang="fr-FR" dirty="0"/>
              <a:t> et </a:t>
            </a:r>
            <a:r>
              <a:rPr lang="fr-FR" b="1" dirty="0"/>
              <a:t>esthétique</a:t>
            </a:r>
            <a:r>
              <a:rPr lang="fr-FR" dirty="0"/>
              <a:t>. Cette réflexion interroge le rapport entre l'</a:t>
            </a:r>
            <a:r>
              <a:rPr lang="fr-FR" b="1" dirty="0"/>
              <a:t>universalité technique</a:t>
            </a:r>
            <a:r>
              <a:rPr lang="fr-FR" dirty="0"/>
              <a:t> et la </a:t>
            </a:r>
            <a:r>
              <a:rPr lang="fr-FR" b="1" dirty="0"/>
              <a:t>singularité culturelle</a:t>
            </a:r>
            <a:r>
              <a:rPr lang="fr-FR" dirty="0"/>
              <a:t>.</a:t>
            </a:r>
          </a:p>
          <a:p>
            <a:pPr marL="0" indent="0">
              <a:buNone/>
            </a:pPr>
            <a:r>
              <a:rPr lang="fr-FR" u="sng" dirty="0"/>
              <a:t>La langue comme héritage et territoire intime</a:t>
            </a:r>
          </a:p>
          <a:p>
            <a:pPr marL="0" indent="0">
              <a:buNone/>
            </a:pPr>
            <a:r>
              <a:rPr lang="fr-FR" dirty="0"/>
              <a:t>Écrire dans sa langue maternelle est souvent perçu comme le choix de l'authenticité absolue.</a:t>
            </a:r>
          </a:p>
          <a:p>
            <a:pPr marL="0" indent="0">
              <a:buNone/>
            </a:pPr>
            <a:r>
              <a:rPr lang="fr-FR" dirty="0">
                <a:effectLst>
                  <a:outerShdw blurRad="38100" dist="38100" dir="2700000" algn="tl">
                    <a:srgbClr val="000000">
                      <a:alpha val="43137"/>
                    </a:srgbClr>
                  </a:outerShdw>
                </a:effectLst>
              </a:rPr>
              <a:t>La langue-refuge : </a:t>
            </a:r>
            <a:r>
              <a:rPr lang="fr-FR" dirty="0"/>
              <a:t>Elle permet d'exprimer des nuances émotionnelles et des réalités socioculturelles qu'aucune traduction ne peut totalement restituer.</a:t>
            </a:r>
          </a:p>
          <a:p>
            <a:pPr marL="0" indent="0">
              <a:buNone/>
            </a:pPr>
            <a:r>
              <a:rPr lang="fr-FR" dirty="0">
                <a:effectLst>
                  <a:outerShdw blurRad="38100" dist="38100" dir="2700000" algn="tl">
                    <a:srgbClr val="000000">
                      <a:alpha val="43137"/>
                    </a:srgbClr>
                  </a:outerShdw>
                </a:effectLst>
              </a:rPr>
              <a:t>La résistance culturelle : </a:t>
            </a:r>
            <a:r>
              <a:rPr lang="fr-FR" dirty="0"/>
              <a:t>Face à l'hégémonie de l'anglais globalisé, choisir d'écrire en français ou en arabe devient un acte de </a:t>
            </a:r>
            <a:r>
              <a:rPr lang="fr-FR" b="1" dirty="0"/>
              <a:t>préservation de la diversité</a:t>
            </a:r>
            <a:r>
              <a:rPr lang="fr-FR" dirty="0"/>
              <a:t> intellectuelle.</a:t>
            </a:r>
          </a:p>
          <a:p>
            <a:pPr marL="457200" lvl="1" indent="0">
              <a:buNone/>
            </a:pPr>
            <a:r>
              <a:rPr lang="fr-FR" i="1" dirty="0"/>
              <a:t>Conviction :</a:t>
            </a:r>
            <a:r>
              <a:rPr lang="fr-FR" dirty="0"/>
              <a:t> « Écrire dans sa langue d'origine, c'est refuser l'uniformisation du monde et cultiver son propre </a:t>
            </a:r>
            <a:r>
              <a:rPr lang="fr-FR" b="1" dirty="0"/>
              <a:t>imaginaire linguistique</a:t>
            </a:r>
            <a:r>
              <a:rPr lang="fr-FR" dirty="0"/>
              <a:t> ». </a:t>
            </a:r>
          </a:p>
          <a:p>
            <a:pPr marL="0" indent="0">
              <a:buNone/>
            </a:pPr>
            <a:endParaRPr lang="fr-FR" b="1" dirty="0"/>
          </a:p>
        </p:txBody>
      </p:sp>
      <p:sp>
        <p:nvSpPr>
          <p:cNvPr id="2" name="Espace réservé du numéro de diapositive 1">
            <a:extLst>
              <a:ext uri="{FF2B5EF4-FFF2-40B4-BE49-F238E27FC236}">
                <a16:creationId xmlns:a16="http://schemas.microsoft.com/office/drawing/2014/main" id="{FAB6493B-5256-6C78-46B0-DFEB7ECCEC56}"/>
              </a:ext>
            </a:extLst>
          </p:cNvPr>
          <p:cNvSpPr>
            <a:spLocks noGrp="1"/>
          </p:cNvSpPr>
          <p:nvPr>
            <p:ph type="sldNum" sz="quarter" idx="12"/>
          </p:nvPr>
        </p:nvSpPr>
        <p:spPr/>
        <p:txBody>
          <a:bodyPr/>
          <a:lstStyle/>
          <a:p>
            <a:fld id="{49DB4E91-02F2-4120-BFDC-D5317FE06960}" type="slidenum">
              <a:rPr lang="fr-FR" smtClean="0"/>
              <a:t>54</a:t>
            </a:fld>
            <a:endParaRPr lang="fr-FR"/>
          </a:p>
        </p:txBody>
      </p:sp>
    </p:spTree>
    <p:extLst>
      <p:ext uri="{BB962C8B-B14F-4D97-AF65-F5344CB8AC3E}">
        <p14:creationId xmlns:p14="http://schemas.microsoft.com/office/powerpoint/2010/main" val="20347274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85A728C-49B8-5BB4-E7A4-035457AA56A8}"/>
              </a:ext>
            </a:extLst>
          </p:cNvPr>
          <p:cNvSpPr>
            <a:spLocks noGrp="1"/>
          </p:cNvSpPr>
          <p:nvPr>
            <p:ph idx="1"/>
          </p:nvPr>
        </p:nvSpPr>
        <p:spPr>
          <a:xfrm>
            <a:off x="838200" y="858129"/>
            <a:ext cx="10515600" cy="5318834"/>
          </a:xfrm>
        </p:spPr>
        <p:txBody>
          <a:bodyPr/>
          <a:lstStyle/>
          <a:p>
            <a:pPr marL="0" indent="0">
              <a:buNone/>
            </a:pPr>
            <a:r>
              <a:rPr lang="fr-FR" u="sng" dirty="0"/>
              <a:t>Le choix de l’altérité : l’écriture en langue « étrangère »</a:t>
            </a:r>
          </a:p>
          <a:p>
            <a:pPr marL="0" indent="0">
              <a:buNone/>
            </a:pPr>
            <a:r>
              <a:rPr lang="fr-FR" dirty="0"/>
              <a:t>De nombreux auteurs (comme Samuel Beckett-irlandais ou Milan Kundera-tchèque) ont choisi d'écrire dans une langue apprise.</a:t>
            </a:r>
          </a:p>
          <a:p>
            <a:pPr marL="0" indent="0">
              <a:buNone/>
            </a:pPr>
            <a:r>
              <a:rPr lang="fr-FR" dirty="0">
                <a:effectLst>
                  <a:outerShdw blurRad="38100" dist="38100" dir="2700000" algn="tl">
                    <a:srgbClr val="000000">
                      <a:alpha val="43137"/>
                    </a:srgbClr>
                  </a:outerShdw>
                </a:effectLst>
              </a:rPr>
              <a:t>La quête de neutralité : </a:t>
            </a:r>
            <a:r>
              <a:rPr lang="fr-FR" dirty="0"/>
              <a:t>La langue d'adoption offre une certaine distance. Elle permet une </a:t>
            </a:r>
            <a:r>
              <a:rPr lang="fr-FR" b="1" dirty="0"/>
              <a:t>épuration du style</a:t>
            </a:r>
            <a:r>
              <a:rPr lang="fr-FR" dirty="0"/>
              <a:t>, car l'écrivain n'est pas encombré par les automatismes de sa langue maternelle.</a:t>
            </a:r>
          </a:p>
          <a:p>
            <a:pPr marL="0" indent="0">
              <a:buNone/>
            </a:pPr>
            <a:r>
              <a:rPr lang="fr-FR" dirty="0">
                <a:effectLst>
                  <a:outerShdw blurRad="38100" dist="38100" dir="2700000" algn="tl">
                    <a:srgbClr val="000000">
                      <a:alpha val="43137"/>
                    </a:srgbClr>
                  </a:outerShdw>
                </a:effectLst>
              </a:rPr>
              <a:t>L'hospitalité linguistique : </a:t>
            </a:r>
            <a:r>
              <a:rPr lang="fr-FR" dirty="0"/>
              <a:t>Choisir la langue de l'autre est une démarche vers l'universel. C'est aussi un moyen de s'adresser à un public plus large sans pour autant renier ses racines.</a:t>
            </a:r>
          </a:p>
          <a:p>
            <a:pPr marL="457200" lvl="1" indent="0">
              <a:buNone/>
            </a:pPr>
            <a:r>
              <a:rPr lang="fr-FR" i="1" dirty="0"/>
              <a:t>Expression :</a:t>
            </a:r>
            <a:r>
              <a:rPr lang="fr-FR" dirty="0"/>
              <a:t> « Habiter une autre langue, c'est s'offrir une </a:t>
            </a:r>
            <a:r>
              <a:rPr lang="fr-FR" b="1" dirty="0"/>
              <a:t>seconde naissance</a:t>
            </a:r>
            <a:r>
              <a:rPr lang="fr-FR" dirty="0"/>
              <a:t> intellectuelle et explorer de nouvelles structures de pensée ». </a:t>
            </a:r>
          </a:p>
          <a:p>
            <a:pPr marL="0" indent="0">
              <a:buNone/>
            </a:pPr>
            <a:endParaRPr lang="fr-FR" dirty="0"/>
          </a:p>
        </p:txBody>
      </p:sp>
      <p:sp>
        <p:nvSpPr>
          <p:cNvPr id="2" name="Espace réservé du numéro de diapositive 1">
            <a:extLst>
              <a:ext uri="{FF2B5EF4-FFF2-40B4-BE49-F238E27FC236}">
                <a16:creationId xmlns:a16="http://schemas.microsoft.com/office/drawing/2014/main" id="{4B90C9CC-74EF-83C6-A8AF-C48B9597D007}"/>
              </a:ext>
            </a:extLst>
          </p:cNvPr>
          <p:cNvSpPr>
            <a:spLocks noGrp="1"/>
          </p:cNvSpPr>
          <p:nvPr>
            <p:ph type="sldNum" sz="quarter" idx="12"/>
          </p:nvPr>
        </p:nvSpPr>
        <p:spPr/>
        <p:txBody>
          <a:bodyPr/>
          <a:lstStyle/>
          <a:p>
            <a:fld id="{49DB4E91-02F2-4120-BFDC-D5317FE06960}" type="slidenum">
              <a:rPr lang="fr-FR" smtClean="0"/>
              <a:t>55</a:t>
            </a:fld>
            <a:endParaRPr lang="fr-FR"/>
          </a:p>
        </p:txBody>
      </p:sp>
    </p:spTree>
    <p:extLst>
      <p:ext uri="{BB962C8B-B14F-4D97-AF65-F5344CB8AC3E}">
        <p14:creationId xmlns:p14="http://schemas.microsoft.com/office/powerpoint/2010/main" val="2566919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C38FAC5-9B37-CEC4-8D52-40EB65833CE3}"/>
              </a:ext>
            </a:extLst>
          </p:cNvPr>
          <p:cNvSpPr>
            <a:spLocks noGrp="1"/>
          </p:cNvSpPr>
          <p:nvPr>
            <p:ph idx="1"/>
          </p:nvPr>
        </p:nvSpPr>
        <p:spPr>
          <a:xfrm>
            <a:off x="838200" y="647114"/>
            <a:ext cx="10515600" cy="5529849"/>
          </a:xfrm>
        </p:spPr>
        <p:txBody>
          <a:bodyPr/>
          <a:lstStyle/>
          <a:p>
            <a:pPr marL="0" indent="0">
              <a:buNone/>
            </a:pPr>
            <a:r>
              <a:rPr lang="fr-FR" u="sng" dirty="0"/>
              <a:t>Lexique </a:t>
            </a:r>
          </a:p>
          <a:p>
            <a:pPr marL="0" indent="0">
              <a:buNone/>
            </a:pPr>
            <a:r>
              <a:rPr lang="fr-FR" dirty="0"/>
              <a:t>Pour structurer votre exposé ou votre essai, mobilisez ces concepts de haut niveau :</a:t>
            </a:r>
          </a:p>
          <a:p>
            <a:pPr marL="0" indent="0">
              <a:buNone/>
            </a:pPr>
            <a:r>
              <a:rPr lang="fr-FR" dirty="0">
                <a:effectLst>
                  <a:outerShdw blurRad="38100" dist="38100" dir="2700000" algn="tl">
                    <a:srgbClr val="000000">
                      <a:alpha val="43137"/>
                    </a:srgbClr>
                  </a:outerShdw>
                </a:effectLst>
              </a:rPr>
              <a:t>L'insécurité linguistique : </a:t>
            </a:r>
            <a:r>
              <a:rPr lang="fr-FR" dirty="0"/>
              <a:t>Sentiment de ne pas maîtriser assez les codes d'une langue pour y être légitime.</a:t>
            </a:r>
          </a:p>
          <a:p>
            <a:pPr marL="0" indent="0">
              <a:buNone/>
            </a:pPr>
            <a:r>
              <a:rPr lang="fr-FR" dirty="0">
                <a:effectLst>
                  <a:outerShdw blurRad="38100" dist="38100" dir="2700000" algn="tl">
                    <a:srgbClr val="000000">
                      <a:alpha val="43137"/>
                    </a:srgbClr>
                  </a:outerShdw>
                </a:effectLst>
              </a:rPr>
              <a:t>L'interculturalité : </a:t>
            </a:r>
            <a:r>
              <a:rPr lang="fr-FR" dirty="0"/>
              <a:t>Le dialogue qui se crée entre la pensée de l'auteur et les structures de la langue d'accueil.</a:t>
            </a:r>
          </a:p>
          <a:p>
            <a:pPr marL="0" indent="0">
              <a:buNone/>
            </a:pPr>
            <a:r>
              <a:rPr lang="fr-FR" dirty="0">
                <a:effectLst>
                  <a:outerShdw blurRad="38100" dist="38100" dir="2700000" algn="tl">
                    <a:srgbClr val="000000">
                      <a:alpha val="43137"/>
                    </a:srgbClr>
                  </a:outerShdw>
                </a:effectLst>
              </a:rPr>
              <a:t>La</a:t>
            </a:r>
            <a:r>
              <a:rPr lang="fr-FR" b="1" dirty="0"/>
              <a:t> </a:t>
            </a:r>
            <a:r>
              <a:rPr lang="fr-FR" dirty="0">
                <a:effectLst>
                  <a:outerShdw blurRad="38100" dist="38100" dir="2700000" algn="tl">
                    <a:srgbClr val="000000">
                      <a:alpha val="43137"/>
                    </a:srgbClr>
                  </a:outerShdw>
                </a:effectLst>
              </a:rPr>
              <a:t>diglossie : </a:t>
            </a:r>
            <a:r>
              <a:rPr lang="fr-FR" dirty="0"/>
              <a:t>Situation où deux langues coexistent, l'une ayant souvent un statut social plus élevé.</a:t>
            </a:r>
          </a:p>
          <a:p>
            <a:pPr marL="0" indent="0">
              <a:buNone/>
            </a:pPr>
            <a:r>
              <a:rPr lang="fr-FR" dirty="0">
                <a:effectLst>
                  <a:outerShdw blurRad="38100" dist="38100" dir="2700000" algn="tl">
                    <a:srgbClr val="000000">
                      <a:alpha val="43137"/>
                    </a:srgbClr>
                  </a:outerShdw>
                </a:effectLst>
              </a:rPr>
              <a:t>L'émancipation : </a:t>
            </a:r>
            <a:r>
              <a:rPr lang="fr-FR" dirty="0"/>
              <a:t>Utiliser la langue de l'autre pour s'en approprier les codes et les </a:t>
            </a:r>
            <a:r>
              <a:rPr lang="fr-FR" b="1" dirty="0"/>
              <a:t>subvertir</a:t>
            </a:r>
            <a:r>
              <a:rPr lang="fr-FR" dirty="0"/>
              <a:t>. </a:t>
            </a:r>
          </a:p>
          <a:p>
            <a:pPr marL="0" indent="0">
              <a:buNone/>
            </a:pPr>
            <a:endParaRPr lang="fr-FR" dirty="0"/>
          </a:p>
        </p:txBody>
      </p:sp>
      <p:sp>
        <p:nvSpPr>
          <p:cNvPr id="2" name="Espace réservé du numéro de diapositive 1">
            <a:extLst>
              <a:ext uri="{FF2B5EF4-FFF2-40B4-BE49-F238E27FC236}">
                <a16:creationId xmlns:a16="http://schemas.microsoft.com/office/drawing/2014/main" id="{848341E3-29DE-38B9-8790-83E69F1F022C}"/>
              </a:ext>
            </a:extLst>
          </p:cNvPr>
          <p:cNvSpPr>
            <a:spLocks noGrp="1"/>
          </p:cNvSpPr>
          <p:nvPr>
            <p:ph type="sldNum" sz="quarter" idx="12"/>
          </p:nvPr>
        </p:nvSpPr>
        <p:spPr/>
        <p:txBody>
          <a:bodyPr/>
          <a:lstStyle/>
          <a:p>
            <a:fld id="{49DB4E91-02F2-4120-BFDC-D5317FE06960}" type="slidenum">
              <a:rPr lang="fr-FR" smtClean="0"/>
              <a:t>56</a:t>
            </a:fld>
            <a:endParaRPr lang="fr-FR"/>
          </a:p>
        </p:txBody>
      </p:sp>
    </p:spTree>
    <p:extLst>
      <p:ext uri="{BB962C8B-B14F-4D97-AF65-F5344CB8AC3E}">
        <p14:creationId xmlns:p14="http://schemas.microsoft.com/office/powerpoint/2010/main" val="31038103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4F7CAA5-0B94-9F3A-3BC8-95E337C7DC60}"/>
              </a:ext>
            </a:extLst>
          </p:cNvPr>
          <p:cNvSpPr>
            <a:spLocks noGrp="1"/>
          </p:cNvSpPr>
          <p:nvPr>
            <p:ph idx="1"/>
          </p:nvPr>
        </p:nvSpPr>
        <p:spPr>
          <a:xfrm>
            <a:off x="838200" y="618978"/>
            <a:ext cx="10515600" cy="5557985"/>
          </a:xfrm>
        </p:spPr>
        <p:txBody>
          <a:bodyPr>
            <a:normAutofit lnSpcReduction="10000"/>
          </a:bodyPr>
          <a:lstStyle/>
          <a:p>
            <a:pPr marL="1028700" lvl="1" indent="-571500">
              <a:buFont typeface="+mj-lt"/>
              <a:buAutoNum type="romanLcPeriod" startAt="20"/>
            </a:pPr>
            <a:r>
              <a:rPr lang="fr-FR" sz="3000" dirty="0"/>
              <a:t>Argumenter sur l’importance d’apprendre des langues étrangères</a:t>
            </a:r>
          </a:p>
          <a:p>
            <a:pPr marL="0" indent="0">
              <a:buNone/>
            </a:pPr>
            <a:r>
              <a:rPr lang="fr-FR" b="1" dirty="0"/>
              <a:t>L'apprentissage des langues </a:t>
            </a:r>
            <a:r>
              <a:rPr lang="fr-FR" dirty="0"/>
              <a:t>ne relève plus seulement d'une curiosité intellectuelle, mais constitue </a:t>
            </a:r>
            <a:r>
              <a:rPr lang="fr-FR" b="1" dirty="0"/>
              <a:t>un impératif stratégique dans le domaine professionnel</a:t>
            </a:r>
            <a:r>
              <a:rPr lang="fr-FR" dirty="0"/>
              <a:t>. Dans un monde hyperconnecté où l'intelligence artificielle assure la traduction instantanée, </a:t>
            </a:r>
            <a:r>
              <a:rPr lang="fr-FR" b="1" dirty="0"/>
              <a:t>l'argumentation</a:t>
            </a:r>
            <a:r>
              <a:rPr lang="fr-FR" dirty="0"/>
              <a:t> doit se déplacer vers </a:t>
            </a:r>
            <a:r>
              <a:rPr lang="fr-FR" b="1" dirty="0"/>
              <a:t>la</a:t>
            </a:r>
            <a:r>
              <a:rPr lang="fr-FR" dirty="0"/>
              <a:t> </a:t>
            </a:r>
            <a:r>
              <a:rPr lang="fr-FR" b="1" dirty="0">
                <a:effectLst/>
              </a:rPr>
              <a:t>valeur ajoutée humaine</a:t>
            </a:r>
            <a:r>
              <a:rPr lang="fr-FR" dirty="0"/>
              <a:t> et </a:t>
            </a:r>
            <a:r>
              <a:rPr lang="fr-FR" b="1" dirty="0"/>
              <a:t>la</a:t>
            </a:r>
            <a:r>
              <a:rPr lang="fr-FR" dirty="0"/>
              <a:t> </a:t>
            </a:r>
            <a:r>
              <a:rPr lang="fr-FR" b="1" dirty="0">
                <a:effectLst/>
              </a:rPr>
              <a:t>maîtrise culturelle</a:t>
            </a:r>
            <a:r>
              <a:rPr lang="fr-FR" dirty="0"/>
              <a:t>.</a:t>
            </a:r>
          </a:p>
          <a:p>
            <a:pPr marL="0" indent="0">
              <a:buNone/>
            </a:pPr>
            <a:r>
              <a:rPr lang="fr-FR" u="sng" dirty="0"/>
              <a:t>Un levier de performance cognitive et professionnelle</a:t>
            </a:r>
          </a:p>
          <a:p>
            <a:pPr marL="0" indent="0">
              <a:buNone/>
            </a:pPr>
            <a:r>
              <a:rPr lang="fr-FR" dirty="0"/>
              <a:t>L'apprentissage d'une langue étrangère modifie structurellement la manière dont le cerveau traite l'information.</a:t>
            </a:r>
          </a:p>
          <a:p>
            <a:pPr marL="0" indent="0">
              <a:buNone/>
            </a:pPr>
            <a:r>
              <a:rPr lang="fr-FR" dirty="0">
                <a:effectLst>
                  <a:outerShdw blurRad="38100" dist="38100" dir="2700000" algn="tl">
                    <a:srgbClr val="000000">
                      <a:alpha val="43137"/>
                    </a:srgbClr>
                  </a:outerShdw>
                </a:effectLst>
              </a:rPr>
              <a:t>Le développement de l'agilité mentale : </a:t>
            </a:r>
            <a:r>
              <a:rPr lang="fr-FR" dirty="0"/>
              <a:t>Passer d'un système linguistique à un autre renforce la </a:t>
            </a:r>
            <a:r>
              <a:rPr lang="fr-FR" b="1" dirty="0"/>
              <a:t>plasticité cérébrale</a:t>
            </a:r>
            <a:r>
              <a:rPr lang="fr-FR" dirty="0"/>
              <a:t>, améliorant la capacité de résolution de problèmes complexes, une compétence clé en ingénierie.</a:t>
            </a:r>
          </a:p>
        </p:txBody>
      </p:sp>
      <p:sp>
        <p:nvSpPr>
          <p:cNvPr id="2" name="Espace réservé du numéro de diapositive 1">
            <a:extLst>
              <a:ext uri="{FF2B5EF4-FFF2-40B4-BE49-F238E27FC236}">
                <a16:creationId xmlns:a16="http://schemas.microsoft.com/office/drawing/2014/main" id="{0328C99D-7FE3-47F4-22AF-8646F60823BD}"/>
              </a:ext>
            </a:extLst>
          </p:cNvPr>
          <p:cNvSpPr>
            <a:spLocks noGrp="1"/>
          </p:cNvSpPr>
          <p:nvPr>
            <p:ph type="sldNum" sz="quarter" idx="12"/>
          </p:nvPr>
        </p:nvSpPr>
        <p:spPr/>
        <p:txBody>
          <a:bodyPr/>
          <a:lstStyle/>
          <a:p>
            <a:fld id="{49DB4E91-02F2-4120-BFDC-D5317FE06960}" type="slidenum">
              <a:rPr lang="fr-FR" smtClean="0"/>
              <a:t>57</a:t>
            </a:fld>
            <a:endParaRPr lang="fr-FR"/>
          </a:p>
        </p:txBody>
      </p:sp>
    </p:spTree>
    <p:extLst>
      <p:ext uri="{BB962C8B-B14F-4D97-AF65-F5344CB8AC3E}">
        <p14:creationId xmlns:p14="http://schemas.microsoft.com/office/powerpoint/2010/main" val="29043873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B7E73C3-103F-C425-5608-728EF3D21A30}"/>
              </a:ext>
            </a:extLst>
          </p:cNvPr>
          <p:cNvSpPr>
            <a:spLocks noGrp="1"/>
          </p:cNvSpPr>
          <p:nvPr>
            <p:ph idx="1"/>
          </p:nvPr>
        </p:nvSpPr>
        <p:spPr>
          <a:xfrm>
            <a:off x="838200" y="773723"/>
            <a:ext cx="10515600" cy="5403240"/>
          </a:xfrm>
        </p:spPr>
        <p:txBody>
          <a:bodyPr>
            <a:normAutofit lnSpcReduction="10000"/>
          </a:bodyPr>
          <a:lstStyle/>
          <a:p>
            <a:pPr marL="0" indent="0">
              <a:buNone/>
            </a:pPr>
            <a:r>
              <a:rPr lang="fr-FR" dirty="0">
                <a:effectLst>
                  <a:outerShdw blurRad="38100" dist="38100" dir="2700000" algn="tl">
                    <a:srgbClr val="000000">
                      <a:alpha val="43137"/>
                    </a:srgbClr>
                  </a:outerShdw>
                </a:effectLst>
              </a:rPr>
              <a:t>L'accès direct aux sources : </a:t>
            </a:r>
            <a:r>
              <a:rPr lang="fr-FR" dirty="0"/>
              <a:t>Malgré les progrès des traducteurs automatiques, maîtriser une langue permet d'accéder à la </a:t>
            </a:r>
            <a:r>
              <a:rPr lang="fr-FR" b="1" dirty="0"/>
              <a:t>littérature grise</a:t>
            </a:r>
            <a:r>
              <a:rPr lang="fr-FR" dirty="0"/>
              <a:t> (rapports non publiés, discussions d'experts) sans le filtre ou les erreurs d'une IA.</a:t>
            </a:r>
          </a:p>
          <a:p>
            <a:pPr marL="0" indent="0">
              <a:buNone/>
            </a:pPr>
            <a:r>
              <a:rPr lang="fr-FR" dirty="0">
                <a:effectLst>
                  <a:outerShdw blurRad="38100" dist="38100" dir="2700000" algn="tl">
                    <a:srgbClr val="000000">
                      <a:alpha val="43137"/>
                    </a:srgbClr>
                  </a:outerShdw>
                </a:effectLst>
              </a:rPr>
              <a:t>L'avantage compétitif : </a:t>
            </a:r>
            <a:r>
              <a:rPr lang="fr-FR" dirty="0"/>
              <a:t>Aujourd’hui, sur le marché du travail, la maîtrise des langues est un marqueur de </a:t>
            </a:r>
            <a:r>
              <a:rPr lang="fr-FR" b="1" dirty="0"/>
              <a:t>discipline personnelle</a:t>
            </a:r>
            <a:r>
              <a:rPr lang="fr-FR" dirty="0"/>
              <a:t> et de capacité d'apprentissage continu.</a:t>
            </a:r>
          </a:p>
          <a:p>
            <a:pPr marL="0" indent="0">
              <a:buNone/>
            </a:pPr>
            <a:r>
              <a:rPr lang="fr-FR" u="sng" dirty="0"/>
              <a:t>Lexique </a:t>
            </a:r>
          </a:p>
          <a:p>
            <a:pPr marL="0" indent="0">
              <a:buNone/>
            </a:pPr>
            <a:r>
              <a:rPr lang="fr-FR" dirty="0"/>
              <a:t>Pour structurer vos interventions en colles ou en synthèses, mobilisez ces concepts :</a:t>
            </a:r>
          </a:p>
          <a:p>
            <a:pPr marL="0" indent="0">
              <a:buNone/>
            </a:pPr>
            <a:r>
              <a:rPr lang="fr-FR" dirty="0">
                <a:effectLst>
                  <a:outerShdw blurRad="38100" dist="38100" dir="2700000" algn="tl">
                    <a:srgbClr val="000000">
                      <a:alpha val="43137"/>
                    </a:srgbClr>
                  </a:outerShdw>
                </a:effectLst>
              </a:rPr>
              <a:t>Le plurilinguisme : </a:t>
            </a:r>
            <a:r>
              <a:rPr lang="fr-FR" dirty="0"/>
              <a:t>Capacité d'un individu à utiliser plusieurs langues, contrairement au multilinguisme (coexistence de langues dans une société).</a:t>
            </a:r>
          </a:p>
          <a:p>
            <a:pPr marL="0" indent="0">
              <a:buNone/>
            </a:pPr>
            <a:endParaRPr lang="fr-FR" dirty="0"/>
          </a:p>
          <a:p>
            <a:pPr marL="0" indent="0">
              <a:buNone/>
            </a:pPr>
            <a:endParaRPr lang="fr-FR" dirty="0"/>
          </a:p>
        </p:txBody>
      </p:sp>
      <p:sp>
        <p:nvSpPr>
          <p:cNvPr id="2" name="Espace réservé du numéro de diapositive 1">
            <a:extLst>
              <a:ext uri="{FF2B5EF4-FFF2-40B4-BE49-F238E27FC236}">
                <a16:creationId xmlns:a16="http://schemas.microsoft.com/office/drawing/2014/main" id="{F9A87AFA-52A6-65E8-43AB-C0DDEA383B9D}"/>
              </a:ext>
            </a:extLst>
          </p:cNvPr>
          <p:cNvSpPr>
            <a:spLocks noGrp="1"/>
          </p:cNvSpPr>
          <p:nvPr>
            <p:ph type="sldNum" sz="quarter" idx="12"/>
          </p:nvPr>
        </p:nvSpPr>
        <p:spPr/>
        <p:txBody>
          <a:bodyPr/>
          <a:lstStyle/>
          <a:p>
            <a:fld id="{49DB4E91-02F2-4120-BFDC-D5317FE06960}" type="slidenum">
              <a:rPr lang="fr-FR" smtClean="0"/>
              <a:t>58</a:t>
            </a:fld>
            <a:endParaRPr lang="fr-FR"/>
          </a:p>
        </p:txBody>
      </p:sp>
    </p:spTree>
    <p:extLst>
      <p:ext uri="{BB962C8B-B14F-4D97-AF65-F5344CB8AC3E}">
        <p14:creationId xmlns:p14="http://schemas.microsoft.com/office/powerpoint/2010/main" val="12461900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13EC06B-7801-0EB7-B483-562CFB5F53FA}"/>
              </a:ext>
            </a:extLst>
          </p:cNvPr>
          <p:cNvSpPr>
            <a:spLocks noGrp="1"/>
          </p:cNvSpPr>
          <p:nvPr>
            <p:ph idx="1"/>
          </p:nvPr>
        </p:nvSpPr>
        <p:spPr>
          <a:xfrm>
            <a:off x="838200" y="562708"/>
            <a:ext cx="10515600" cy="5614255"/>
          </a:xfrm>
        </p:spPr>
        <p:txBody>
          <a:bodyPr/>
          <a:lstStyle/>
          <a:p>
            <a:pPr marL="0" indent="0">
              <a:buNone/>
            </a:pPr>
            <a:r>
              <a:rPr lang="fr-FR" dirty="0">
                <a:effectLst>
                  <a:outerShdw blurRad="38100" dist="38100" dir="2700000" algn="tl">
                    <a:srgbClr val="000000">
                      <a:alpha val="43137"/>
                    </a:srgbClr>
                  </a:outerShdw>
                </a:effectLst>
              </a:rPr>
              <a:t>Le capital linguistique : </a:t>
            </a:r>
            <a:r>
              <a:rPr lang="fr-FR" dirty="0"/>
              <a:t>Ensemble des ressources langagières d'un individu, valorisable sur le marché économique.</a:t>
            </a:r>
          </a:p>
          <a:p>
            <a:pPr marL="0" indent="0">
              <a:buNone/>
            </a:pPr>
            <a:r>
              <a:rPr lang="fr-FR" dirty="0">
                <a:effectLst>
                  <a:outerShdw blurRad="38100" dist="38100" dir="2700000" algn="tl">
                    <a:srgbClr val="000000">
                      <a:alpha val="43137"/>
                    </a:srgbClr>
                  </a:outerShdw>
                </a:effectLst>
              </a:rPr>
              <a:t>La médiation culturelle : </a:t>
            </a:r>
            <a:r>
              <a:rPr lang="fr-FR" dirty="0"/>
              <a:t>Rôle de l'ingénieur capable de faire le pont entre des équipes techniques de cultures différentes.</a:t>
            </a:r>
          </a:p>
          <a:p>
            <a:pPr marL="0" indent="0">
              <a:buNone/>
            </a:pPr>
            <a:r>
              <a:rPr lang="fr-FR" dirty="0">
                <a:effectLst>
                  <a:outerShdw blurRad="38100" dist="38100" dir="2700000" algn="tl">
                    <a:srgbClr val="000000">
                      <a:alpha val="43137"/>
                    </a:srgbClr>
                  </a:outerShdw>
                </a:effectLst>
              </a:rPr>
              <a:t>L'hégémonie linguistique : </a:t>
            </a:r>
            <a:r>
              <a:rPr lang="fr-FR" dirty="0"/>
              <a:t>Domination d'une langue (Ex: le </a:t>
            </a:r>
            <a:r>
              <a:rPr lang="fr-FR" i="1" dirty="0"/>
              <a:t>Globish</a:t>
            </a:r>
            <a:r>
              <a:rPr lang="fr-FR" dirty="0"/>
              <a:t>) qui peut appauvrir la pensée technique.</a:t>
            </a:r>
          </a:p>
          <a:p>
            <a:pPr marL="0" indent="0">
              <a:buNone/>
            </a:pPr>
            <a:endParaRPr lang="fr-FR" dirty="0"/>
          </a:p>
        </p:txBody>
      </p:sp>
      <p:sp>
        <p:nvSpPr>
          <p:cNvPr id="2" name="Espace réservé du numéro de diapositive 1">
            <a:extLst>
              <a:ext uri="{FF2B5EF4-FFF2-40B4-BE49-F238E27FC236}">
                <a16:creationId xmlns:a16="http://schemas.microsoft.com/office/drawing/2014/main" id="{7BD42324-A902-6C7C-D764-F3D5A4685727}"/>
              </a:ext>
            </a:extLst>
          </p:cNvPr>
          <p:cNvSpPr>
            <a:spLocks noGrp="1"/>
          </p:cNvSpPr>
          <p:nvPr>
            <p:ph type="sldNum" sz="quarter" idx="12"/>
          </p:nvPr>
        </p:nvSpPr>
        <p:spPr/>
        <p:txBody>
          <a:bodyPr/>
          <a:lstStyle/>
          <a:p>
            <a:fld id="{49DB4E91-02F2-4120-BFDC-D5317FE06960}" type="slidenum">
              <a:rPr lang="fr-FR" smtClean="0"/>
              <a:t>59</a:t>
            </a:fld>
            <a:endParaRPr lang="fr-FR"/>
          </a:p>
        </p:txBody>
      </p:sp>
    </p:spTree>
    <p:extLst>
      <p:ext uri="{BB962C8B-B14F-4D97-AF65-F5344CB8AC3E}">
        <p14:creationId xmlns:p14="http://schemas.microsoft.com/office/powerpoint/2010/main" val="15363206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22B4ECE-C2ED-2409-8177-F6606D343EBB}"/>
              </a:ext>
            </a:extLst>
          </p:cNvPr>
          <p:cNvSpPr>
            <a:spLocks noGrp="1"/>
          </p:cNvSpPr>
          <p:nvPr>
            <p:ph idx="1"/>
          </p:nvPr>
        </p:nvSpPr>
        <p:spPr>
          <a:xfrm>
            <a:off x="838200" y="675249"/>
            <a:ext cx="10515600" cy="5501714"/>
          </a:xfrm>
        </p:spPr>
        <p:txBody>
          <a:bodyPr>
            <a:normAutofit/>
          </a:bodyPr>
          <a:lstStyle/>
          <a:p>
            <a:pPr marL="1028700" lvl="1" indent="-571500">
              <a:buFont typeface="+mj-lt"/>
              <a:buAutoNum type="romanLcPeriod" startAt="21"/>
            </a:pPr>
            <a:r>
              <a:rPr lang="fr-FR" sz="3000" dirty="0"/>
              <a:t>Débattre sur les solutions pour changer le monde</a:t>
            </a:r>
          </a:p>
          <a:p>
            <a:pPr marL="0" indent="0">
              <a:buNone/>
            </a:pPr>
            <a:r>
              <a:rPr lang="fr-FR" b="1" dirty="0"/>
              <a:t>Débattre des solutions pour changer le monde </a:t>
            </a:r>
            <a:r>
              <a:rPr lang="fr-FR" dirty="0"/>
              <a:t>impose d'articuler </a:t>
            </a:r>
            <a:r>
              <a:rPr lang="fr-FR" b="1" dirty="0">
                <a:effectLst/>
              </a:rPr>
              <a:t>réalisme technologique</a:t>
            </a:r>
            <a:r>
              <a:rPr lang="fr-FR" dirty="0"/>
              <a:t> et </a:t>
            </a:r>
            <a:r>
              <a:rPr lang="fr-FR" b="1" dirty="0">
                <a:effectLst/>
              </a:rPr>
              <a:t>éthique de la responsabilité</a:t>
            </a:r>
            <a:r>
              <a:rPr lang="fr-FR" dirty="0"/>
              <a:t>. </a:t>
            </a:r>
            <a:r>
              <a:rPr lang="fr-FR" b="1" dirty="0"/>
              <a:t>Le</a:t>
            </a:r>
            <a:r>
              <a:rPr lang="fr-FR" dirty="0"/>
              <a:t> </a:t>
            </a:r>
            <a:r>
              <a:rPr lang="fr-FR" b="1" dirty="0"/>
              <a:t>débat</a:t>
            </a:r>
            <a:r>
              <a:rPr lang="fr-FR" dirty="0"/>
              <a:t> ne porte plus sur l'urgence d'agir, mais </a:t>
            </a:r>
            <a:r>
              <a:rPr lang="fr-FR" b="1" dirty="0"/>
              <a:t>sur la hiérarchie des leviers à actionner </a:t>
            </a:r>
            <a:r>
              <a:rPr lang="fr-FR" dirty="0"/>
              <a:t>: </a:t>
            </a:r>
            <a:r>
              <a:rPr lang="fr-FR" b="1" dirty="0"/>
              <a:t>l'innovation technique</a:t>
            </a:r>
            <a:r>
              <a:rPr lang="fr-FR" dirty="0"/>
              <a:t>, </a:t>
            </a:r>
            <a:r>
              <a:rPr lang="fr-FR" b="1" dirty="0"/>
              <a:t>la réforme politique </a:t>
            </a:r>
            <a:r>
              <a:rPr lang="fr-FR" dirty="0"/>
              <a:t>ou </a:t>
            </a:r>
            <a:r>
              <a:rPr lang="fr-FR" b="1" dirty="0"/>
              <a:t>le changement de paradigme individuel</a:t>
            </a:r>
            <a:r>
              <a:rPr lang="fr-FR" dirty="0"/>
              <a:t>.</a:t>
            </a:r>
          </a:p>
        </p:txBody>
      </p:sp>
      <p:sp>
        <p:nvSpPr>
          <p:cNvPr id="2" name="Espace réservé du numéro de diapositive 1">
            <a:extLst>
              <a:ext uri="{FF2B5EF4-FFF2-40B4-BE49-F238E27FC236}">
                <a16:creationId xmlns:a16="http://schemas.microsoft.com/office/drawing/2014/main" id="{6C9DA296-3503-DF5D-6627-A7F45466FEAF}"/>
              </a:ext>
            </a:extLst>
          </p:cNvPr>
          <p:cNvSpPr>
            <a:spLocks noGrp="1"/>
          </p:cNvSpPr>
          <p:nvPr>
            <p:ph type="sldNum" sz="quarter" idx="12"/>
          </p:nvPr>
        </p:nvSpPr>
        <p:spPr/>
        <p:txBody>
          <a:bodyPr/>
          <a:lstStyle/>
          <a:p>
            <a:fld id="{49DB4E91-02F2-4120-BFDC-D5317FE06960}" type="slidenum">
              <a:rPr lang="fr-FR" smtClean="0"/>
              <a:t>60</a:t>
            </a:fld>
            <a:endParaRPr lang="fr-FR"/>
          </a:p>
        </p:txBody>
      </p:sp>
    </p:spTree>
    <p:extLst>
      <p:ext uri="{BB962C8B-B14F-4D97-AF65-F5344CB8AC3E}">
        <p14:creationId xmlns:p14="http://schemas.microsoft.com/office/powerpoint/2010/main" val="30170224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35B0F07-48EB-6614-281F-E4BF16EA0968}"/>
              </a:ext>
            </a:extLst>
          </p:cNvPr>
          <p:cNvSpPr>
            <a:spLocks noGrp="1"/>
          </p:cNvSpPr>
          <p:nvPr>
            <p:ph idx="1"/>
          </p:nvPr>
        </p:nvSpPr>
        <p:spPr>
          <a:xfrm>
            <a:off x="838200" y="689317"/>
            <a:ext cx="10515600" cy="5487646"/>
          </a:xfrm>
        </p:spPr>
        <p:txBody>
          <a:bodyPr>
            <a:normAutofit lnSpcReduction="10000"/>
          </a:bodyPr>
          <a:lstStyle/>
          <a:p>
            <a:pPr marL="0" indent="0">
              <a:buNone/>
            </a:pPr>
            <a:r>
              <a:rPr lang="fr-FR" u="sng" dirty="0"/>
              <a:t>Le </a:t>
            </a:r>
            <a:r>
              <a:rPr lang="fr-FR" u="sng" dirty="0" err="1"/>
              <a:t>solutionnisme</a:t>
            </a:r>
            <a:r>
              <a:rPr lang="fr-FR" u="sng" dirty="0"/>
              <a:t> technologique</a:t>
            </a:r>
          </a:p>
          <a:p>
            <a:pPr marL="0" indent="0">
              <a:buNone/>
            </a:pPr>
            <a:r>
              <a:rPr lang="fr-FR" dirty="0"/>
              <a:t>Cette approche soutient que la science et l'innovation sont les clés pour résoudre les crises systémiques.</a:t>
            </a:r>
          </a:p>
          <a:p>
            <a:pPr marL="0" indent="0">
              <a:buNone/>
            </a:pPr>
            <a:r>
              <a:rPr lang="fr-FR" dirty="0">
                <a:effectLst>
                  <a:outerShdw blurRad="38100" dist="38100" dir="2700000" algn="tl">
                    <a:srgbClr val="000000">
                      <a:alpha val="43137"/>
                    </a:srgbClr>
                  </a:outerShdw>
                </a:effectLst>
              </a:rPr>
              <a:t>La transition énergétique et la décarbonation : </a:t>
            </a:r>
            <a:r>
              <a:rPr lang="fr-FR" dirty="0"/>
              <a:t>L'accent est mis sur le mix énergétique, l'hydrogène vert et le captage du carbone.</a:t>
            </a:r>
          </a:p>
          <a:p>
            <a:pPr marL="457200" lvl="1" indent="0">
              <a:buNone/>
            </a:pPr>
            <a:r>
              <a:rPr lang="fr-FR" i="1" dirty="0"/>
              <a:t>Argument :</a:t>
            </a:r>
            <a:r>
              <a:rPr lang="fr-FR" dirty="0"/>
              <a:t> « L'ingéniosité humaine a créé ces problèmes ; elle seule a la capacité de </a:t>
            </a:r>
            <a:r>
              <a:rPr lang="fr-FR" b="1" dirty="0"/>
              <a:t>déployer des solutions à l'échelle globale</a:t>
            </a:r>
            <a:r>
              <a:rPr lang="fr-FR" dirty="0"/>
              <a:t> pour inverser la tendance. »</a:t>
            </a:r>
          </a:p>
          <a:p>
            <a:pPr marL="0" indent="0">
              <a:buNone/>
            </a:pPr>
            <a:r>
              <a:rPr lang="fr-FR" dirty="0">
                <a:effectLst>
                  <a:outerShdw blurRad="38100" dist="38100" dir="2700000" algn="tl">
                    <a:srgbClr val="000000">
                      <a:alpha val="43137"/>
                    </a:srgbClr>
                  </a:outerShdw>
                </a:effectLst>
              </a:rPr>
              <a:t>L'intelligence artificielle pour le bien commun : </a:t>
            </a:r>
            <a:r>
              <a:rPr lang="fr-FR" dirty="0"/>
              <a:t>Utiliser les algorithmes pour optimiser la gestion des ressources et anticiper les risques climatiques.</a:t>
            </a:r>
          </a:p>
          <a:p>
            <a:pPr marL="0" indent="0">
              <a:buNone/>
            </a:pPr>
            <a:r>
              <a:rPr lang="fr-FR" dirty="0">
                <a:effectLst>
                  <a:outerShdw blurRad="38100" dist="38100" dir="2700000" algn="tl">
                    <a:srgbClr val="000000">
                      <a:alpha val="43137"/>
                    </a:srgbClr>
                  </a:outerShdw>
                </a:effectLst>
              </a:rPr>
              <a:t>Le risque du </a:t>
            </a:r>
            <a:r>
              <a:rPr lang="fr-FR" dirty="0" err="1">
                <a:effectLst>
                  <a:outerShdw blurRad="38100" dist="38100" dir="2700000" algn="tl">
                    <a:srgbClr val="000000">
                      <a:alpha val="43137"/>
                    </a:srgbClr>
                  </a:outerShdw>
                </a:effectLst>
              </a:rPr>
              <a:t>technoptimisme</a:t>
            </a:r>
            <a:r>
              <a:rPr lang="fr-FR" dirty="0">
                <a:effectLst>
                  <a:outerShdw blurRad="38100" dist="38100" dir="2700000" algn="tl">
                    <a:srgbClr val="000000">
                      <a:alpha val="43137"/>
                    </a:srgbClr>
                  </a:outerShdw>
                </a:effectLst>
              </a:rPr>
              <a:t> : </a:t>
            </a:r>
            <a:r>
              <a:rPr lang="fr-FR" dirty="0"/>
              <a:t>La crainte que la confiance aveugle dans la technologie ne serve d'excuse pour ne pas modifier nos modes de vie. </a:t>
            </a:r>
          </a:p>
          <a:p>
            <a:pPr marL="0" indent="0">
              <a:buNone/>
            </a:pPr>
            <a:endParaRPr lang="fr-FR" dirty="0"/>
          </a:p>
        </p:txBody>
      </p:sp>
      <p:sp>
        <p:nvSpPr>
          <p:cNvPr id="2" name="Espace réservé du numéro de diapositive 1">
            <a:extLst>
              <a:ext uri="{FF2B5EF4-FFF2-40B4-BE49-F238E27FC236}">
                <a16:creationId xmlns:a16="http://schemas.microsoft.com/office/drawing/2014/main" id="{62455A5D-AB86-4869-D06F-B084655D9717}"/>
              </a:ext>
            </a:extLst>
          </p:cNvPr>
          <p:cNvSpPr>
            <a:spLocks noGrp="1"/>
          </p:cNvSpPr>
          <p:nvPr>
            <p:ph type="sldNum" sz="quarter" idx="12"/>
          </p:nvPr>
        </p:nvSpPr>
        <p:spPr/>
        <p:txBody>
          <a:bodyPr/>
          <a:lstStyle/>
          <a:p>
            <a:fld id="{49DB4E91-02F2-4120-BFDC-D5317FE06960}" type="slidenum">
              <a:rPr lang="fr-FR" smtClean="0"/>
              <a:t>61</a:t>
            </a:fld>
            <a:endParaRPr lang="fr-FR"/>
          </a:p>
        </p:txBody>
      </p:sp>
    </p:spTree>
    <p:extLst>
      <p:ext uri="{BB962C8B-B14F-4D97-AF65-F5344CB8AC3E}">
        <p14:creationId xmlns:p14="http://schemas.microsoft.com/office/powerpoint/2010/main" val="14188719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8FCD03F-E899-EDFF-0297-B5A82B74F253}"/>
              </a:ext>
            </a:extLst>
          </p:cNvPr>
          <p:cNvSpPr>
            <a:spLocks noGrp="1"/>
          </p:cNvSpPr>
          <p:nvPr>
            <p:ph idx="1"/>
          </p:nvPr>
        </p:nvSpPr>
        <p:spPr>
          <a:xfrm>
            <a:off x="838200" y="647114"/>
            <a:ext cx="10515600" cy="5529849"/>
          </a:xfrm>
        </p:spPr>
        <p:txBody>
          <a:bodyPr>
            <a:normAutofit lnSpcReduction="10000"/>
          </a:bodyPr>
          <a:lstStyle/>
          <a:p>
            <a:pPr marL="0" indent="0">
              <a:buNone/>
            </a:pPr>
            <a:r>
              <a:rPr lang="fr-FR" u="sng" dirty="0"/>
              <a:t>Le changement systémique et la </a:t>
            </a:r>
            <a:r>
              <a:rPr lang="fr-FR" u="sng"/>
              <a:t>sobriété </a:t>
            </a:r>
          </a:p>
          <a:p>
            <a:pPr marL="0" indent="0">
              <a:buNone/>
            </a:pPr>
            <a:r>
              <a:rPr lang="fr-FR"/>
              <a:t>Pour </a:t>
            </a:r>
            <a:r>
              <a:rPr lang="fr-FR" dirty="0"/>
              <a:t>de nombreux débatteurs, la solution ne peut être que politique et sociétale.</a:t>
            </a:r>
          </a:p>
          <a:p>
            <a:pPr marL="0" indent="0">
              <a:buNone/>
            </a:pPr>
            <a:r>
              <a:rPr lang="fr-FR" dirty="0">
                <a:effectLst>
                  <a:outerShdw blurRad="38100" dist="38100" dir="2700000" algn="tl">
                    <a:srgbClr val="000000">
                      <a:alpha val="43137"/>
                    </a:srgbClr>
                  </a:outerShdw>
                </a:effectLst>
              </a:rPr>
              <a:t>La remise en question de la croissance : </a:t>
            </a:r>
            <a:r>
              <a:rPr lang="fr-FR" dirty="0"/>
              <a:t>Débattre de la </a:t>
            </a:r>
            <a:r>
              <a:rPr lang="fr-FR" b="1" dirty="0"/>
              <a:t>décroissance</a:t>
            </a:r>
            <a:r>
              <a:rPr lang="fr-FR" dirty="0"/>
              <a:t> ou de la « croissance sélective » comme alternative à l'épuisement des ressources.</a:t>
            </a:r>
          </a:p>
          <a:p>
            <a:pPr marL="457200" lvl="1" indent="0">
              <a:buNone/>
            </a:pPr>
            <a:r>
              <a:rPr lang="fr-FR" i="1" dirty="0"/>
              <a:t>Argument :</a:t>
            </a:r>
            <a:r>
              <a:rPr lang="fr-FR" dirty="0"/>
              <a:t> « Changer le monde nécessite de passer d'une logique d'accumulation à une logique de </a:t>
            </a:r>
            <a:r>
              <a:rPr lang="fr-FR" b="1" dirty="0"/>
              <a:t>sobriété heureuse</a:t>
            </a:r>
            <a:r>
              <a:rPr lang="fr-FR" dirty="0"/>
              <a:t> et de redistribution équitable. »</a:t>
            </a:r>
          </a:p>
          <a:p>
            <a:pPr marL="0" indent="0">
              <a:buNone/>
            </a:pPr>
            <a:r>
              <a:rPr lang="fr-FR" dirty="0">
                <a:effectLst>
                  <a:outerShdw blurRad="38100" dist="38100" dir="2700000" algn="tl">
                    <a:srgbClr val="000000">
                      <a:alpha val="43137"/>
                    </a:srgbClr>
                  </a:outerShdw>
                </a:effectLst>
              </a:rPr>
              <a:t>L'économie circulaire et le biomimétisme : </a:t>
            </a:r>
            <a:r>
              <a:rPr lang="fr-FR" dirty="0"/>
              <a:t>S'inspirer des systèmes naturels pour concevoir des modes de production sans déchets.</a:t>
            </a:r>
          </a:p>
          <a:p>
            <a:pPr marL="0" indent="0">
              <a:buNone/>
            </a:pPr>
            <a:r>
              <a:rPr lang="fr-FR" dirty="0">
                <a:effectLst>
                  <a:outerShdw blurRad="38100" dist="38100" dir="2700000" algn="tl">
                    <a:srgbClr val="000000">
                      <a:alpha val="43137"/>
                    </a:srgbClr>
                  </a:outerShdw>
                </a:effectLst>
              </a:rPr>
              <a:t>L'engagement citoyen et la gouvernance : </a:t>
            </a:r>
            <a:r>
              <a:rPr lang="fr-FR" dirty="0"/>
              <a:t>L'idée que les solutions viendront d'une </a:t>
            </a:r>
            <a:r>
              <a:rPr lang="fr-FR" b="1" dirty="0"/>
              <a:t>action collective</a:t>
            </a:r>
            <a:r>
              <a:rPr lang="fr-FR" dirty="0"/>
              <a:t> et d'une pression sur les instances décisionnelles mondiales.</a:t>
            </a:r>
          </a:p>
          <a:p>
            <a:pPr marL="0" indent="0">
              <a:buNone/>
            </a:pPr>
            <a:endParaRPr lang="fr-FR" dirty="0"/>
          </a:p>
          <a:p>
            <a:pPr marL="0" indent="0">
              <a:buNone/>
            </a:pPr>
            <a:endParaRPr lang="fr-FR" dirty="0"/>
          </a:p>
        </p:txBody>
      </p:sp>
      <p:sp>
        <p:nvSpPr>
          <p:cNvPr id="2" name="Espace réservé du numéro de diapositive 1">
            <a:extLst>
              <a:ext uri="{FF2B5EF4-FFF2-40B4-BE49-F238E27FC236}">
                <a16:creationId xmlns:a16="http://schemas.microsoft.com/office/drawing/2014/main" id="{E3855FC9-D15A-D214-6D17-7BF768F48C68}"/>
              </a:ext>
            </a:extLst>
          </p:cNvPr>
          <p:cNvSpPr>
            <a:spLocks noGrp="1"/>
          </p:cNvSpPr>
          <p:nvPr>
            <p:ph type="sldNum" sz="quarter" idx="12"/>
          </p:nvPr>
        </p:nvSpPr>
        <p:spPr/>
        <p:txBody>
          <a:bodyPr/>
          <a:lstStyle/>
          <a:p>
            <a:fld id="{49DB4E91-02F2-4120-BFDC-D5317FE06960}" type="slidenum">
              <a:rPr lang="fr-FR" smtClean="0"/>
              <a:t>62</a:t>
            </a:fld>
            <a:endParaRPr lang="fr-FR"/>
          </a:p>
        </p:txBody>
      </p:sp>
    </p:spTree>
    <p:extLst>
      <p:ext uri="{BB962C8B-B14F-4D97-AF65-F5344CB8AC3E}">
        <p14:creationId xmlns:p14="http://schemas.microsoft.com/office/powerpoint/2010/main" val="9442527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991CECB-2291-E92A-3242-53EF0D8B2C4D}"/>
              </a:ext>
            </a:extLst>
          </p:cNvPr>
          <p:cNvSpPr>
            <a:spLocks noGrp="1"/>
          </p:cNvSpPr>
          <p:nvPr>
            <p:ph idx="1"/>
          </p:nvPr>
        </p:nvSpPr>
        <p:spPr>
          <a:xfrm>
            <a:off x="838200" y="675249"/>
            <a:ext cx="10515600" cy="5501714"/>
          </a:xfrm>
        </p:spPr>
        <p:txBody>
          <a:bodyPr>
            <a:normAutofit/>
          </a:bodyPr>
          <a:lstStyle/>
          <a:p>
            <a:pPr marL="1028700" lvl="1" indent="-571500">
              <a:buFont typeface="+mj-lt"/>
              <a:buAutoNum type="romanLcPeriod" startAt="22"/>
            </a:pPr>
            <a:r>
              <a:rPr lang="fr-FR" sz="3000" dirty="0"/>
              <a:t> Argumenter sur les enjeux de mouvements culturels et politiques alternatifs</a:t>
            </a:r>
          </a:p>
          <a:p>
            <a:pPr marL="0" indent="0">
              <a:buNone/>
            </a:pPr>
            <a:r>
              <a:rPr lang="fr-FR" b="1" dirty="0"/>
              <a:t>Ces mouvements </a:t>
            </a:r>
            <a:r>
              <a:rPr lang="fr-FR" dirty="0"/>
              <a:t>(contre-cultures, zones à défendre, collectifs d'autogestion, </a:t>
            </a:r>
            <a:r>
              <a:rPr lang="fr-FR" dirty="0" err="1"/>
              <a:t>technactivisme</a:t>
            </a:r>
            <a:r>
              <a:rPr lang="fr-FR" dirty="0"/>
              <a:t>) </a:t>
            </a:r>
            <a:r>
              <a:rPr lang="fr-FR" b="1" dirty="0"/>
              <a:t>questionnent les fondements de notre contrat social</a:t>
            </a:r>
            <a:r>
              <a:rPr lang="fr-FR" dirty="0"/>
              <a:t> et </a:t>
            </a:r>
            <a:r>
              <a:rPr lang="fr-FR" b="1" dirty="0"/>
              <a:t>proposent des modèles de rupture face aux structures dominantes. </a:t>
            </a:r>
          </a:p>
          <a:p>
            <a:pPr marL="0" indent="0">
              <a:buNone/>
            </a:pPr>
            <a:r>
              <a:rPr lang="fr-FR" u="sng" dirty="0"/>
              <a:t>L’enjeu de l’innovation sociétale et de l’expérimentation </a:t>
            </a:r>
          </a:p>
          <a:p>
            <a:pPr marL="0" indent="0">
              <a:buNone/>
            </a:pPr>
            <a:r>
              <a:rPr lang="fr-FR" dirty="0"/>
              <a:t>Les mouvements alternatifs fonctionnent comme des « laboratoires » où s'inventent les normes de demain.</a:t>
            </a:r>
          </a:p>
          <a:p>
            <a:pPr marL="0" indent="0">
              <a:buNone/>
            </a:pPr>
            <a:r>
              <a:rPr lang="fr-FR" dirty="0">
                <a:effectLst>
                  <a:outerShdw blurRad="38100" dist="38100" dir="2700000" algn="tl">
                    <a:srgbClr val="000000">
                      <a:alpha val="43137"/>
                    </a:srgbClr>
                  </a:outerShdw>
                </a:effectLst>
              </a:rPr>
              <a:t>La remise en question des hiérarchies : </a:t>
            </a:r>
            <a:r>
              <a:rPr lang="fr-FR" dirty="0"/>
              <a:t>Ces mouvements prônent souvent l'</a:t>
            </a:r>
            <a:r>
              <a:rPr lang="fr-FR" b="1" dirty="0"/>
              <a:t>horizontalité</a:t>
            </a:r>
            <a:r>
              <a:rPr lang="fr-FR" dirty="0"/>
              <a:t> et la </a:t>
            </a:r>
            <a:r>
              <a:rPr lang="fr-FR" b="1" dirty="0"/>
              <a:t>démocratie directe</a:t>
            </a:r>
            <a:r>
              <a:rPr lang="fr-FR" dirty="0"/>
              <a:t>, remettant en cause l'efficacité du modèle pyramidal classique.</a:t>
            </a:r>
          </a:p>
        </p:txBody>
      </p:sp>
      <p:sp>
        <p:nvSpPr>
          <p:cNvPr id="2" name="Espace réservé du numéro de diapositive 1">
            <a:extLst>
              <a:ext uri="{FF2B5EF4-FFF2-40B4-BE49-F238E27FC236}">
                <a16:creationId xmlns:a16="http://schemas.microsoft.com/office/drawing/2014/main" id="{E9C1FADD-6950-C49F-B82B-345F5AAEE00E}"/>
              </a:ext>
            </a:extLst>
          </p:cNvPr>
          <p:cNvSpPr>
            <a:spLocks noGrp="1"/>
          </p:cNvSpPr>
          <p:nvPr>
            <p:ph type="sldNum" sz="quarter" idx="12"/>
          </p:nvPr>
        </p:nvSpPr>
        <p:spPr/>
        <p:txBody>
          <a:bodyPr/>
          <a:lstStyle/>
          <a:p>
            <a:fld id="{49DB4E91-02F2-4120-BFDC-D5317FE06960}" type="slidenum">
              <a:rPr lang="fr-FR" smtClean="0"/>
              <a:t>63</a:t>
            </a:fld>
            <a:endParaRPr lang="fr-FR"/>
          </a:p>
        </p:txBody>
      </p:sp>
    </p:spTree>
    <p:extLst>
      <p:ext uri="{BB962C8B-B14F-4D97-AF65-F5344CB8AC3E}">
        <p14:creationId xmlns:p14="http://schemas.microsoft.com/office/powerpoint/2010/main" val="25882438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2025CDB-570B-8E8A-BC65-A48CD3C1A836}"/>
              </a:ext>
            </a:extLst>
          </p:cNvPr>
          <p:cNvSpPr>
            <a:spLocks noGrp="1"/>
          </p:cNvSpPr>
          <p:nvPr>
            <p:ph idx="1"/>
          </p:nvPr>
        </p:nvSpPr>
        <p:spPr>
          <a:xfrm>
            <a:off x="838200" y="745588"/>
            <a:ext cx="10515600" cy="5431375"/>
          </a:xfrm>
        </p:spPr>
        <p:txBody>
          <a:bodyPr/>
          <a:lstStyle/>
          <a:p>
            <a:pPr marL="0" indent="0">
              <a:buNone/>
            </a:pPr>
            <a:r>
              <a:rPr lang="fr-FR" dirty="0">
                <a:effectLst>
                  <a:outerShdw blurRad="38100" dist="38100" dir="2700000" algn="tl">
                    <a:srgbClr val="000000">
                      <a:alpha val="43137"/>
                    </a:srgbClr>
                  </a:outerShdw>
                </a:effectLst>
              </a:rPr>
              <a:t>L'agilité idéologique : </a:t>
            </a:r>
            <a:r>
              <a:rPr lang="fr-FR" dirty="0"/>
              <a:t>En s'affranchissant des dogmes partisans, ils permettent l'émergence de solutions hybrides (Ex: les monnaies locales, les communs numériques).</a:t>
            </a:r>
          </a:p>
          <a:p>
            <a:pPr marL="0" indent="0">
              <a:buNone/>
            </a:pPr>
            <a:r>
              <a:rPr lang="fr-FR" b="1" dirty="0"/>
              <a:t>	</a:t>
            </a:r>
            <a:r>
              <a:rPr lang="fr-FR" i="1" dirty="0"/>
              <a:t>Argument :</a:t>
            </a:r>
            <a:r>
              <a:rPr lang="fr-FR" dirty="0"/>
              <a:t> « La valeur de ces mouvements ne réside pas tant 	dans leur capacité à prendre le pouvoir que dans leur aptitude 	à </a:t>
            </a:r>
            <a:r>
              <a:rPr lang="fr-FR" b="1" dirty="0"/>
              <a:t>féconder le débat public</a:t>
            </a:r>
            <a:r>
              <a:rPr lang="fr-FR" dirty="0"/>
              <a:t> par des propositions disruptives. »</a:t>
            </a:r>
          </a:p>
          <a:p>
            <a:pPr marL="0" indent="0">
              <a:buNone/>
            </a:pPr>
            <a:r>
              <a:rPr lang="fr-FR" u="sng" dirty="0"/>
              <a:t>L’enjeu de la résistance et de la préservation des identités</a:t>
            </a:r>
          </a:p>
          <a:p>
            <a:pPr marL="0" indent="0">
              <a:buNone/>
            </a:pPr>
            <a:r>
              <a:rPr lang="fr-FR" dirty="0"/>
              <a:t>Face à la globalisation culturelle et à la standardisation des modes de vie, l'alternative devient un acte de survie identitaire.</a:t>
            </a:r>
          </a:p>
          <a:p>
            <a:pPr marL="0" indent="0">
              <a:buNone/>
            </a:pPr>
            <a:r>
              <a:rPr lang="fr-FR" dirty="0">
                <a:effectLst>
                  <a:outerShdw blurRad="38100" dist="38100" dir="2700000" algn="tl">
                    <a:srgbClr val="000000">
                      <a:alpha val="43137"/>
                    </a:srgbClr>
                  </a:outerShdw>
                </a:effectLst>
              </a:rPr>
              <a:t>La réappropriation de l'espace et du récit : </a:t>
            </a:r>
            <a:r>
              <a:rPr lang="fr-FR" dirty="0"/>
              <a:t>Qu'il s'agisse de culture souterraine ou de luttes territoriales, l'enjeu est de </a:t>
            </a:r>
            <a:r>
              <a:rPr lang="fr-FR" b="1" dirty="0"/>
              <a:t>sanctuariser</a:t>
            </a:r>
            <a:r>
              <a:rPr lang="fr-FR" dirty="0"/>
              <a:t> des espaces de liberté hors de la logique marchande.</a:t>
            </a:r>
          </a:p>
        </p:txBody>
      </p:sp>
      <p:sp>
        <p:nvSpPr>
          <p:cNvPr id="2" name="Espace réservé du numéro de diapositive 1">
            <a:extLst>
              <a:ext uri="{FF2B5EF4-FFF2-40B4-BE49-F238E27FC236}">
                <a16:creationId xmlns:a16="http://schemas.microsoft.com/office/drawing/2014/main" id="{C694C5AC-2D17-ACCC-620C-E5C958F25819}"/>
              </a:ext>
            </a:extLst>
          </p:cNvPr>
          <p:cNvSpPr>
            <a:spLocks noGrp="1"/>
          </p:cNvSpPr>
          <p:nvPr>
            <p:ph type="sldNum" sz="quarter" idx="12"/>
          </p:nvPr>
        </p:nvSpPr>
        <p:spPr/>
        <p:txBody>
          <a:bodyPr/>
          <a:lstStyle/>
          <a:p>
            <a:fld id="{49DB4E91-02F2-4120-BFDC-D5317FE06960}" type="slidenum">
              <a:rPr lang="fr-FR" smtClean="0"/>
              <a:t>64</a:t>
            </a:fld>
            <a:endParaRPr lang="fr-FR"/>
          </a:p>
        </p:txBody>
      </p:sp>
    </p:spTree>
    <p:extLst>
      <p:ext uri="{BB962C8B-B14F-4D97-AF65-F5344CB8AC3E}">
        <p14:creationId xmlns:p14="http://schemas.microsoft.com/office/powerpoint/2010/main" val="8013824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DF55751-27DA-2744-EF17-72ED27DE8194}"/>
              </a:ext>
            </a:extLst>
          </p:cNvPr>
          <p:cNvSpPr>
            <a:spLocks noGrp="1"/>
          </p:cNvSpPr>
          <p:nvPr>
            <p:ph idx="1"/>
          </p:nvPr>
        </p:nvSpPr>
        <p:spPr>
          <a:xfrm>
            <a:off x="838200" y="506436"/>
            <a:ext cx="10515600" cy="5711483"/>
          </a:xfrm>
        </p:spPr>
        <p:txBody>
          <a:bodyPr>
            <a:normAutofit lnSpcReduction="10000"/>
          </a:bodyPr>
          <a:lstStyle/>
          <a:p>
            <a:pPr marL="0" indent="0">
              <a:buNone/>
            </a:pPr>
            <a:r>
              <a:rPr lang="fr-FR" dirty="0">
                <a:effectLst>
                  <a:outerShdw blurRad="38100" dist="38100" dir="2700000" algn="tl">
                    <a:srgbClr val="000000">
                      <a:alpha val="43137"/>
                    </a:srgbClr>
                  </a:outerShdw>
                </a:effectLst>
              </a:rPr>
              <a:t>Le contre-pouvoir symbolique : </a:t>
            </a:r>
            <a:r>
              <a:rPr lang="fr-FR" dirty="0"/>
              <a:t>Ces mouvements utilisent l'art, le détournement et la manifestation pour briser le consensus médiatique. </a:t>
            </a:r>
          </a:p>
          <a:p>
            <a:pPr marL="0" indent="0">
              <a:buNone/>
            </a:pPr>
            <a:r>
              <a:rPr lang="fr-FR" b="1" dirty="0"/>
              <a:t>	</a:t>
            </a:r>
            <a:r>
              <a:rPr lang="fr-FR" i="1" dirty="0"/>
              <a:t>Argument</a:t>
            </a:r>
            <a:r>
              <a:rPr lang="fr-FR" b="1" dirty="0"/>
              <a:t> :</a:t>
            </a:r>
            <a:r>
              <a:rPr lang="fr-FR" dirty="0"/>
              <a:t> « Les cultures alternatives agissent comme 	des </a:t>
            </a:r>
            <a:r>
              <a:rPr lang="fr-FR" b="1" dirty="0"/>
              <a:t>anticorps sociétaux</a:t>
            </a:r>
            <a:r>
              <a:rPr lang="fr-FR" dirty="0"/>
              <a:t> contre l'uniformisation des consciences»</a:t>
            </a:r>
          </a:p>
          <a:p>
            <a:pPr marL="0" indent="0">
              <a:buNone/>
            </a:pPr>
            <a:r>
              <a:rPr lang="fr-FR" u="sng" dirty="0"/>
              <a:t>Lexique</a:t>
            </a:r>
          </a:p>
          <a:p>
            <a:pPr marL="0" indent="0">
              <a:buNone/>
            </a:pPr>
            <a:r>
              <a:rPr lang="fr-FR" dirty="0">
                <a:effectLst>
                  <a:outerShdw blurRad="38100" dist="38100" dir="2700000" algn="tl">
                    <a:srgbClr val="000000">
                      <a:alpha val="43137"/>
                    </a:srgbClr>
                  </a:outerShdw>
                </a:effectLst>
              </a:rPr>
              <a:t>La dissidence : </a:t>
            </a:r>
            <a:r>
              <a:rPr lang="fr-FR" dirty="0"/>
              <a:t>Action de se séparer d'une communauté pour des raisons de doctrine ou d'opinion.</a:t>
            </a:r>
          </a:p>
          <a:p>
            <a:pPr marL="0" indent="0">
              <a:buNone/>
            </a:pPr>
            <a:r>
              <a:rPr lang="fr-FR" dirty="0">
                <a:effectLst>
                  <a:outerShdw blurRad="38100" dist="38100" dir="2700000" algn="tl">
                    <a:srgbClr val="000000">
                      <a:alpha val="43137"/>
                    </a:srgbClr>
                  </a:outerShdw>
                </a:effectLst>
              </a:rPr>
              <a:t>L'hégémonie culturelle : </a:t>
            </a:r>
            <a:r>
              <a:rPr lang="fr-FR" dirty="0"/>
              <a:t>Concept d'Antonio Gramsci désignant la domination des idées de la classe dirigeante.</a:t>
            </a:r>
          </a:p>
          <a:p>
            <a:pPr marL="0" indent="0">
              <a:buNone/>
            </a:pPr>
            <a:r>
              <a:rPr lang="fr-FR" dirty="0">
                <a:effectLst>
                  <a:outerShdw blurRad="38100" dist="38100" dir="2700000" algn="tl">
                    <a:srgbClr val="000000">
                      <a:alpha val="43137"/>
                    </a:srgbClr>
                  </a:outerShdw>
                </a:effectLst>
              </a:rPr>
              <a:t>L'autonomie : </a:t>
            </a:r>
            <a:r>
              <a:rPr lang="fr-FR" dirty="0"/>
              <a:t>Capacité à se donner ses propres lois et à vivre de manière indépendante.</a:t>
            </a:r>
          </a:p>
          <a:p>
            <a:pPr marL="0" indent="0">
              <a:buNone/>
            </a:pPr>
            <a:r>
              <a:rPr lang="fr-FR" dirty="0">
                <a:effectLst>
                  <a:outerShdw blurRad="38100" dist="38100" dir="2700000" algn="tl">
                    <a:srgbClr val="000000">
                      <a:alpha val="43137"/>
                    </a:srgbClr>
                  </a:outerShdw>
                </a:effectLst>
              </a:rPr>
              <a:t>La subversion : </a:t>
            </a:r>
            <a:r>
              <a:rPr lang="fr-FR" dirty="0"/>
              <a:t>Action de renverser les valeurs et l'ordre établi par des moyens indirects.</a:t>
            </a:r>
          </a:p>
        </p:txBody>
      </p:sp>
      <p:sp>
        <p:nvSpPr>
          <p:cNvPr id="2" name="Espace réservé du numéro de diapositive 1">
            <a:extLst>
              <a:ext uri="{FF2B5EF4-FFF2-40B4-BE49-F238E27FC236}">
                <a16:creationId xmlns:a16="http://schemas.microsoft.com/office/drawing/2014/main" id="{A4FB635F-B05C-26BB-5F30-E18CBFC3E924}"/>
              </a:ext>
            </a:extLst>
          </p:cNvPr>
          <p:cNvSpPr>
            <a:spLocks noGrp="1"/>
          </p:cNvSpPr>
          <p:nvPr>
            <p:ph type="sldNum" sz="quarter" idx="12"/>
          </p:nvPr>
        </p:nvSpPr>
        <p:spPr/>
        <p:txBody>
          <a:bodyPr/>
          <a:lstStyle/>
          <a:p>
            <a:fld id="{49DB4E91-02F2-4120-BFDC-D5317FE06960}" type="slidenum">
              <a:rPr lang="fr-FR" smtClean="0"/>
              <a:t>65</a:t>
            </a:fld>
            <a:endParaRPr lang="fr-FR"/>
          </a:p>
        </p:txBody>
      </p:sp>
    </p:spTree>
    <p:extLst>
      <p:ext uri="{BB962C8B-B14F-4D97-AF65-F5344CB8AC3E}">
        <p14:creationId xmlns:p14="http://schemas.microsoft.com/office/powerpoint/2010/main" val="12004954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A19BABB-E8D5-8838-B55E-78C11DA6AF8E}"/>
              </a:ext>
            </a:extLst>
          </p:cNvPr>
          <p:cNvSpPr>
            <a:spLocks noGrp="1"/>
          </p:cNvSpPr>
          <p:nvPr>
            <p:ph idx="1"/>
          </p:nvPr>
        </p:nvSpPr>
        <p:spPr>
          <a:xfrm>
            <a:off x="838200" y="618978"/>
            <a:ext cx="10515600" cy="5557985"/>
          </a:xfrm>
        </p:spPr>
        <p:txBody>
          <a:bodyPr/>
          <a:lstStyle/>
          <a:p>
            <a:pPr marL="0" indent="0">
              <a:buNone/>
            </a:pPr>
            <a:r>
              <a:rPr lang="fr-FR" dirty="0">
                <a:effectLst>
                  <a:outerShdw blurRad="38100" dist="38100" dir="2700000" algn="tl">
                    <a:srgbClr val="000000">
                      <a:alpha val="43137"/>
                    </a:srgbClr>
                  </a:outerShdw>
                </a:effectLst>
              </a:rPr>
              <a:t>La convergence des luttes : </a:t>
            </a:r>
            <a:r>
              <a:rPr lang="fr-FR" dirty="0"/>
              <a:t>Stratégie visant à réunir différents mouvements autour d'un objectif commun. </a:t>
            </a:r>
          </a:p>
          <a:p>
            <a:pPr marL="0" indent="0">
              <a:buNone/>
            </a:pPr>
            <a:endParaRPr lang="fr-FR" dirty="0"/>
          </a:p>
        </p:txBody>
      </p:sp>
      <p:sp>
        <p:nvSpPr>
          <p:cNvPr id="2" name="Espace réservé du numéro de diapositive 1">
            <a:extLst>
              <a:ext uri="{FF2B5EF4-FFF2-40B4-BE49-F238E27FC236}">
                <a16:creationId xmlns:a16="http://schemas.microsoft.com/office/drawing/2014/main" id="{D0D0660A-5F6A-8594-A700-C2F3E97AB315}"/>
              </a:ext>
            </a:extLst>
          </p:cNvPr>
          <p:cNvSpPr>
            <a:spLocks noGrp="1"/>
          </p:cNvSpPr>
          <p:nvPr>
            <p:ph type="sldNum" sz="quarter" idx="12"/>
          </p:nvPr>
        </p:nvSpPr>
        <p:spPr/>
        <p:txBody>
          <a:bodyPr/>
          <a:lstStyle/>
          <a:p>
            <a:fld id="{49DB4E91-02F2-4120-BFDC-D5317FE06960}" type="slidenum">
              <a:rPr lang="fr-FR" smtClean="0"/>
              <a:t>66</a:t>
            </a:fld>
            <a:endParaRPr lang="fr-FR"/>
          </a:p>
        </p:txBody>
      </p:sp>
    </p:spTree>
    <p:extLst>
      <p:ext uri="{BB962C8B-B14F-4D97-AF65-F5344CB8AC3E}">
        <p14:creationId xmlns:p14="http://schemas.microsoft.com/office/powerpoint/2010/main" val="15110632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DA79449-F2DD-0FF4-C707-4E533405EFA4}"/>
              </a:ext>
            </a:extLst>
          </p:cNvPr>
          <p:cNvSpPr>
            <a:spLocks noGrp="1"/>
          </p:cNvSpPr>
          <p:nvPr>
            <p:ph idx="1"/>
          </p:nvPr>
        </p:nvSpPr>
        <p:spPr>
          <a:xfrm>
            <a:off x="838200" y="815926"/>
            <a:ext cx="10515600" cy="5361037"/>
          </a:xfrm>
        </p:spPr>
        <p:txBody>
          <a:bodyPr>
            <a:normAutofit/>
          </a:bodyPr>
          <a:lstStyle/>
          <a:p>
            <a:pPr marL="1485900" lvl="2" indent="-571500">
              <a:buFont typeface="+mj-lt"/>
              <a:buAutoNum type="romanLcPeriod" startAt="23"/>
            </a:pPr>
            <a:r>
              <a:rPr lang="fr-FR" sz="3000" dirty="0"/>
              <a:t>Le conditionnel</a:t>
            </a:r>
          </a:p>
          <a:p>
            <a:pPr marL="0" indent="0">
              <a:buNone/>
            </a:pPr>
            <a:r>
              <a:rPr lang="fr-FR" dirty="0"/>
              <a:t>Le conditionnel est un temps fondamental de la langue française, situé à la frontière entre le </a:t>
            </a:r>
            <a:r>
              <a:rPr lang="fr-FR" b="1" dirty="0"/>
              <a:t>temps</a:t>
            </a:r>
            <a:r>
              <a:rPr lang="fr-FR" dirty="0"/>
              <a:t>, le </a:t>
            </a:r>
            <a:r>
              <a:rPr lang="fr-FR" b="1" dirty="0"/>
              <a:t>mode</a:t>
            </a:r>
            <a:r>
              <a:rPr lang="fr-FR" dirty="0"/>
              <a:t> et l’</a:t>
            </a:r>
            <a:r>
              <a:rPr lang="fr-FR" b="1" dirty="0"/>
              <a:t>attitude énonciative</a:t>
            </a:r>
            <a:r>
              <a:rPr lang="fr-FR" dirty="0"/>
              <a:t>. Il ne sert pas seulement à exprimer une condition, mais aussi la </a:t>
            </a:r>
            <a:r>
              <a:rPr lang="fr-FR" b="1" dirty="0"/>
              <a:t>prudence</a:t>
            </a:r>
            <a:r>
              <a:rPr lang="fr-FR" dirty="0"/>
              <a:t>, la </a:t>
            </a:r>
            <a:r>
              <a:rPr lang="fr-FR" b="1" dirty="0"/>
              <a:t>distance</a:t>
            </a:r>
            <a:r>
              <a:rPr lang="fr-FR" dirty="0"/>
              <a:t>, la </a:t>
            </a:r>
            <a:r>
              <a:rPr lang="fr-FR" b="1" dirty="0"/>
              <a:t>politesse</a:t>
            </a:r>
            <a:r>
              <a:rPr lang="fr-FR" dirty="0"/>
              <a:t>, l’</a:t>
            </a:r>
            <a:r>
              <a:rPr lang="fr-FR" b="1" dirty="0"/>
              <a:t>hypothèse</a:t>
            </a:r>
            <a:r>
              <a:rPr lang="fr-FR" dirty="0"/>
              <a:t>, le </a:t>
            </a:r>
            <a:r>
              <a:rPr lang="fr-FR" b="1" dirty="0"/>
              <a:t>doute</a:t>
            </a:r>
            <a:r>
              <a:rPr lang="fr-FR" dirty="0"/>
              <a:t>, ou encore l’</a:t>
            </a:r>
            <a:r>
              <a:rPr lang="fr-FR" b="1" dirty="0"/>
              <a:t>irréel</a:t>
            </a:r>
            <a:r>
              <a:rPr lang="fr-FR" dirty="0"/>
              <a:t>. Le conditionnel est aussi un </a:t>
            </a:r>
            <a:r>
              <a:rPr lang="fr-FR" b="1" dirty="0"/>
              <a:t>outil de nuance et de positionnement intellectuel</a:t>
            </a:r>
            <a:r>
              <a:rPr lang="fr-FR" dirty="0"/>
              <a:t>.</a:t>
            </a:r>
          </a:p>
          <a:p>
            <a:pPr marL="0" indent="0">
              <a:buNone/>
            </a:pPr>
            <a:endParaRPr lang="fr-FR" dirty="0"/>
          </a:p>
        </p:txBody>
      </p:sp>
      <p:sp>
        <p:nvSpPr>
          <p:cNvPr id="2" name="Espace réservé du numéro de diapositive 1">
            <a:extLst>
              <a:ext uri="{FF2B5EF4-FFF2-40B4-BE49-F238E27FC236}">
                <a16:creationId xmlns:a16="http://schemas.microsoft.com/office/drawing/2014/main" id="{6024754E-65FB-73A0-68B0-F61990CDF89B}"/>
              </a:ext>
            </a:extLst>
          </p:cNvPr>
          <p:cNvSpPr>
            <a:spLocks noGrp="1"/>
          </p:cNvSpPr>
          <p:nvPr>
            <p:ph type="sldNum" sz="quarter" idx="12"/>
          </p:nvPr>
        </p:nvSpPr>
        <p:spPr/>
        <p:txBody>
          <a:bodyPr/>
          <a:lstStyle/>
          <a:p>
            <a:fld id="{49DB4E91-02F2-4120-BFDC-D5317FE06960}" type="slidenum">
              <a:rPr lang="fr-FR" smtClean="0"/>
              <a:t>67</a:t>
            </a:fld>
            <a:endParaRPr lang="fr-FR"/>
          </a:p>
        </p:txBody>
      </p:sp>
    </p:spTree>
    <p:extLst>
      <p:ext uri="{BB962C8B-B14F-4D97-AF65-F5344CB8AC3E}">
        <p14:creationId xmlns:p14="http://schemas.microsoft.com/office/powerpoint/2010/main" val="7719840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D527CD0-0A68-2209-9E76-F9BBD53DCCAD}"/>
              </a:ext>
            </a:extLst>
          </p:cNvPr>
          <p:cNvSpPr>
            <a:spLocks noGrp="1"/>
          </p:cNvSpPr>
          <p:nvPr>
            <p:ph idx="1"/>
          </p:nvPr>
        </p:nvSpPr>
        <p:spPr>
          <a:xfrm>
            <a:off x="838200" y="618978"/>
            <a:ext cx="10515600" cy="5557985"/>
          </a:xfrm>
        </p:spPr>
        <p:txBody>
          <a:bodyPr/>
          <a:lstStyle/>
          <a:p>
            <a:pPr marL="0" indent="0">
              <a:buNone/>
            </a:pPr>
            <a:r>
              <a:rPr lang="fr-FR" u="sng" dirty="0"/>
              <a:t>Le conditionnel présent : hypothèse, atténuation et politesse</a:t>
            </a:r>
          </a:p>
          <a:p>
            <a:pPr marL="0" indent="0">
              <a:buNone/>
            </a:pPr>
            <a:r>
              <a:rPr lang="fr-FR" dirty="0"/>
              <a:t>Le </a:t>
            </a:r>
            <a:r>
              <a:rPr lang="fr-FR" b="1" dirty="0"/>
              <a:t>conditionnel présent</a:t>
            </a:r>
            <a:r>
              <a:rPr lang="fr-FR" dirty="0"/>
              <a:t> exprime une action envisagée comme </a:t>
            </a:r>
            <a:r>
              <a:rPr lang="fr-FR" b="1" dirty="0"/>
              <a:t>possible</a:t>
            </a:r>
            <a:r>
              <a:rPr lang="fr-FR" dirty="0"/>
              <a:t>, mais </a:t>
            </a:r>
            <a:r>
              <a:rPr lang="fr-FR" b="1" dirty="0"/>
              <a:t>non certaine</a:t>
            </a:r>
            <a:r>
              <a:rPr lang="fr-FR" dirty="0"/>
              <a:t>, dépendante d’une condition explicite ou implicite.</a:t>
            </a:r>
          </a:p>
          <a:p>
            <a:pPr marL="0" indent="0">
              <a:buNone/>
            </a:pPr>
            <a:r>
              <a:rPr lang="fr-FR" i="1" dirty="0"/>
              <a:t>	Exemples d’hypothèse :</a:t>
            </a:r>
          </a:p>
          <a:p>
            <a:pPr marL="0" indent="0">
              <a:buNone/>
            </a:pPr>
            <a:r>
              <a:rPr lang="fr-FR" dirty="0"/>
              <a:t>	« Je viendrais si j’avais plus de temps. »</a:t>
            </a:r>
          </a:p>
          <a:p>
            <a:pPr marL="0" indent="0">
              <a:buNone/>
            </a:pPr>
            <a:r>
              <a:rPr lang="fr-FR" dirty="0"/>
              <a:t>	« À sa place, je refuserais cette proposition. »</a:t>
            </a:r>
          </a:p>
          <a:p>
            <a:pPr marL="0" indent="0">
              <a:buNone/>
            </a:pPr>
            <a:r>
              <a:rPr lang="fr-FR" dirty="0">
                <a:effectLst>
                  <a:outerShdw blurRad="38100" dist="38100" dir="2700000" algn="tl">
                    <a:srgbClr val="000000">
                      <a:alpha val="43137"/>
                    </a:srgbClr>
                  </a:outerShdw>
                </a:effectLst>
              </a:rPr>
              <a:t>Valeur d’atténuation et de prudence (très utilisée à l’écrit académique et journalistique) :</a:t>
            </a:r>
          </a:p>
          <a:p>
            <a:pPr marL="0" indent="0">
              <a:buNone/>
            </a:pPr>
            <a:r>
              <a:rPr lang="fr-FR" dirty="0"/>
              <a:t>« Cette théorie serait discutable. »</a:t>
            </a:r>
          </a:p>
          <a:p>
            <a:pPr marL="0" indent="0">
              <a:buNone/>
            </a:pPr>
            <a:r>
              <a:rPr lang="fr-FR" dirty="0"/>
              <a:t>« Il semblerait que les résultats soient incomplets. »</a:t>
            </a:r>
          </a:p>
          <a:p>
            <a:pPr marL="0" indent="0">
              <a:buNone/>
            </a:pPr>
            <a:endParaRPr lang="fr-FR" dirty="0"/>
          </a:p>
          <a:p>
            <a:pPr marL="0" indent="0">
              <a:buNone/>
            </a:pPr>
            <a:endParaRPr lang="fr-FR" dirty="0"/>
          </a:p>
        </p:txBody>
      </p:sp>
      <p:sp>
        <p:nvSpPr>
          <p:cNvPr id="2" name="Espace réservé du numéro de diapositive 1">
            <a:extLst>
              <a:ext uri="{FF2B5EF4-FFF2-40B4-BE49-F238E27FC236}">
                <a16:creationId xmlns:a16="http://schemas.microsoft.com/office/drawing/2014/main" id="{9AC2B80E-2E85-4C91-61E8-E62CBC783948}"/>
              </a:ext>
            </a:extLst>
          </p:cNvPr>
          <p:cNvSpPr>
            <a:spLocks noGrp="1"/>
          </p:cNvSpPr>
          <p:nvPr>
            <p:ph type="sldNum" sz="quarter" idx="12"/>
          </p:nvPr>
        </p:nvSpPr>
        <p:spPr/>
        <p:txBody>
          <a:bodyPr/>
          <a:lstStyle/>
          <a:p>
            <a:fld id="{49DB4E91-02F2-4120-BFDC-D5317FE06960}" type="slidenum">
              <a:rPr lang="fr-FR" smtClean="0"/>
              <a:t>68</a:t>
            </a:fld>
            <a:endParaRPr lang="fr-FR"/>
          </a:p>
        </p:txBody>
      </p:sp>
    </p:spTree>
    <p:extLst>
      <p:ext uri="{BB962C8B-B14F-4D97-AF65-F5344CB8AC3E}">
        <p14:creationId xmlns:p14="http://schemas.microsoft.com/office/powerpoint/2010/main" val="28480032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20FCEE8-AF27-3716-03E3-84E4B402B3A5}"/>
              </a:ext>
            </a:extLst>
          </p:cNvPr>
          <p:cNvSpPr>
            <a:spLocks noGrp="1"/>
          </p:cNvSpPr>
          <p:nvPr>
            <p:ph idx="1"/>
          </p:nvPr>
        </p:nvSpPr>
        <p:spPr>
          <a:xfrm>
            <a:off x="838200" y="844062"/>
            <a:ext cx="10515600" cy="5332901"/>
          </a:xfrm>
        </p:spPr>
        <p:txBody>
          <a:bodyPr/>
          <a:lstStyle/>
          <a:p>
            <a:pPr marL="0" indent="0">
              <a:buNone/>
            </a:pPr>
            <a:r>
              <a:rPr lang="fr-FR" dirty="0">
                <a:effectLst>
                  <a:outerShdw blurRad="38100" dist="38100" dir="2700000" algn="tl">
                    <a:srgbClr val="000000">
                      <a:alpha val="43137"/>
                    </a:srgbClr>
                  </a:outerShdw>
                </a:effectLst>
              </a:rPr>
              <a:t>Valeur de politesse ou de suggestion :</a:t>
            </a:r>
          </a:p>
          <a:p>
            <a:pPr marL="0" indent="0">
              <a:buNone/>
            </a:pPr>
            <a:r>
              <a:rPr lang="fr-FR" dirty="0"/>
              <a:t>« Je souhaiterais vous poser une question. »</a:t>
            </a:r>
          </a:p>
          <a:p>
            <a:pPr marL="0" indent="0">
              <a:buNone/>
            </a:pPr>
            <a:r>
              <a:rPr lang="fr-FR" dirty="0"/>
              <a:t>« Pourriez-vous reformuler votre argument ? »</a:t>
            </a:r>
          </a:p>
          <a:p>
            <a:pPr marL="0" indent="0">
              <a:buNone/>
            </a:pPr>
            <a:r>
              <a:rPr lang="fr-FR" u="sng" dirty="0"/>
              <a:t>Le conditionnel passé : irréel du passé et regret</a:t>
            </a:r>
          </a:p>
          <a:p>
            <a:pPr marL="0" indent="0">
              <a:buNone/>
            </a:pPr>
            <a:r>
              <a:rPr lang="fr-FR" dirty="0"/>
              <a:t>Le </a:t>
            </a:r>
            <a:r>
              <a:rPr lang="fr-FR" b="1" dirty="0"/>
              <a:t>conditionnel passé</a:t>
            </a:r>
            <a:r>
              <a:rPr lang="fr-FR" dirty="0"/>
              <a:t> exprime une action </a:t>
            </a:r>
            <a:r>
              <a:rPr lang="fr-FR" b="1" dirty="0"/>
              <a:t>non réalisée dans le passé</a:t>
            </a:r>
            <a:r>
              <a:rPr lang="fr-FR" dirty="0"/>
              <a:t>, souvent associée au </a:t>
            </a:r>
            <a:r>
              <a:rPr lang="fr-FR" b="1" dirty="0"/>
              <a:t>regret</a:t>
            </a:r>
            <a:r>
              <a:rPr lang="fr-FR" dirty="0"/>
              <a:t>, au </a:t>
            </a:r>
            <a:r>
              <a:rPr lang="fr-FR" b="1" dirty="0"/>
              <a:t>reproche</a:t>
            </a:r>
            <a:r>
              <a:rPr lang="fr-FR" dirty="0"/>
              <a:t> ou à l’</a:t>
            </a:r>
            <a:r>
              <a:rPr lang="fr-FR" b="1" dirty="0"/>
              <a:t>irréel</a:t>
            </a:r>
            <a:r>
              <a:rPr lang="fr-FR" dirty="0"/>
              <a:t>.</a:t>
            </a:r>
          </a:p>
          <a:p>
            <a:pPr marL="0" indent="0">
              <a:buNone/>
            </a:pPr>
            <a:r>
              <a:rPr lang="fr-FR" dirty="0">
                <a:effectLst>
                  <a:outerShdw blurRad="38100" dist="38100" dir="2700000" algn="tl">
                    <a:srgbClr val="000000">
                      <a:alpha val="43137"/>
                    </a:srgbClr>
                  </a:outerShdw>
                </a:effectLst>
              </a:rPr>
              <a:t>Construction</a:t>
            </a:r>
            <a:r>
              <a:rPr lang="fr-FR" b="1" dirty="0"/>
              <a:t> :</a:t>
            </a:r>
            <a:br>
              <a:rPr lang="fr-FR" dirty="0"/>
            </a:br>
            <a:r>
              <a:rPr lang="fr-FR" dirty="0"/>
              <a:t>conditionnel présent de l’auxiliaire + participe passé</a:t>
            </a:r>
          </a:p>
          <a:p>
            <a:pPr marL="0" indent="0">
              <a:buNone/>
            </a:pPr>
            <a:r>
              <a:rPr lang="fr-FR" i="1" dirty="0"/>
              <a:t>	Exemples d’irréel du passé :</a:t>
            </a:r>
          </a:p>
          <a:p>
            <a:pPr marL="0" indent="0">
              <a:buNone/>
            </a:pPr>
            <a:r>
              <a:rPr lang="fr-FR" dirty="0"/>
              <a:t>	« J’aurais accepté si j’avais été informé plus tôt. »</a:t>
            </a:r>
          </a:p>
          <a:p>
            <a:pPr marL="0" indent="0">
              <a:buNone/>
            </a:pPr>
            <a:r>
              <a:rPr lang="fr-FR" dirty="0"/>
              <a:t>	« Il aurait réussi s’il avait mieux préparé son travail. »</a:t>
            </a:r>
          </a:p>
          <a:p>
            <a:pPr marL="0" indent="0">
              <a:buNone/>
            </a:pPr>
            <a:endParaRPr lang="fr-FR" dirty="0"/>
          </a:p>
          <a:p>
            <a:pPr marL="0" indent="0">
              <a:buNone/>
            </a:pPr>
            <a:endParaRPr lang="fr-FR" dirty="0"/>
          </a:p>
        </p:txBody>
      </p:sp>
      <p:sp>
        <p:nvSpPr>
          <p:cNvPr id="2" name="Espace réservé du numéro de diapositive 1">
            <a:extLst>
              <a:ext uri="{FF2B5EF4-FFF2-40B4-BE49-F238E27FC236}">
                <a16:creationId xmlns:a16="http://schemas.microsoft.com/office/drawing/2014/main" id="{364C59A5-EB7D-DE80-3BFF-F776AAE3E0FF}"/>
              </a:ext>
            </a:extLst>
          </p:cNvPr>
          <p:cNvSpPr>
            <a:spLocks noGrp="1"/>
          </p:cNvSpPr>
          <p:nvPr>
            <p:ph type="sldNum" sz="quarter" idx="12"/>
          </p:nvPr>
        </p:nvSpPr>
        <p:spPr/>
        <p:txBody>
          <a:bodyPr/>
          <a:lstStyle/>
          <a:p>
            <a:fld id="{49DB4E91-02F2-4120-BFDC-D5317FE06960}" type="slidenum">
              <a:rPr lang="fr-FR" smtClean="0"/>
              <a:t>69</a:t>
            </a:fld>
            <a:endParaRPr lang="fr-FR"/>
          </a:p>
        </p:txBody>
      </p:sp>
    </p:spTree>
    <p:extLst>
      <p:ext uri="{BB962C8B-B14F-4D97-AF65-F5344CB8AC3E}">
        <p14:creationId xmlns:p14="http://schemas.microsoft.com/office/powerpoint/2010/main" val="16342140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689CB36-419A-9E2F-AE63-9AEC85FB02CD}"/>
              </a:ext>
            </a:extLst>
          </p:cNvPr>
          <p:cNvSpPr>
            <a:spLocks noGrp="1"/>
          </p:cNvSpPr>
          <p:nvPr>
            <p:ph idx="1"/>
          </p:nvPr>
        </p:nvSpPr>
        <p:spPr>
          <a:xfrm>
            <a:off x="838200" y="773723"/>
            <a:ext cx="10515600" cy="5403240"/>
          </a:xfrm>
        </p:spPr>
        <p:txBody>
          <a:bodyPr/>
          <a:lstStyle/>
          <a:p>
            <a:pPr marL="0" indent="0">
              <a:buNone/>
            </a:pPr>
            <a:r>
              <a:rPr lang="fr-FR" dirty="0">
                <a:effectLst>
                  <a:outerShdw blurRad="38100" dist="38100" dir="2700000" algn="tl">
                    <a:srgbClr val="000000">
                      <a:alpha val="43137"/>
                    </a:srgbClr>
                  </a:outerShdw>
                </a:effectLst>
              </a:rPr>
              <a:t>Valeur affective (regret, reproche, justification) :</a:t>
            </a:r>
          </a:p>
          <a:p>
            <a:pPr marL="0" indent="0">
              <a:buNone/>
            </a:pPr>
            <a:r>
              <a:rPr lang="fr-FR" dirty="0"/>
              <a:t>« J’aurais aimé vous prévenir. »</a:t>
            </a:r>
          </a:p>
          <a:p>
            <a:pPr marL="0" indent="0">
              <a:buNone/>
            </a:pPr>
            <a:r>
              <a:rPr lang="fr-FR" dirty="0"/>
              <a:t>« Tu aurais pu me le dire. »</a:t>
            </a:r>
          </a:p>
          <a:p>
            <a:pPr marL="0" indent="0">
              <a:buNone/>
            </a:pPr>
            <a:endParaRPr lang="fr-FR" dirty="0"/>
          </a:p>
        </p:txBody>
      </p:sp>
      <p:sp>
        <p:nvSpPr>
          <p:cNvPr id="2" name="Espace réservé du numéro de diapositive 1">
            <a:extLst>
              <a:ext uri="{FF2B5EF4-FFF2-40B4-BE49-F238E27FC236}">
                <a16:creationId xmlns:a16="http://schemas.microsoft.com/office/drawing/2014/main" id="{123BFE74-40DB-289A-CBFF-66A95C75D2A0}"/>
              </a:ext>
            </a:extLst>
          </p:cNvPr>
          <p:cNvSpPr>
            <a:spLocks noGrp="1"/>
          </p:cNvSpPr>
          <p:nvPr>
            <p:ph type="sldNum" sz="quarter" idx="12"/>
          </p:nvPr>
        </p:nvSpPr>
        <p:spPr/>
        <p:txBody>
          <a:bodyPr/>
          <a:lstStyle/>
          <a:p>
            <a:fld id="{49DB4E91-02F2-4120-BFDC-D5317FE06960}" type="slidenum">
              <a:rPr lang="fr-FR" smtClean="0"/>
              <a:t>70</a:t>
            </a:fld>
            <a:endParaRPr lang="fr-FR"/>
          </a:p>
        </p:txBody>
      </p:sp>
    </p:spTree>
    <p:extLst>
      <p:ext uri="{BB962C8B-B14F-4D97-AF65-F5344CB8AC3E}">
        <p14:creationId xmlns:p14="http://schemas.microsoft.com/office/powerpoint/2010/main" val="29099920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D609B2A-6B1D-E588-F65A-206382A8147B}"/>
              </a:ext>
            </a:extLst>
          </p:cNvPr>
          <p:cNvSpPr>
            <a:spLocks noGrp="1"/>
          </p:cNvSpPr>
          <p:nvPr>
            <p:ph idx="1"/>
          </p:nvPr>
        </p:nvSpPr>
        <p:spPr>
          <a:xfrm>
            <a:off x="838200" y="689317"/>
            <a:ext cx="10515600" cy="5487646"/>
          </a:xfrm>
        </p:spPr>
        <p:txBody>
          <a:bodyPr>
            <a:normAutofit fontScale="92500" lnSpcReduction="20000"/>
          </a:bodyPr>
          <a:lstStyle/>
          <a:p>
            <a:pPr marL="1485900" lvl="2" indent="-571500">
              <a:buFont typeface="+mj-lt"/>
              <a:buAutoNum type="romanLcPeriod" startAt="24"/>
            </a:pPr>
            <a:r>
              <a:rPr lang="fr-FR" sz="3000" dirty="0"/>
              <a:t>Les articulateurs logiques : la condition – les hypothèses avec si – l’expression du reproche – l’expression du regret</a:t>
            </a:r>
          </a:p>
          <a:p>
            <a:pPr marL="0" indent="0">
              <a:buNone/>
            </a:pPr>
            <a:r>
              <a:rPr lang="fr-FR" dirty="0"/>
              <a:t>Les articulateurs logiques permettent d’</a:t>
            </a:r>
            <a:r>
              <a:rPr lang="fr-FR" b="1" dirty="0"/>
              <a:t>organiser le raisonnement</a:t>
            </a:r>
            <a:r>
              <a:rPr lang="fr-FR" dirty="0"/>
              <a:t>, d’</a:t>
            </a:r>
            <a:r>
              <a:rPr lang="fr-FR" b="1" dirty="0"/>
              <a:t>établir des liens de cause</a:t>
            </a:r>
            <a:r>
              <a:rPr lang="fr-FR" dirty="0"/>
              <a:t>,</a:t>
            </a:r>
            <a:r>
              <a:rPr lang="fr-FR" b="1" dirty="0"/>
              <a:t> de condition </a:t>
            </a:r>
            <a:r>
              <a:rPr lang="fr-FR" dirty="0"/>
              <a:t>ou</a:t>
            </a:r>
            <a:r>
              <a:rPr lang="fr-FR" b="1" dirty="0"/>
              <a:t> de conséquence, </a:t>
            </a:r>
            <a:r>
              <a:rPr lang="fr-FR" dirty="0"/>
              <a:t>mais aussi d’</a:t>
            </a:r>
            <a:r>
              <a:rPr lang="fr-FR" b="1" dirty="0"/>
              <a:t>exprimer une attitude subjective comme le reproche ou le regret. </a:t>
            </a:r>
            <a:r>
              <a:rPr lang="fr-FR" dirty="0"/>
              <a:t>Leur maîtrise est essentielle pour </a:t>
            </a:r>
            <a:r>
              <a:rPr lang="fr-FR" b="1" dirty="0"/>
              <a:t>produire un discours clair, nuancé et argumenté</a:t>
            </a:r>
            <a:r>
              <a:rPr lang="fr-FR" dirty="0"/>
              <a:t>, notamment à l’écrit académique et analytique.</a:t>
            </a:r>
          </a:p>
          <a:p>
            <a:pPr marL="0" indent="0">
              <a:buNone/>
            </a:pPr>
            <a:r>
              <a:rPr lang="fr-FR" u="sng" dirty="0"/>
              <a:t>La condition et l’hypothèse avec si</a:t>
            </a:r>
          </a:p>
          <a:p>
            <a:pPr marL="0" indent="0">
              <a:buNone/>
            </a:pPr>
            <a:r>
              <a:rPr lang="fr-FR" dirty="0"/>
              <a:t>La conjonction </a:t>
            </a:r>
            <a:r>
              <a:rPr lang="fr-FR" b="1" dirty="0"/>
              <a:t>si</a:t>
            </a:r>
            <a:r>
              <a:rPr lang="fr-FR" dirty="0"/>
              <a:t> est l’outil central pour exprimer la condition et l’hypothèse. Selon le degré de réalisation de la condition, on distingue plusieurs structures.</a:t>
            </a:r>
          </a:p>
          <a:p>
            <a:pPr marL="0" indent="0">
              <a:buNone/>
            </a:pPr>
            <a:r>
              <a:rPr lang="fr-FR" dirty="0">
                <a:effectLst>
                  <a:outerShdw blurRad="38100" dist="38100" dir="2700000" algn="tl">
                    <a:srgbClr val="000000">
                      <a:alpha val="43137"/>
                    </a:srgbClr>
                  </a:outerShdw>
                </a:effectLst>
              </a:rPr>
              <a:t>Condition réelle ou possible (présent + futur / présent)</a:t>
            </a:r>
            <a:br>
              <a:rPr lang="fr-FR" dirty="0"/>
            </a:br>
            <a:r>
              <a:rPr lang="fr-FR" dirty="0"/>
              <a:t>La condition est envisageable, réaliste.</a:t>
            </a:r>
          </a:p>
          <a:p>
            <a:pPr marL="0" indent="0">
              <a:buNone/>
            </a:pPr>
            <a:r>
              <a:rPr lang="fr-FR" dirty="0"/>
              <a:t>« Si tu travailles régulièrement, tu réussiras. »</a:t>
            </a:r>
          </a:p>
          <a:p>
            <a:pPr marL="0" indent="0">
              <a:buNone/>
            </a:pPr>
            <a:r>
              <a:rPr lang="fr-FR" dirty="0"/>
              <a:t>« Si l’on analyse ce texte attentivement, on comprend mieux son sens</a:t>
            </a:r>
            <a:r>
              <a:rPr lang="fr-FR" i="1" dirty="0"/>
              <a:t>. »</a:t>
            </a:r>
            <a:endParaRPr lang="fr-FR" dirty="0"/>
          </a:p>
          <a:p>
            <a:pPr marL="0" indent="0">
              <a:buNone/>
            </a:pPr>
            <a:endParaRPr lang="fr-FR" dirty="0"/>
          </a:p>
        </p:txBody>
      </p:sp>
      <p:sp>
        <p:nvSpPr>
          <p:cNvPr id="2" name="Espace réservé du numéro de diapositive 1">
            <a:extLst>
              <a:ext uri="{FF2B5EF4-FFF2-40B4-BE49-F238E27FC236}">
                <a16:creationId xmlns:a16="http://schemas.microsoft.com/office/drawing/2014/main" id="{72829012-5714-0DC8-23F9-F960E3A8B618}"/>
              </a:ext>
            </a:extLst>
          </p:cNvPr>
          <p:cNvSpPr>
            <a:spLocks noGrp="1"/>
          </p:cNvSpPr>
          <p:nvPr>
            <p:ph type="sldNum" sz="quarter" idx="12"/>
          </p:nvPr>
        </p:nvSpPr>
        <p:spPr/>
        <p:txBody>
          <a:bodyPr/>
          <a:lstStyle/>
          <a:p>
            <a:fld id="{49DB4E91-02F2-4120-BFDC-D5317FE06960}" type="slidenum">
              <a:rPr lang="fr-FR" smtClean="0"/>
              <a:t>71</a:t>
            </a:fld>
            <a:endParaRPr lang="fr-FR"/>
          </a:p>
        </p:txBody>
      </p:sp>
    </p:spTree>
    <p:extLst>
      <p:ext uri="{BB962C8B-B14F-4D97-AF65-F5344CB8AC3E}">
        <p14:creationId xmlns:p14="http://schemas.microsoft.com/office/powerpoint/2010/main" val="52915919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AF04976-E087-59EB-7775-D030DEF366A4}"/>
              </a:ext>
            </a:extLst>
          </p:cNvPr>
          <p:cNvSpPr>
            <a:spLocks noGrp="1"/>
          </p:cNvSpPr>
          <p:nvPr>
            <p:ph idx="1"/>
          </p:nvPr>
        </p:nvSpPr>
        <p:spPr>
          <a:xfrm>
            <a:off x="838200" y="703385"/>
            <a:ext cx="10515600" cy="5473578"/>
          </a:xfrm>
        </p:spPr>
        <p:txBody>
          <a:bodyPr>
            <a:normAutofit lnSpcReduction="10000"/>
          </a:bodyPr>
          <a:lstStyle/>
          <a:p>
            <a:pPr marL="0" indent="0">
              <a:buNone/>
            </a:pPr>
            <a:r>
              <a:rPr lang="fr-FR" dirty="0">
                <a:effectLst>
                  <a:outerShdw blurRad="38100" dist="38100" dir="2700000" algn="tl">
                    <a:srgbClr val="000000">
                      <a:alpha val="43137"/>
                    </a:srgbClr>
                  </a:outerShdw>
                </a:effectLst>
              </a:rPr>
              <a:t>Hypothèse irréelle du présent (imparfait + conditionnel présent)</a:t>
            </a:r>
            <a:br>
              <a:rPr lang="fr-FR" dirty="0"/>
            </a:br>
            <a:r>
              <a:rPr lang="fr-FR" dirty="0"/>
              <a:t>La condition est imaginaire ou peu probable.</a:t>
            </a:r>
          </a:p>
          <a:p>
            <a:pPr marL="0" indent="0">
              <a:buNone/>
            </a:pPr>
            <a:r>
              <a:rPr lang="fr-FR" dirty="0"/>
              <a:t>« Si j’avais plus de temps, je lirais davantage. »</a:t>
            </a:r>
          </a:p>
          <a:p>
            <a:pPr marL="0" indent="0">
              <a:buNone/>
            </a:pPr>
            <a:r>
              <a:rPr lang="fr-FR" dirty="0"/>
              <a:t>« Si cette théorie était valide, elle expliquerait ce phénomène. »</a:t>
            </a:r>
          </a:p>
          <a:p>
            <a:pPr marL="0" indent="0">
              <a:buNone/>
            </a:pPr>
            <a:r>
              <a:rPr lang="fr-FR" dirty="0">
                <a:effectLst>
                  <a:outerShdw blurRad="38100" dist="38100" dir="2700000" algn="tl">
                    <a:srgbClr val="000000">
                      <a:alpha val="43137"/>
                    </a:srgbClr>
                  </a:outerShdw>
                </a:effectLst>
              </a:rPr>
              <a:t>Hypothèse irréelle du passé (plus-que-parfait + conditionnel passé)</a:t>
            </a:r>
            <a:br>
              <a:rPr lang="fr-FR" dirty="0">
                <a:effectLst>
                  <a:outerShdw blurRad="38100" dist="38100" dir="2700000" algn="tl">
                    <a:srgbClr val="000000">
                      <a:alpha val="43137"/>
                    </a:srgbClr>
                  </a:outerShdw>
                </a:effectLst>
              </a:rPr>
            </a:br>
            <a:r>
              <a:rPr lang="fr-FR" dirty="0"/>
              <a:t>La condition n’a pas été réalisée dans le passé.</a:t>
            </a:r>
          </a:p>
          <a:p>
            <a:pPr marL="0" indent="0">
              <a:buNone/>
            </a:pPr>
            <a:r>
              <a:rPr lang="fr-FR" dirty="0"/>
              <a:t>« Si j’avais su, j’aurais agi autrement. »</a:t>
            </a:r>
          </a:p>
          <a:p>
            <a:pPr marL="0" indent="0">
              <a:buNone/>
            </a:pPr>
            <a:r>
              <a:rPr lang="fr-FR" dirty="0"/>
              <a:t>« Si l’auteur avait choisi un autre point de vue, le roman aurait changé de portée. »</a:t>
            </a:r>
          </a:p>
          <a:p>
            <a:pPr marL="0" indent="0">
              <a:buNone/>
            </a:pPr>
            <a:r>
              <a:rPr lang="fr-FR" u="sng" dirty="0"/>
              <a:t>L’expression du reproche</a:t>
            </a:r>
          </a:p>
          <a:p>
            <a:pPr marL="0" indent="0">
              <a:buNone/>
            </a:pPr>
            <a:r>
              <a:rPr lang="fr-FR" dirty="0"/>
              <a:t>Le reproche consiste à souligner une action jugée insuffisante, incorrecte ou non réalisée. Il implique souvent une </a:t>
            </a:r>
            <a:r>
              <a:rPr lang="fr-FR" b="1" dirty="0"/>
              <a:t>évaluation négative</a:t>
            </a:r>
            <a:r>
              <a:rPr lang="fr-FR" dirty="0"/>
              <a:t>, explicite ou implicite.</a:t>
            </a:r>
          </a:p>
          <a:p>
            <a:pPr marL="0" indent="0">
              <a:buNone/>
            </a:pPr>
            <a:endParaRPr lang="fr-FR" dirty="0"/>
          </a:p>
          <a:p>
            <a:pPr marL="0" indent="0">
              <a:buNone/>
            </a:pPr>
            <a:endParaRPr lang="fr-FR" dirty="0"/>
          </a:p>
        </p:txBody>
      </p:sp>
      <p:sp>
        <p:nvSpPr>
          <p:cNvPr id="2" name="Espace réservé du numéro de diapositive 1">
            <a:extLst>
              <a:ext uri="{FF2B5EF4-FFF2-40B4-BE49-F238E27FC236}">
                <a16:creationId xmlns:a16="http://schemas.microsoft.com/office/drawing/2014/main" id="{2B2DFDE9-9361-918F-399F-2752B7A470BD}"/>
              </a:ext>
            </a:extLst>
          </p:cNvPr>
          <p:cNvSpPr>
            <a:spLocks noGrp="1"/>
          </p:cNvSpPr>
          <p:nvPr>
            <p:ph type="sldNum" sz="quarter" idx="12"/>
          </p:nvPr>
        </p:nvSpPr>
        <p:spPr/>
        <p:txBody>
          <a:bodyPr/>
          <a:lstStyle/>
          <a:p>
            <a:fld id="{49DB4E91-02F2-4120-BFDC-D5317FE06960}" type="slidenum">
              <a:rPr lang="fr-FR" smtClean="0"/>
              <a:t>72</a:t>
            </a:fld>
            <a:endParaRPr lang="fr-FR"/>
          </a:p>
        </p:txBody>
      </p:sp>
    </p:spTree>
    <p:extLst>
      <p:ext uri="{BB962C8B-B14F-4D97-AF65-F5344CB8AC3E}">
        <p14:creationId xmlns:p14="http://schemas.microsoft.com/office/powerpoint/2010/main" val="18271642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5A6AB27-53D0-5283-96ED-2B464C6AB9B5}"/>
              </a:ext>
            </a:extLst>
          </p:cNvPr>
          <p:cNvSpPr>
            <a:spLocks noGrp="1"/>
          </p:cNvSpPr>
          <p:nvPr>
            <p:ph idx="1"/>
          </p:nvPr>
        </p:nvSpPr>
        <p:spPr>
          <a:xfrm>
            <a:off x="838200" y="689317"/>
            <a:ext cx="10515600" cy="5487646"/>
          </a:xfrm>
        </p:spPr>
        <p:txBody>
          <a:bodyPr/>
          <a:lstStyle/>
          <a:p>
            <a:pPr marL="0" indent="0">
              <a:buNone/>
            </a:pPr>
            <a:r>
              <a:rPr lang="fr-FR" dirty="0">
                <a:effectLst>
                  <a:outerShdw blurRad="38100" dist="38100" dir="2700000" algn="tl">
                    <a:srgbClr val="000000">
                      <a:alpha val="43137"/>
                    </a:srgbClr>
                  </a:outerShdw>
                </a:effectLst>
              </a:rPr>
              <a:t>Articulateurs et structures fréquents :</a:t>
            </a:r>
          </a:p>
          <a:p>
            <a:r>
              <a:rPr lang="fr-FR" b="1" dirty="0"/>
              <a:t>Tu aurais pu / dû + infinitif</a:t>
            </a:r>
            <a:br>
              <a:rPr lang="fr-FR" dirty="0"/>
            </a:br>
            <a:r>
              <a:rPr lang="fr-FR" dirty="0"/>
              <a:t>« Tu aurais pu me prévenir. »</a:t>
            </a:r>
          </a:p>
          <a:p>
            <a:r>
              <a:rPr lang="fr-FR" b="1" dirty="0"/>
              <a:t>Il ne fallait pas / Il fallait</a:t>
            </a:r>
            <a:br>
              <a:rPr lang="fr-FR" dirty="0"/>
            </a:br>
            <a:r>
              <a:rPr lang="fr-FR" dirty="0"/>
              <a:t>« Il ne fallait pas répondre de cette manière. »</a:t>
            </a:r>
          </a:p>
          <a:p>
            <a:r>
              <a:rPr lang="fr-FR" b="1" dirty="0"/>
              <a:t>Si + plus-que-parfait (reproche indirect)</a:t>
            </a:r>
            <a:br>
              <a:rPr lang="fr-FR" dirty="0"/>
            </a:br>
            <a:r>
              <a:rPr lang="fr-FR" dirty="0"/>
              <a:t>« Si tu avais écouté les consignes, tu n’en serais pas là. »</a:t>
            </a:r>
          </a:p>
          <a:p>
            <a:pPr marL="0" indent="0">
              <a:buNone/>
            </a:pPr>
            <a:r>
              <a:rPr lang="fr-FR" u="sng" dirty="0"/>
              <a:t>L’expression du regret</a:t>
            </a:r>
          </a:p>
          <a:p>
            <a:pPr marL="0" indent="0">
              <a:buNone/>
            </a:pPr>
            <a:r>
              <a:rPr lang="fr-FR" dirty="0"/>
              <a:t>Le regret exprime une </a:t>
            </a:r>
            <a:r>
              <a:rPr lang="fr-FR" b="1" dirty="0"/>
              <a:t>prise de conscience tardive</a:t>
            </a:r>
            <a:r>
              <a:rPr lang="fr-FR" dirty="0"/>
              <a:t>, souvent tournée vers le passé, et implique une forme de distance réflexive.</a:t>
            </a:r>
          </a:p>
          <a:p>
            <a:pPr marL="0" indent="0">
              <a:buNone/>
            </a:pPr>
            <a:endParaRPr lang="fr-FR" dirty="0"/>
          </a:p>
          <a:p>
            <a:pPr marL="0" indent="0">
              <a:buNone/>
            </a:pPr>
            <a:endParaRPr lang="fr-FR" dirty="0"/>
          </a:p>
        </p:txBody>
      </p:sp>
      <p:sp>
        <p:nvSpPr>
          <p:cNvPr id="2" name="Espace réservé du numéro de diapositive 1">
            <a:extLst>
              <a:ext uri="{FF2B5EF4-FFF2-40B4-BE49-F238E27FC236}">
                <a16:creationId xmlns:a16="http://schemas.microsoft.com/office/drawing/2014/main" id="{220169AE-7907-0EB1-4F00-0812786ED4D1}"/>
              </a:ext>
            </a:extLst>
          </p:cNvPr>
          <p:cNvSpPr>
            <a:spLocks noGrp="1"/>
          </p:cNvSpPr>
          <p:nvPr>
            <p:ph type="sldNum" sz="quarter" idx="12"/>
          </p:nvPr>
        </p:nvSpPr>
        <p:spPr/>
        <p:txBody>
          <a:bodyPr/>
          <a:lstStyle/>
          <a:p>
            <a:fld id="{49DB4E91-02F2-4120-BFDC-D5317FE06960}" type="slidenum">
              <a:rPr lang="fr-FR" smtClean="0"/>
              <a:t>73</a:t>
            </a:fld>
            <a:endParaRPr lang="fr-FR"/>
          </a:p>
        </p:txBody>
      </p:sp>
    </p:spTree>
    <p:extLst>
      <p:ext uri="{BB962C8B-B14F-4D97-AF65-F5344CB8AC3E}">
        <p14:creationId xmlns:p14="http://schemas.microsoft.com/office/powerpoint/2010/main" val="29757643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5F3A5D3-4DAD-930E-5F5E-665E19A20555}"/>
              </a:ext>
            </a:extLst>
          </p:cNvPr>
          <p:cNvSpPr>
            <a:spLocks noGrp="1"/>
          </p:cNvSpPr>
          <p:nvPr>
            <p:ph idx="1"/>
          </p:nvPr>
        </p:nvSpPr>
        <p:spPr>
          <a:xfrm>
            <a:off x="838200" y="548640"/>
            <a:ext cx="10515600" cy="5628323"/>
          </a:xfrm>
        </p:spPr>
        <p:txBody>
          <a:bodyPr>
            <a:normAutofit lnSpcReduction="10000"/>
          </a:bodyPr>
          <a:lstStyle/>
          <a:p>
            <a:pPr marL="0" indent="0">
              <a:buNone/>
            </a:pPr>
            <a:r>
              <a:rPr lang="fr-FR" dirty="0">
                <a:effectLst>
                  <a:outerShdw blurRad="38100" dist="38100" dir="2700000" algn="tl">
                    <a:srgbClr val="000000">
                      <a:alpha val="43137"/>
                    </a:srgbClr>
                  </a:outerShdw>
                </a:effectLst>
              </a:rPr>
              <a:t>Structures principales :</a:t>
            </a:r>
          </a:p>
          <a:p>
            <a:r>
              <a:rPr lang="fr-FR" b="1" dirty="0"/>
              <a:t>Conditionnel passé</a:t>
            </a:r>
            <a:br>
              <a:rPr lang="fr-FR" dirty="0"/>
            </a:br>
            <a:r>
              <a:rPr lang="fr-FR" dirty="0"/>
              <a:t>« J’aurais aimé vous informer plus tôt. »</a:t>
            </a:r>
          </a:p>
          <a:p>
            <a:r>
              <a:rPr lang="fr-FR" b="1" dirty="0"/>
              <a:t>Regret explicite avec verbes de sentiment</a:t>
            </a:r>
            <a:br>
              <a:rPr lang="fr-FR" dirty="0"/>
            </a:br>
            <a:r>
              <a:rPr lang="fr-FR" dirty="0"/>
              <a:t>« Je regrette de ne pas avoir insisté. »</a:t>
            </a:r>
          </a:p>
          <a:p>
            <a:r>
              <a:rPr lang="fr-FR" b="1" dirty="0"/>
              <a:t>Si + plus-que-parfait (regret personnel)</a:t>
            </a:r>
            <a:br>
              <a:rPr lang="fr-FR" dirty="0"/>
            </a:br>
            <a:r>
              <a:rPr lang="fr-FR" dirty="0"/>
              <a:t>« Si j’avais mieux préparé cet exposé, le résultat aurait été différent. »</a:t>
            </a:r>
          </a:p>
          <a:p>
            <a:pPr marL="0" indent="0">
              <a:buNone/>
            </a:pPr>
            <a:r>
              <a:rPr lang="fr-FR" dirty="0">
                <a:effectLst>
                  <a:outerShdw blurRad="38100" dist="38100" dir="2700000" algn="tl">
                    <a:srgbClr val="000000">
                      <a:alpha val="43137"/>
                    </a:srgbClr>
                  </a:outerShdw>
                </a:effectLst>
              </a:rPr>
              <a:t>À</a:t>
            </a:r>
            <a:r>
              <a:rPr lang="fr-FR" b="1" dirty="0"/>
              <a:t> </a:t>
            </a:r>
            <a:r>
              <a:rPr lang="fr-FR" dirty="0">
                <a:effectLst>
                  <a:outerShdw blurRad="38100" dist="38100" dir="2700000" algn="tl">
                    <a:srgbClr val="000000">
                      <a:alpha val="43137"/>
                    </a:srgbClr>
                  </a:outerShdw>
                </a:effectLst>
              </a:rPr>
              <a:t>retenir</a:t>
            </a:r>
          </a:p>
          <a:p>
            <a:r>
              <a:rPr lang="fr-FR" b="1" dirty="0"/>
              <a:t>Si</a:t>
            </a:r>
            <a:r>
              <a:rPr lang="fr-FR" dirty="0"/>
              <a:t> structure la condition et l’hypothèse selon le degré de réalité.</a:t>
            </a:r>
          </a:p>
          <a:p>
            <a:r>
              <a:rPr lang="fr-FR" dirty="0"/>
              <a:t>Le </a:t>
            </a:r>
            <a:r>
              <a:rPr lang="fr-FR" b="1" dirty="0"/>
              <a:t>reproche</a:t>
            </a:r>
            <a:r>
              <a:rPr lang="fr-FR" dirty="0"/>
              <a:t> évalue négativement une action passée ou absente.</a:t>
            </a:r>
          </a:p>
          <a:p>
            <a:r>
              <a:rPr lang="fr-FR" dirty="0"/>
              <a:t>Le </a:t>
            </a:r>
            <a:r>
              <a:rPr lang="fr-FR" b="1" dirty="0"/>
              <a:t>regret</a:t>
            </a:r>
            <a:r>
              <a:rPr lang="fr-FR" dirty="0"/>
              <a:t> reformule le passé à partir d’une conscience présente.</a:t>
            </a:r>
          </a:p>
          <a:p>
            <a:r>
              <a:rPr lang="fr-FR" dirty="0"/>
              <a:t>Ces articulateurs sont essentiels pour une </a:t>
            </a:r>
            <a:r>
              <a:rPr lang="fr-FR" b="1" dirty="0"/>
              <a:t>argumentation nuancée et maîtrisée</a:t>
            </a:r>
            <a:r>
              <a:rPr lang="fr-FR" dirty="0"/>
              <a:t>.</a:t>
            </a:r>
          </a:p>
          <a:p>
            <a:pPr marL="0" indent="0">
              <a:buNone/>
            </a:pPr>
            <a:endParaRPr lang="fr-FR" dirty="0"/>
          </a:p>
        </p:txBody>
      </p:sp>
      <p:sp>
        <p:nvSpPr>
          <p:cNvPr id="2" name="Espace réservé du numéro de diapositive 1">
            <a:extLst>
              <a:ext uri="{FF2B5EF4-FFF2-40B4-BE49-F238E27FC236}">
                <a16:creationId xmlns:a16="http://schemas.microsoft.com/office/drawing/2014/main" id="{EAA75020-EA80-1C66-046D-992A1950D37F}"/>
              </a:ext>
            </a:extLst>
          </p:cNvPr>
          <p:cNvSpPr>
            <a:spLocks noGrp="1"/>
          </p:cNvSpPr>
          <p:nvPr>
            <p:ph type="sldNum" sz="quarter" idx="12"/>
          </p:nvPr>
        </p:nvSpPr>
        <p:spPr/>
        <p:txBody>
          <a:bodyPr/>
          <a:lstStyle/>
          <a:p>
            <a:fld id="{49DB4E91-02F2-4120-BFDC-D5317FE06960}" type="slidenum">
              <a:rPr lang="fr-FR" smtClean="0"/>
              <a:t>74</a:t>
            </a:fld>
            <a:endParaRPr lang="fr-FR"/>
          </a:p>
        </p:txBody>
      </p:sp>
    </p:spTree>
    <p:extLst>
      <p:ext uri="{BB962C8B-B14F-4D97-AF65-F5344CB8AC3E}">
        <p14:creationId xmlns:p14="http://schemas.microsoft.com/office/powerpoint/2010/main" val="160819459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TotalTime>
  <Words>8145</Words>
  <Application>Microsoft Office PowerPoint</Application>
  <PresentationFormat>Grand écran</PresentationFormat>
  <Paragraphs>561</Paragraphs>
  <Slides>74</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74</vt:i4>
      </vt:variant>
    </vt:vector>
  </HeadingPairs>
  <TitlesOfParts>
    <vt:vector size="78"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Amnay Hammi</dc:creator>
  <cp:lastModifiedBy>Amnay Hammi</cp:lastModifiedBy>
  <cp:revision>2</cp:revision>
  <dcterms:created xsi:type="dcterms:W3CDTF">2026-03-26T14:49:02Z</dcterms:created>
  <dcterms:modified xsi:type="dcterms:W3CDTF">2026-04-06T17:17:09Z</dcterms:modified>
</cp:coreProperties>
</file>